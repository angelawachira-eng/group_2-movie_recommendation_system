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9"/>
  </p:notesMasterIdLst>
  <p:sldIdLst>
    <p:sldId id="256" r:id="rId2"/>
    <p:sldId id="257" r:id="rId3"/>
    <p:sldId id="258" r:id="rId4"/>
    <p:sldId id="260" r:id="rId5"/>
    <p:sldId id="259" r:id="rId6"/>
    <p:sldId id="261" r:id="rId7"/>
    <p:sldId id="273" r:id="rId8"/>
    <p:sldId id="262" r:id="rId9"/>
    <p:sldId id="263" r:id="rId10"/>
    <p:sldId id="274" r:id="rId11"/>
    <p:sldId id="264" r:id="rId12"/>
    <p:sldId id="283" r:id="rId13"/>
    <p:sldId id="266" r:id="rId14"/>
    <p:sldId id="284" r:id="rId15"/>
    <p:sldId id="277" r:id="rId16"/>
    <p:sldId id="286" r:id="rId17"/>
    <p:sldId id="275" r:id="rId18"/>
    <p:sldId id="271" r:id="rId19"/>
    <p:sldId id="285" r:id="rId20"/>
    <p:sldId id="287" r:id="rId21"/>
    <p:sldId id="278" r:id="rId22"/>
    <p:sldId id="279" r:id="rId23"/>
    <p:sldId id="280" r:id="rId24"/>
    <p:sldId id="288" r:id="rId25"/>
    <p:sldId id="290" r:id="rId26"/>
    <p:sldId id="268" r:id="rId27"/>
    <p:sldId id="282" r:id="rId28"/>
    <p:sldId id="269" r:id="rId29"/>
    <p:sldId id="292" r:id="rId30"/>
    <p:sldId id="293" r:id="rId31"/>
    <p:sldId id="294" r:id="rId32"/>
    <p:sldId id="295" r:id="rId33"/>
    <p:sldId id="296" r:id="rId34"/>
    <p:sldId id="291" r:id="rId35"/>
    <p:sldId id="281" r:id="rId36"/>
    <p:sldId id="297" r:id="rId37"/>
    <p:sldId id="298" r:id="rId3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F70BDE7D-9BB0-4409-B1C9-B1D208A330A1}">
          <p14:sldIdLst>
            <p14:sldId id="256"/>
            <p14:sldId id="257"/>
            <p14:sldId id="258"/>
            <p14:sldId id="260"/>
            <p14:sldId id="259"/>
            <p14:sldId id="261"/>
            <p14:sldId id="273"/>
            <p14:sldId id="262"/>
            <p14:sldId id="263"/>
            <p14:sldId id="274"/>
            <p14:sldId id="264"/>
            <p14:sldId id="283"/>
            <p14:sldId id="266"/>
            <p14:sldId id="284"/>
            <p14:sldId id="277"/>
            <p14:sldId id="286"/>
            <p14:sldId id="275"/>
            <p14:sldId id="271"/>
            <p14:sldId id="285"/>
            <p14:sldId id="287"/>
            <p14:sldId id="278"/>
            <p14:sldId id="279"/>
            <p14:sldId id="280"/>
            <p14:sldId id="288"/>
            <p14:sldId id="290"/>
            <p14:sldId id="268"/>
            <p14:sldId id="282"/>
            <p14:sldId id="269"/>
            <p14:sldId id="292"/>
            <p14:sldId id="293"/>
            <p14:sldId id="294"/>
            <p14:sldId id="295"/>
            <p14:sldId id="296"/>
            <p14:sldId id="291"/>
            <p14:sldId id="281"/>
            <p14:sldId id="297"/>
            <p14:sldId id="298"/>
          </p14:sldIdLst>
        </p14:section>
        <p14:section name="Untitled Section" id="{80EBA41C-AE8D-4558-8E94-AEBEF3AF4F63}">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SC" initials="A" lastIdx="0" clrIdx="0">
    <p:extLst>
      <p:ext uri="{19B8F6BF-5375-455C-9EA6-DF929625EA0E}">
        <p15:presenceInfo xmlns:p15="http://schemas.microsoft.com/office/powerpoint/2012/main" userId="6b0c1c28c0e24cdb"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250" autoAdjust="0"/>
    <p:restoredTop sz="94660"/>
  </p:normalViewPr>
  <p:slideViewPr>
    <p:cSldViewPr snapToGrid="0" snapToObjects="1">
      <p:cViewPr>
        <p:scale>
          <a:sx n="66" d="100"/>
          <a:sy n="66" d="100"/>
        </p:scale>
        <p:origin x="1050" y="15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2D0A66B-465A-4726-8BB7-D66431AE9E0C}" type="datetimeFigureOut">
              <a:rPr lang="en-GB" smtClean="0"/>
              <a:t>27/04/2026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3550183-9A3D-4C5A-BFA2-47BD30B1E9F4}" type="slidenum">
              <a:rPr lang="en-GB" smtClean="0"/>
              <a:t>‹#›</a:t>
            </a:fld>
            <a:endParaRPr lang="en-GB"/>
          </a:p>
        </p:txBody>
      </p:sp>
    </p:spTree>
    <p:extLst>
      <p:ext uri="{BB962C8B-B14F-4D97-AF65-F5344CB8AC3E}">
        <p14:creationId xmlns:p14="http://schemas.microsoft.com/office/powerpoint/2010/main" val="38010872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83550183-9A3D-4C5A-BFA2-47BD30B1E9F4}" type="slidenum">
              <a:rPr lang="en-GB" smtClean="0"/>
              <a:t>3</a:t>
            </a:fld>
            <a:endParaRPr lang="en-GB"/>
          </a:p>
        </p:txBody>
      </p:sp>
    </p:spTree>
    <p:extLst>
      <p:ext uri="{BB962C8B-B14F-4D97-AF65-F5344CB8AC3E}">
        <p14:creationId xmlns:p14="http://schemas.microsoft.com/office/powerpoint/2010/main" val="18340301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83550183-9A3D-4C5A-BFA2-47BD30B1E9F4}" type="slidenum">
              <a:rPr lang="en-GB" smtClean="0"/>
              <a:t>5</a:t>
            </a:fld>
            <a:endParaRPr lang="en-GB"/>
          </a:p>
        </p:txBody>
      </p:sp>
    </p:spTree>
    <p:extLst>
      <p:ext uri="{BB962C8B-B14F-4D97-AF65-F5344CB8AC3E}">
        <p14:creationId xmlns:p14="http://schemas.microsoft.com/office/powerpoint/2010/main" val="3343787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83550183-9A3D-4C5A-BFA2-47BD30B1E9F4}" type="slidenum">
              <a:rPr lang="en-GB" smtClean="0"/>
              <a:t>14</a:t>
            </a:fld>
            <a:endParaRPr lang="en-GB"/>
          </a:p>
        </p:txBody>
      </p:sp>
    </p:spTree>
    <p:extLst>
      <p:ext uri="{BB962C8B-B14F-4D97-AF65-F5344CB8AC3E}">
        <p14:creationId xmlns:p14="http://schemas.microsoft.com/office/powerpoint/2010/main" val="16261418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4/27/2026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4213D"/>
        </a:solidFill>
        <a:effectLst/>
      </p:bgPr>
    </p:bg>
    <p:spTree>
      <p:nvGrpSpPr>
        <p:cNvPr id="1" name=""/>
        <p:cNvGrpSpPr/>
        <p:nvPr/>
      </p:nvGrpSpPr>
      <p:grpSpPr>
        <a:xfrm>
          <a:off x="0" y="0"/>
          <a:ext cx="0" cy="0"/>
          <a:chOff x="0" y="0"/>
          <a:chExt cx="0" cy="0"/>
        </a:xfrm>
      </p:grpSpPr>
      <p:sp>
        <p:nvSpPr>
          <p:cNvPr id="2" name="Oval 1"/>
          <p:cNvSpPr/>
          <p:nvPr/>
        </p:nvSpPr>
        <p:spPr>
          <a:xfrm>
            <a:off x="3085695" y="3699969"/>
            <a:ext cx="80000" cy="8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5784191" y="3924338"/>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5729085" y="3740131"/>
            <a:ext cx="55000" cy="5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5740871" y="5490324"/>
            <a:ext cx="110000" cy="11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0207242" y="1786625"/>
            <a:ext cx="55000" cy="5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6345721" y="4907024"/>
            <a:ext cx="35000" cy="3500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1309951" y="627906"/>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3445363" y="4009481"/>
            <a:ext cx="110000" cy="11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0893917" y="2785495"/>
            <a:ext cx="110000" cy="11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1899084" y="2605108"/>
            <a:ext cx="35000" cy="3500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2845920" y="6280754"/>
            <a:ext cx="110000" cy="11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10140988" y="2945917"/>
            <a:ext cx="110000" cy="11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6470558" y="2862765"/>
            <a:ext cx="55000" cy="5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8160815" y="6056926"/>
            <a:ext cx="80000" cy="8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8038416" y="1364986"/>
            <a:ext cx="80000" cy="8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10706435" y="3852385"/>
            <a:ext cx="55000" cy="5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11659423" y="2002050"/>
            <a:ext cx="35000" cy="3500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10126322" y="6429786"/>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1127135" y="5861801"/>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9153051" y="5712749"/>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9071242" y="2680373"/>
            <a:ext cx="80000" cy="8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10902875" y="2075498"/>
            <a:ext cx="55000" cy="5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3905288" y="837319"/>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11469189" y="2152317"/>
            <a:ext cx="80000" cy="8000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850801" y="5682190"/>
            <a:ext cx="80000" cy="8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1946826" y="5644992"/>
            <a:ext cx="110000" cy="11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6310194" y="4310531"/>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11117060" y="3472049"/>
            <a:ext cx="110000" cy="11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8545312" y="6102815"/>
            <a:ext cx="110000" cy="11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6322244" y="3725708"/>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11652381" y="2294843"/>
            <a:ext cx="110000" cy="11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7591583" y="733842"/>
            <a:ext cx="80000" cy="8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8129946" y="2525815"/>
            <a:ext cx="80000" cy="8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619305" y="736882"/>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3236087" y="3161347"/>
            <a:ext cx="80000" cy="8000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2483122" y="5010288"/>
            <a:ext cx="80000" cy="8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4676702" y="5097077"/>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8180826" y="1170906"/>
            <a:ext cx="55000" cy="5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3444752" y="2373937"/>
            <a:ext cx="110000" cy="11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p:cNvSpPr/>
          <p:nvPr/>
        </p:nvSpPr>
        <p:spPr>
          <a:xfrm>
            <a:off x="1474725" y="4046084"/>
            <a:ext cx="80000" cy="8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p:cNvSpPr/>
          <p:nvPr/>
        </p:nvSpPr>
        <p:spPr>
          <a:xfrm>
            <a:off x="2931341" y="5326769"/>
            <a:ext cx="55000" cy="5500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val 42"/>
          <p:cNvSpPr/>
          <p:nvPr/>
        </p:nvSpPr>
        <p:spPr>
          <a:xfrm>
            <a:off x="8847618" y="1701453"/>
            <a:ext cx="110000" cy="11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val 43"/>
          <p:cNvSpPr/>
          <p:nvPr/>
        </p:nvSpPr>
        <p:spPr>
          <a:xfrm>
            <a:off x="9361249" y="573502"/>
            <a:ext cx="55000" cy="5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val 44"/>
          <p:cNvSpPr/>
          <p:nvPr/>
        </p:nvSpPr>
        <p:spPr>
          <a:xfrm>
            <a:off x="9923583" y="3887476"/>
            <a:ext cx="80000" cy="8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val 45"/>
          <p:cNvSpPr/>
          <p:nvPr/>
        </p:nvSpPr>
        <p:spPr>
          <a:xfrm>
            <a:off x="9829187" y="889782"/>
            <a:ext cx="80000" cy="8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val 46"/>
          <p:cNvSpPr/>
          <p:nvPr/>
        </p:nvSpPr>
        <p:spPr>
          <a:xfrm>
            <a:off x="5180903" y="3541712"/>
            <a:ext cx="80000" cy="8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val 47"/>
          <p:cNvSpPr/>
          <p:nvPr/>
        </p:nvSpPr>
        <p:spPr>
          <a:xfrm>
            <a:off x="7614430" y="2144882"/>
            <a:ext cx="110000" cy="11000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p:cNvSpPr/>
          <p:nvPr/>
        </p:nvSpPr>
        <p:spPr>
          <a:xfrm>
            <a:off x="5089386" y="1588428"/>
            <a:ext cx="110000" cy="11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p:cNvSpPr/>
          <p:nvPr/>
        </p:nvSpPr>
        <p:spPr>
          <a:xfrm>
            <a:off x="10423911" y="6412066"/>
            <a:ext cx="110000" cy="11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val 50"/>
          <p:cNvSpPr/>
          <p:nvPr/>
        </p:nvSpPr>
        <p:spPr>
          <a:xfrm>
            <a:off x="11632988" y="4760031"/>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val 51"/>
          <p:cNvSpPr/>
          <p:nvPr/>
        </p:nvSpPr>
        <p:spPr>
          <a:xfrm>
            <a:off x="9929225" y="4427537"/>
            <a:ext cx="80000" cy="8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Oval 52"/>
          <p:cNvSpPr/>
          <p:nvPr/>
        </p:nvSpPr>
        <p:spPr>
          <a:xfrm>
            <a:off x="10535077" y="5643913"/>
            <a:ext cx="80000" cy="8000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Oval 53"/>
          <p:cNvSpPr/>
          <p:nvPr/>
        </p:nvSpPr>
        <p:spPr>
          <a:xfrm>
            <a:off x="3160782" y="581072"/>
            <a:ext cx="55000" cy="5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Oval 54"/>
          <p:cNvSpPr/>
          <p:nvPr/>
        </p:nvSpPr>
        <p:spPr>
          <a:xfrm>
            <a:off x="10649043" y="3900453"/>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Oval 55"/>
          <p:cNvSpPr/>
          <p:nvPr/>
        </p:nvSpPr>
        <p:spPr>
          <a:xfrm>
            <a:off x="1746663" y="3448526"/>
            <a:ext cx="55000" cy="5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Oval 56"/>
          <p:cNvSpPr/>
          <p:nvPr/>
        </p:nvSpPr>
        <p:spPr>
          <a:xfrm>
            <a:off x="6366100" y="2900593"/>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Oval 57"/>
          <p:cNvSpPr/>
          <p:nvPr/>
        </p:nvSpPr>
        <p:spPr>
          <a:xfrm>
            <a:off x="3251547" y="5644731"/>
            <a:ext cx="110000" cy="11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Oval 58"/>
          <p:cNvSpPr/>
          <p:nvPr/>
        </p:nvSpPr>
        <p:spPr>
          <a:xfrm>
            <a:off x="1067197" y="1718506"/>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Oval 59"/>
          <p:cNvSpPr/>
          <p:nvPr/>
        </p:nvSpPr>
        <p:spPr>
          <a:xfrm>
            <a:off x="9701907" y="1415239"/>
            <a:ext cx="80000" cy="8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Oval 60"/>
          <p:cNvSpPr/>
          <p:nvPr/>
        </p:nvSpPr>
        <p:spPr>
          <a:xfrm>
            <a:off x="9578923" y="5410908"/>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Oval 61"/>
          <p:cNvSpPr/>
          <p:nvPr/>
        </p:nvSpPr>
        <p:spPr>
          <a:xfrm>
            <a:off x="6891093" y="2818052"/>
            <a:ext cx="80000" cy="8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Oval 62"/>
          <p:cNvSpPr/>
          <p:nvPr/>
        </p:nvSpPr>
        <p:spPr>
          <a:xfrm>
            <a:off x="7430518" y="3549520"/>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Oval 63"/>
          <p:cNvSpPr/>
          <p:nvPr/>
        </p:nvSpPr>
        <p:spPr>
          <a:xfrm>
            <a:off x="9241128" y="376840"/>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Oval 64"/>
          <p:cNvSpPr/>
          <p:nvPr/>
        </p:nvSpPr>
        <p:spPr>
          <a:xfrm>
            <a:off x="893652" y="671062"/>
            <a:ext cx="110000" cy="11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Oval 65"/>
          <p:cNvSpPr/>
          <p:nvPr/>
        </p:nvSpPr>
        <p:spPr>
          <a:xfrm>
            <a:off x="10132111" y="893421"/>
            <a:ext cx="110000" cy="11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Oval 66"/>
          <p:cNvSpPr/>
          <p:nvPr/>
        </p:nvSpPr>
        <p:spPr>
          <a:xfrm>
            <a:off x="3961407" y="2517928"/>
            <a:ext cx="110000" cy="11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Oval 67"/>
          <p:cNvSpPr/>
          <p:nvPr/>
        </p:nvSpPr>
        <p:spPr>
          <a:xfrm>
            <a:off x="4490099" y="1536420"/>
            <a:ext cx="80000" cy="8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Oval 68"/>
          <p:cNvSpPr/>
          <p:nvPr/>
        </p:nvSpPr>
        <p:spPr>
          <a:xfrm>
            <a:off x="1824343" y="387134"/>
            <a:ext cx="110000" cy="11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Oval 69"/>
          <p:cNvSpPr/>
          <p:nvPr/>
        </p:nvSpPr>
        <p:spPr>
          <a:xfrm>
            <a:off x="6843531" y="628963"/>
            <a:ext cx="110000" cy="11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Oval 70"/>
          <p:cNvSpPr/>
          <p:nvPr/>
        </p:nvSpPr>
        <p:spPr>
          <a:xfrm>
            <a:off x="9311127" y="2695443"/>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Oval 71"/>
          <p:cNvSpPr/>
          <p:nvPr/>
        </p:nvSpPr>
        <p:spPr>
          <a:xfrm>
            <a:off x="5298874" y="2647384"/>
            <a:ext cx="110000" cy="11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Oval 72"/>
          <p:cNvSpPr/>
          <p:nvPr/>
        </p:nvSpPr>
        <p:spPr>
          <a:xfrm>
            <a:off x="3965622" y="6187686"/>
            <a:ext cx="110000" cy="11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Oval 73"/>
          <p:cNvSpPr/>
          <p:nvPr/>
        </p:nvSpPr>
        <p:spPr>
          <a:xfrm>
            <a:off x="3167062" y="3648557"/>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Oval 74"/>
          <p:cNvSpPr/>
          <p:nvPr/>
        </p:nvSpPr>
        <p:spPr>
          <a:xfrm>
            <a:off x="2931120" y="1164444"/>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Oval 75"/>
          <p:cNvSpPr/>
          <p:nvPr/>
        </p:nvSpPr>
        <p:spPr>
          <a:xfrm>
            <a:off x="4643274" y="5866445"/>
            <a:ext cx="80000" cy="8000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Oval 76"/>
          <p:cNvSpPr/>
          <p:nvPr/>
        </p:nvSpPr>
        <p:spPr>
          <a:xfrm>
            <a:off x="8258808" y="6118904"/>
            <a:ext cx="110000" cy="11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Oval 77"/>
          <p:cNvSpPr/>
          <p:nvPr/>
        </p:nvSpPr>
        <p:spPr>
          <a:xfrm>
            <a:off x="8752353" y="3820138"/>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Oval 78"/>
          <p:cNvSpPr/>
          <p:nvPr/>
        </p:nvSpPr>
        <p:spPr>
          <a:xfrm>
            <a:off x="8556292" y="3266940"/>
            <a:ext cx="55000" cy="5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Oval 79"/>
          <p:cNvSpPr/>
          <p:nvPr/>
        </p:nvSpPr>
        <p:spPr>
          <a:xfrm>
            <a:off x="872256" y="928163"/>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Oval 80"/>
          <p:cNvSpPr/>
          <p:nvPr/>
        </p:nvSpPr>
        <p:spPr>
          <a:xfrm>
            <a:off x="4660705" y="5386082"/>
            <a:ext cx="80000" cy="8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Rounded Rectangle 81"/>
          <p:cNvSpPr/>
          <p:nvPr/>
        </p:nvSpPr>
        <p:spPr>
          <a:xfrm>
            <a:off x="822960" y="777240"/>
            <a:ext cx="1737360" cy="640080"/>
          </a:xfrm>
          <a:prstGeom prst="roundRect">
            <a:avLst>
              <a:gd name="adj" fmla="val 25000"/>
            </a:avLst>
          </a:prstGeom>
          <a:solidFill>
            <a:srgbClr val="C73E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TextBox 82"/>
          <p:cNvSpPr txBox="1"/>
          <p:nvPr/>
        </p:nvSpPr>
        <p:spPr>
          <a:xfrm>
            <a:off x="822960" y="777240"/>
            <a:ext cx="1737360" cy="640080"/>
          </a:xfrm>
          <a:prstGeom prst="rect">
            <a:avLst/>
          </a:prstGeom>
          <a:solidFill>
            <a:srgbClr val="FF0000"/>
          </a:solidFill>
        </p:spPr>
        <p:txBody>
          <a:bodyPr wrap="square" lIns="0" tIns="0" rIns="0" bIns="0" anchor="ctr">
            <a:spAutoFit/>
          </a:bodyPr>
          <a:lstStyle/>
          <a:p>
            <a:pPr algn="ctr"/>
            <a:r>
              <a:rPr sz="2800" b="1" i="0" dirty="0">
                <a:solidFill>
                  <a:srgbClr val="FFFFFF"/>
                </a:solidFill>
                <a:latin typeface="Cambria"/>
              </a:rPr>
              <a:t>ZIKI</a:t>
            </a:r>
          </a:p>
        </p:txBody>
      </p:sp>
      <p:sp>
        <p:nvSpPr>
          <p:cNvPr id="86" name="TextBox 85"/>
          <p:cNvSpPr txBox="1"/>
          <p:nvPr/>
        </p:nvSpPr>
        <p:spPr>
          <a:xfrm>
            <a:off x="822960" y="2194560"/>
            <a:ext cx="10789920" cy="1695849"/>
          </a:xfrm>
          <a:prstGeom prst="rect">
            <a:avLst/>
          </a:prstGeom>
          <a:noFill/>
        </p:spPr>
        <p:txBody>
          <a:bodyPr wrap="square" lIns="0" tIns="0" rIns="0" bIns="0" anchor="t">
            <a:spAutoFit/>
          </a:bodyPr>
          <a:lstStyle/>
          <a:p>
            <a:pPr algn="l">
              <a:lnSpc>
                <a:spcPct val="95000"/>
              </a:lnSpc>
            </a:pPr>
            <a:r>
              <a:rPr lang="en-US" sz="5800" b="1" i="0" dirty="0">
                <a:solidFill>
                  <a:srgbClr val="FFFFFF"/>
                </a:solidFill>
                <a:latin typeface="Cambria"/>
              </a:rPr>
              <a:t>A Personalized </a:t>
            </a:r>
            <a:r>
              <a:rPr sz="5800" b="1" i="0" dirty="0">
                <a:solidFill>
                  <a:srgbClr val="FFFFFF"/>
                </a:solidFill>
                <a:latin typeface="Cambria"/>
              </a:rPr>
              <a:t>Hybrid Movie</a:t>
            </a:r>
          </a:p>
          <a:p>
            <a:pPr algn="l">
              <a:lnSpc>
                <a:spcPct val="95000"/>
              </a:lnSpc>
            </a:pPr>
            <a:r>
              <a:rPr sz="5800" b="1" i="0" dirty="0">
                <a:solidFill>
                  <a:srgbClr val="FFFFFF"/>
                </a:solidFill>
                <a:latin typeface="Cambria"/>
              </a:rPr>
              <a:t>Recommendation System</a:t>
            </a:r>
          </a:p>
        </p:txBody>
      </p:sp>
      <p:sp>
        <p:nvSpPr>
          <p:cNvPr id="87" name="TextBox 86"/>
          <p:cNvSpPr txBox="1"/>
          <p:nvPr/>
        </p:nvSpPr>
        <p:spPr>
          <a:xfrm>
            <a:off x="822960" y="4663440"/>
            <a:ext cx="10789920" cy="299826"/>
          </a:xfrm>
          <a:prstGeom prst="rect">
            <a:avLst/>
          </a:prstGeom>
          <a:noFill/>
        </p:spPr>
        <p:txBody>
          <a:bodyPr wrap="square" lIns="0" tIns="0" rIns="0" bIns="0" anchor="t">
            <a:spAutoFit/>
          </a:bodyPr>
          <a:lstStyle/>
          <a:p>
            <a:pPr algn="l">
              <a:lnSpc>
                <a:spcPct val="115000"/>
              </a:lnSpc>
            </a:pPr>
            <a:r>
              <a:rPr lang="en-US" i="1" dirty="0">
                <a:solidFill>
                  <a:srgbClr val="E5E7EB"/>
                </a:solidFill>
                <a:latin typeface="Calibri"/>
              </a:rPr>
              <a:t>Solving</a:t>
            </a:r>
            <a:r>
              <a:rPr sz="1800" b="0" i="1" dirty="0">
                <a:solidFill>
                  <a:srgbClr val="E5E7EB"/>
                </a:solidFill>
                <a:latin typeface="Calibri"/>
              </a:rPr>
              <a:t> decision fatigue</a:t>
            </a:r>
            <a:r>
              <a:rPr lang="en-US" i="1" dirty="0">
                <a:solidFill>
                  <a:srgbClr val="E5E7EB"/>
                </a:solidFill>
                <a:latin typeface="Calibri"/>
              </a:rPr>
              <a:t> for movie selection using a customized recommender system</a:t>
            </a:r>
            <a:r>
              <a:rPr sz="1800" b="0" i="1" dirty="0">
                <a:solidFill>
                  <a:srgbClr val="E5E7EB"/>
                </a:solidFill>
                <a:latin typeface="Calibri"/>
              </a:rPr>
              <a: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p:nvSpPr>
        <p:spPr>
          <a:xfrm>
            <a:off x="548640" y="365760"/>
            <a:ext cx="11064240" cy="553998"/>
          </a:xfrm>
          <a:prstGeom prst="rect">
            <a:avLst/>
          </a:prstGeom>
          <a:noFill/>
        </p:spPr>
        <p:txBody>
          <a:bodyPr wrap="square" lIns="0" tIns="0" rIns="0" bIns="0" anchor="t">
            <a:spAutoFit/>
          </a:bodyPr>
          <a:lstStyle/>
          <a:p>
            <a:pPr algn="l"/>
            <a:r>
              <a:rPr lang="en-US" sz="3600" b="1" dirty="0">
                <a:solidFill>
                  <a:srgbClr val="14213D"/>
                </a:solidFill>
                <a:latin typeface="Cambria"/>
              </a:rPr>
              <a:t>T</a:t>
            </a:r>
            <a:r>
              <a:rPr sz="3600" b="1" i="0" dirty="0">
                <a:solidFill>
                  <a:srgbClr val="14213D"/>
                </a:solidFill>
                <a:latin typeface="Cambria"/>
              </a:rPr>
              <a:t>he team</a:t>
            </a:r>
          </a:p>
        </p:txBody>
      </p:sp>
      <p:sp>
        <p:nvSpPr>
          <p:cNvPr id="5" name="Rounded Rectangle 4"/>
          <p:cNvSpPr/>
          <p:nvPr/>
        </p:nvSpPr>
        <p:spPr>
          <a:xfrm>
            <a:off x="548640" y="1828800"/>
            <a:ext cx="2103120" cy="2560320"/>
          </a:xfrm>
          <a:prstGeom prst="roundRect">
            <a:avLst>
              <a:gd name="adj" fmla="val 8000"/>
            </a:avLst>
          </a:prstGeom>
          <a:solidFill>
            <a:srgbClr val="F5E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097280" y="2148840"/>
            <a:ext cx="1005840" cy="1005840"/>
          </a:xfrm>
          <a:prstGeom prst="ellipse">
            <a:avLst/>
          </a:prstGeom>
          <a:solidFill>
            <a:srgbClr val="C73E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7280" y="2148840"/>
            <a:ext cx="1005840" cy="1005840"/>
          </a:xfrm>
          <a:prstGeom prst="rect">
            <a:avLst/>
          </a:prstGeom>
          <a:solidFill>
            <a:srgbClr val="FF0000"/>
          </a:solidFill>
        </p:spPr>
        <p:txBody>
          <a:bodyPr wrap="square" lIns="0" tIns="0" rIns="0" bIns="0" anchor="ctr">
            <a:spAutoFit/>
          </a:bodyPr>
          <a:lstStyle/>
          <a:p>
            <a:pPr algn="ctr"/>
            <a:r>
              <a:rPr sz="2200" b="1" i="0" dirty="0">
                <a:solidFill>
                  <a:srgbClr val="FFFFFF"/>
                </a:solidFill>
                <a:latin typeface="Cambria"/>
              </a:rPr>
              <a:t>AN</a:t>
            </a:r>
          </a:p>
        </p:txBody>
      </p:sp>
      <p:sp>
        <p:nvSpPr>
          <p:cNvPr id="8" name="TextBox 7"/>
          <p:cNvSpPr txBox="1"/>
          <p:nvPr/>
        </p:nvSpPr>
        <p:spPr>
          <a:xfrm>
            <a:off x="731520" y="3337560"/>
            <a:ext cx="1737360" cy="914400"/>
          </a:xfrm>
          <a:prstGeom prst="rect">
            <a:avLst/>
          </a:prstGeom>
          <a:noFill/>
        </p:spPr>
        <p:txBody>
          <a:bodyPr wrap="square" lIns="0" tIns="0" rIns="0" bIns="0" anchor="t">
            <a:spAutoFit/>
          </a:bodyPr>
          <a:lstStyle/>
          <a:p>
            <a:pPr algn="ctr">
              <a:lnSpc>
                <a:spcPct val="110000"/>
              </a:lnSpc>
            </a:pPr>
            <a:r>
              <a:rPr sz="1400" b="1" i="0">
                <a:solidFill>
                  <a:srgbClr val="1F2937"/>
                </a:solidFill>
                <a:latin typeface="Cambria"/>
              </a:rPr>
              <a:t>Andrew</a:t>
            </a:r>
          </a:p>
          <a:p>
            <a:pPr algn="ctr">
              <a:lnSpc>
                <a:spcPct val="110000"/>
              </a:lnSpc>
            </a:pPr>
            <a:r>
              <a:rPr sz="1400" b="1" i="0">
                <a:solidFill>
                  <a:srgbClr val="1F2937"/>
                </a:solidFill>
                <a:latin typeface="Cambria"/>
              </a:rPr>
              <a:t>Nyakiba</a:t>
            </a:r>
          </a:p>
        </p:txBody>
      </p:sp>
      <p:sp>
        <p:nvSpPr>
          <p:cNvPr id="9" name="Rounded Rectangle 8"/>
          <p:cNvSpPr/>
          <p:nvPr/>
        </p:nvSpPr>
        <p:spPr>
          <a:xfrm>
            <a:off x="2816352" y="1828800"/>
            <a:ext cx="2103120" cy="2560320"/>
          </a:xfrm>
          <a:prstGeom prst="roundRect">
            <a:avLst>
              <a:gd name="adj" fmla="val 8000"/>
            </a:avLst>
          </a:prstGeom>
          <a:solidFill>
            <a:srgbClr val="F5E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3364992" y="2148840"/>
            <a:ext cx="1005840" cy="1005840"/>
          </a:xfrm>
          <a:prstGeom prst="ellips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364992" y="2148840"/>
            <a:ext cx="1005840" cy="1005840"/>
          </a:xfrm>
          <a:prstGeom prst="rect">
            <a:avLst/>
          </a:prstGeom>
          <a:noFill/>
        </p:spPr>
        <p:txBody>
          <a:bodyPr wrap="square" lIns="0" tIns="0" rIns="0" bIns="0" anchor="ctr">
            <a:spAutoFit/>
          </a:bodyPr>
          <a:lstStyle/>
          <a:p>
            <a:pPr algn="ctr"/>
            <a:r>
              <a:rPr sz="2200" b="1" i="0">
                <a:solidFill>
                  <a:srgbClr val="FFFFFF"/>
                </a:solidFill>
                <a:latin typeface="Cambria"/>
              </a:rPr>
              <a:t>AW</a:t>
            </a:r>
          </a:p>
        </p:txBody>
      </p:sp>
      <p:sp>
        <p:nvSpPr>
          <p:cNvPr id="12" name="TextBox 11"/>
          <p:cNvSpPr txBox="1"/>
          <p:nvPr/>
        </p:nvSpPr>
        <p:spPr>
          <a:xfrm>
            <a:off x="2999232" y="3337560"/>
            <a:ext cx="1737360" cy="914400"/>
          </a:xfrm>
          <a:prstGeom prst="rect">
            <a:avLst/>
          </a:prstGeom>
          <a:noFill/>
        </p:spPr>
        <p:txBody>
          <a:bodyPr wrap="square" lIns="0" tIns="0" rIns="0" bIns="0" anchor="t">
            <a:spAutoFit/>
          </a:bodyPr>
          <a:lstStyle/>
          <a:p>
            <a:pPr algn="ctr">
              <a:lnSpc>
                <a:spcPct val="110000"/>
              </a:lnSpc>
            </a:pPr>
            <a:r>
              <a:rPr sz="1400" b="1" i="0">
                <a:solidFill>
                  <a:srgbClr val="1F2937"/>
                </a:solidFill>
                <a:latin typeface="Cambria"/>
              </a:rPr>
              <a:t>Angela</a:t>
            </a:r>
          </a:p>
          <a:p>
            <a:pPr algn="ctr">
              <a:lnSpc>
                <a:spcPct val="110000"/>
              </a:lnSpc>
            </a:pPr>
            <a:r>
              <a:rPr sz="1400" b="1" i="0">
                <a:solidFill>
                  <a:srgbClr val="1F2937"/>
                </a:solidFill>
                <a:latin typeface="Cambria"/>
              </a:rPr>
              <a:t>Wachira</a:t>
            </a:r>
          </a:p>
        </p:txBody>
      </p:sp>
      <p:sp>
        <p:nvSpPr>
          <p:cNvPr id="13" name="Rounded Rectangle 12"/>
          <p:cNvSpPr/>
          <p:nvPr/>
        </p:nvSpPr>
        <p:spPr>
          <a:xfrm>
            <a:off x="5084064" y="1828800"/>
            <a:ext cx="2103120" cy="2560320"/>
          </a:xfrm>
          <a:prstGeom prst="roundRect">
            <a:avLst>
              <a:gd name="adj" fmla="val 8000"/>
            </a:avLst>
          </a:prstGeom>
          <a:solidFill>
            <a:srgbClr val="F5E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5632704" y="2148840"/>
            <a:ext cx="1005840" cy="1005840"/>
          </a:xfrm>
          <a:prstGeom prst="ellipse">
            <a:avLst/>
          </a:prstGeom>
          <a:solidFill>
            <a:srgbClr val="C73E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632704" y="2148840"/>
            <a:ext cx="1005840" cy="1005840"/>
          </a:xfrm>
          <a:prstGeom prst="rect">
            <a:avLst/>
          </a:prstGeom>
          <a:solidFill>
            <a:srgbClr val="FF0000"/>
          </a:solidFill>
        </p:spPr>
        <p:txBody>
          <a:bodyPr wrap="square" lIns="0" tIns="0" rIns="0" bIns="0" anchor="ctr">
            <a:spAutoFit/>
          </a:bodyPr>
          <a:lstStyle/>
          <a:p>
            <a:pPr algn="ctr"/>
            <a:r>
              <a:rPr sz="2200" b="1" i="0">
                <a:solidFill>
                  <a:srgbClr val="FFFFFF"/>
                </a:solidFill>
                <a:latin typeface="Cambria"/>
              </a:rPr>
              <a:t>BB</a:t>
            </a:r>
          </a:p>
        </p:txBody>
      </p:sp>
      <p:sp>
        <p:nvSpPr>
          <p:cNvPr id="16" name="TextBox 15"/>
          <p:cNvSpPr txBox="1"/>
          <p:nvPr/>
        </p:nvSpPr>
        <p:spPr>
          <a:xfrm>
            <a:off x="5266944" y="3337560"/>
            <a:ext cx="1737360" cy="455574"/>
          </a:xfrm>
          <a:prstGeom prst="rect">
            <a:avLst/>
          </a:prstGeom>
          <a:noFill/>
        </p:spPr>
        <p:txBody>
          <a:bodyPr wrap="square" lIns="0" tIns="0" rIns="0" bIns="0" anchor="t">
            <a:spAutoFit/>
          </a:bodyPr>
          <a:lstStyle/>
          <a:p>
            <a:pPr algn="ctr">
              <a:lnSpc>
                <a:spcPct val="110000"/>
              </a:lnSpc>
            </a:pPr>
            <a:r>
              <a:rPr sz="1400" b="1" i="0" dirty="0">
                <a:solidFill>
                  <a:srgbClr val="1F2937"/>
                </a:solidFill>
                <a:latin typeface="Cambria"/>
              </a:rPr>
              <a:t>Bob</a:t>
            </a:r>
          </a:p>
          <a:p>
            <a:pPr algn="ctr">
              <a:lnSpc>
                <a:spcPct val="110000"/>
              </a:lnSpc>
            </a:pPr>
            <a:r>
              <a:rPr lang="en-US" sz="1400" b="1" i="0" dirty="0" err="1">
                <a:solidFill>
                  <a:srgbClr val="1F2937"/>
                </a:solidFill>
                <a:latin typeface="Cambria"/>
              </a:rPr>
              <a:t>Okeyo</a:t>
            </a:r>
            <a:endParaRPr sz="1400" b="1" i="0" dirty="0">
              <a:solidFill>
                <a:srgbClr val="1F2937"/>
              </a:solidFill>
              <a:latin typeface="Cambria"/>
            </a:endParaRPr>
          </a:p>
        </p:txBody>
      </p:sp>
      <p:sp>
        <p:nvSpPr>
          <p:cNvPr id="17" name="Rounded Rectangle 16"/>
          <p:cNvSpPr/>
          <p:nvPr/>
        </p:nvSpPr>
        <p:spPr>
          <a:xfrm>
            <a:off x="7351775" y="1828800"/>
            <a:ext cx="2103120" cy="2560320"/>
          </a:xfrm>
          <a:prstGeom prst="roundRect">
            <a:avLst>
              <a:gd name="adj" fmla="val 8000"/>
            </a:avLst>
          </a:prstGeom>
          <a:solidFill>
            <a:srgbClr val="F5E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7900415" y="2148840"/>
            <a:ext cx="1005840" cy="1005840"/>
          </a:xfrm>
          <a:prstGeom prst="ellips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900415" y="2148840"/>
            <a:ext cx="1005840" cy="1005840"/>
          </a:xfrm>
          <a:prstGeom prst="rect">
            <a:avLst/>
          </a:prstGeom>
          <a:noFill/>
        </p:spPr>
        <p:txBody>
          <a:bodyPr wrap="square" lIns="0" tIns="0" rIns="0" bIns="0" anchor="ctr">
            <a:spAutoFit/>
          </a:bodyPr>
          <a:lstStyle/>
          <a:p>
            <a:pPr algn="ctr"/>
            <a:r>
              <a:rPr sz="2200" b="1" i="0">
                <a:solidFill>
                  <a:srgbClr val="FFFFFF"/>
                </a:solidFill>
                <a:latin typeface="Cambria"/>
              </a:rPr>
              <a:t>MC</a:t>
            </a:r>
          </a:p>
        </p:txBody>
      </p:sp>
      <p:sp>
        <p:nvSpPr>
          <p:cNvPr id="20" name="TextBox 19"/>
          <p:cNvSpPr txBox="1"/>
          <p:nvPr/>
        </p:nvSpPr>
        <p:spPr>
          <a:xfrm>
            <a:off x="7534655" y="3337560"/>
            <a:ext cx="1737360" cy="914400"/>
          </a:xfrm>
          <a:prstGeom prst="rect">
            <a:avLst/>
          </a:prstGeom>
          <a:noFill/>
        </p:spPr>
        <p:txBody>
          <a:bodyPr wrap="square" lIns="0" tIns="0" rIns="0" bIns="0" anchor="t">
            <a:spAutoFit/>
          </a:bodyPr>
          <a:lstStyle/>
          <a:p>
            <a:pPr algn="ctr">
              <a:lnSpc>
                <a:spcPct val="110000"/>
              </a:lnSpc>
            </a:pPr>
            <a:r>
              <a:rPr sz="1400" b="1" i="0">
                <a:solidFill>
                  <a:srgbClr val="1F2937"/>
                </a:solidFill>
                <a:latin typeface="Cambria"/>
              </a:rPr>
              <a:t>Mercy</a:t>
            </a:r>
          </a:p>
          <a:p>
            <a:pPr algn="ctr">
              <a:lnSpc>
                <a:spcPct val="110000"/>
              </a:lnSpc>
            </a:pPr>
            <a:r>
              <a:rPr sz="1400" b="1" i="0">
                <a:solidFill>
                  <a:srgbClr val="1F2937"/>
                </a:solidFill>
                <a:latin typeface="Cambria"/>
              </a:rPr>
              <a:t>Chepkoech</a:t>
            </a:r>
          </a:p>
        </p:txBody>
      </p:sp>
      <p:sp>
        <p:nvSpPr>
          <p:cNvPr id="21" name="Rounded Rectangle 20"/>
          <p:cNvSpPr/>
          <p:nvPr/>
        </p:nvSpPr>
        <p:spPr>
          <a:xfrm>
            <a:off x="9619488" y="1828800"/>
            <a:ext cx="2103120" cy="2560320"/>
          </a:xfrm>
          <a:prstGeom prst="roundRect">
            <a:avLst>
              <a:gd name="adj" fmla="val 8000"/>
            </a:avLst>
          </a:prstGeom>
          <a:solidFill>
            <a:srgbClr val="F5E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10168128" y="2148840"/>
            <a:ext cx="1005840" cy="1005840"/>
          </a:xfrm>
          <a:prstGeom prst="ellipse">
            <a:avLst/>
          </a:prstGeom>
          <a:solidFill>
            <a:srgbClr val="C73E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0168128" y="2148840"/>
            <a:ext cx="1005840" cy="1005840"/>
          </a:xfrm>
          <a:prstGeom prst="rect">
            <a:avLst/>
          </a:prstGeom>
          <a:solidFill>
            <a:srgbClr val="FF0000"/>
          </a:solidFill>
        </p:spPr>
        <p:txBody>
          <a:bodyPr wrap="square" lIns="0" tIns="0" rIns="0" bIns="0" anchor="ctr">
            <a:spAutoFit/>
          </a:bodyPr>
          <a:lstStyle/>
          <a:p>
            <a:pPr algn="ctr"/>
            <a:r>
              <a:rPr sz="2200" b="1" i="0" dirty="0">
                <a:solidFill>
                  <a:srgbClr val="FFFFFF"/>
                </a:solidFill>
                <a:latin typeface="Cambria"/>
              </a:rPr>
              <a:t>TM</a:t>
            </a:r>
          </a:p>
        </p:txBody>
      </p:sp>
      <p:sp>
        <p:nvSpPr>
          <p:cNvPr id="24" name="TextBox 23"/>
          <p:cNvSpPr txBox="1"/>
          <p:nvPr/>
        </p:nvSpPr>
        <p:spPr>
          <a:xfrm>
            <a:off x="9802368" y="3337560"/>
            <a:ext cx="1737360" cy="914400"/>
          </a:xfrm>
          <a:prstGeom prst="rect">
            <a:avLst/>
          </a:prstGeom>
          <a:noFill/>
        </p:spPr>
        <p:txBody>
          <a:bodyPr wrap="square" lIns="0" tIns="0" rIns="0" bIns="0" anchor="t">
            <a:spAutoFit/>
          </a:bodyPr>
          <a:lstStyle/>
          <a:p>
            <a:pPr algn="ctr">
              <a:lnSpc>
                <a:spcPct val="110000"/>
              </a:lnSpc>
            </a:pPr>
            <a:r>
              <a:rPr sz="1400" b="1" i="0">
                <a:solidFill>
                  <a:srgbClr val="1F2937"/>
                </a:solidFill>
                <a:latin typeface="Cambria"/>
              </a:rPr>
              <a:t>Ted</a:t>
            </a:r>
          </a:p>
          <a:p>
            <a:pPr algn="ctr">
              <a:lnSpc>
                <a:spcPct val="110000"/>
              </a:lnSpc>
            </a:pPr>
            <a:r>
              <a:rPr sz="1400" b="1" i="0">
                <a:solidFill>
                  <a:srgbClr val="1F2937"/>
                </a:solidFill>
                <a:latin typeface="Cambria"/>
              </a:rPr>
              <a:t>Mwenda</a:t>
            </a:r>
          </a:p>
        </p:txBody>
      </p:sp>
      <p:sp>
        <p:nvSpPr>
          <p:cNvPr id="25" name="Rounded Rectangle 24"/>
          <p:cNvSpPr/>
          <p:nvPr/>
        </p:nvSpPr>
        <p:spPr>
          <a:xfrm>
            <a:off x="548640" y="4754880"/>
            <a:ext cx="5669280" cy="1463040"/>
          </a:xfrm>
          <a:prstGeom prst="roundRect">
            <a:avLst>
              <a:gd name="adj" fmla="val 5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68680" y="4983480"/>
            <a:ext cx="5029200" cy="246221"/>
          </a:xfrm>
          <a:prstGeom prst="rect">
            <a:avLst/>
          </a:prstGeom>
          <a:noFill/>
        </p:spPr>
        <p:txBody>
          <a:bodyPr wrap="square" lIns="0" tIns="0" rIns="0" bIns="0" anchor="t">
            <a:spAutoFit/>
          </a:bodyPr>
          <a:lstStyle/>
          <a:p>
            <a:pPr algn="l"/>
            <a:r>
              <a:rPr sz="1600" b="1" i="0" dirty="0">
                <a:solidFill>
                  <a:srgbClr val="F2A541"/>
                </a:solidFill>
                <a:latin typeface="Calibri"/>
              </a:rPr>
              <a:t>INSTRUCTOR</a:t>
            </a:r>
          </a:p>
        </p:txBody>
      </p:sp>
      <p:sp>
        <p:nvSpPr>
          <p:cNvPr id="27" name="TextBox 26"/>
          <p:cNvSpPr txBox="1"/>
          <p:nvPr/>
        </p:nvSpPr>
        <p:spPr>
          <a:xfrm>
            <a:off x="868680" y="5303520"/>
            <a:ext cx="5029200" cy="457200"/>
          </a:xfrm>
          <a:prstGeom prst="rect">
            <a:avLst/>
          </a:prstGeom>
          <a:noFill/>
        </p:spPr>
        <p:txBody>
          <a:bodyPr wrap="square" lIns="0" tIns="0" rIns="0" bIns="0" anchor="t">
            <a:spAutoFit/>
          </a:bodyPr>
          <a:lstStyle/>
          <a:p>
            <a:pPr algn="l"/>
            <a:r>
              <a:rPr sz="2200" b="1" i="0" dirty="0">
                <a:solidFill>
                  <a:srgbClr val="FFFFFF"/>
                </a:solidFill>
                <a:latin typeface="Cambria"/>
              </a:rPr>
              <a:t>Maryanne </a:t>
            </a:r>
            <a:r>
              <a:rPr sz="2200" b="1" i="0" dirty="0" err="1">
                <a:solidFill>
                  <a:srgbClr val="FFFFFF"/>
                </a:solidFill>
                <a:latin typeface="Cambria"/>
              </a:rPr>
              <a:t>Mwikali</a:t>
            </a:r>
            <a:endParaRPr sz="2200" b="1" i="0" dirty="0">
              <a:solidFill>
                <a:srgbClr val="FFFFFF"/>
              </a:solidFill>
              <a:latin typeface="Cambria"/>
            </a:endParaRPr>
          </a:p>
        </p:txBody>
      </p:sp>
      <p:sp>
        <p:nvSpPr>
          <p:cNvPr id="29" name="Rounded Rectangle 28"/>
          <p:cNvSpPr/>
          <p:nvPr/>
        </p:nvSpPr>
        <p:spPr>
          <a:xfrm>
            <a:off x="6446520" y="4754880"/>
            <a:ext cx="5166360" cy="1463040"/>
          </a:xfrm>
          <a:prstGeom prst="roundRect">
            <a:avLst>
              <a:gd name="adj" fmla="val 5000"/>
            </a:avLst>
          </a:prstGeom>
          <a:solidFill>
            <a:srgbClr val="F5E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0" name="TextBox 29"/>
          <p:cNvSpPr txBox="1"/>
          <p:nvPr/>
        </p:nvSpPr>
        <p:spPr>
          <a:xfrm>
            <a:off x="6751320" y="4828699"/>
            <a:ext cx="4572000" cy="246221"/>
          </a:xfrm>
          <a:prstGeom prst="rect">
            <a:avLst/>
          </a:prstGeom>
          <a:noFill/>
        </p:spPr>
        <p:txBody>
          <a:bodyPr wrap="square" lIns="0" tIns="0" rIns="0" bIns="0" anchor="t">
            <a:spAutoFit/>
          </a:bodyPr>
          <a:lstStyle/>
          <a:p>
            <a:pPr algn="l"/>
            <a:r>
              <a:rPr sz="1600" b="1" i="0" dirty="0">
                <a:solidFill>
                  <a:srgbClr val="C73E1D"/>
                </a:solidFill>
                <a:latin typeface="Calibri"/>
              </a:rPr>
              <a:t>DATASETS</a:t>
            </a:r>
          </a:p>
        </p:txBody>
      </p:sp>
      <p:sp>
        <p:nvSpPr>
          <p:cNvPr id="31" name="TextBox 30"/>
          <p:cNvSpPr txBox="1"/>
          <p:nvPr/>
        </p:nvSpPr>
        <p:spPr>
          <a:xfrm>
            <a:off x="6766560" y="5303520"/>
            <a:ext cx="2011680" cy="215444"/>
          </a:xfrm>
          <a:prstGeom prst="rect">
            <a:avLst/>
          </a:prstGeom>
          <a:noFill/>
        </p:spPr>
        <p:txBody>
          <a:bodyPr wrap="square" lIns="0" tIns="0" rIns="0" bIns="0" anchor="t">
            <a:spAutoFit/>
          </a:bodyPr>
          <a:lstStyle/>
          <a:p>
            <a:pPr algn="l"/>
            <a:r>
              <a:rPr sz="1400" b="1" i="0" dirty="0">
                <a:solidFill>
                  <a:srgbClr val="14213D"/>
                </a:solidFill>
                <a:latin typeface="Consolas"/>
              </a:rPr>
              <a:t>ratings.csv</a:t>
            </a:r>
          </a:p>
        </p:txBody>
      </p:sp>
      <p:sp>
        <p:nvSpPr>
          <p:cNvPr id="32" name="TextBox 31"/>
          <p:cNvSpPr txBox="1"/>
          <p:nvPr/>
        </p:nvSpPr>
        <p:spPr>
          <a:xfrm>
            <a:off x="8595360" y="5303520"/>
            <a:ext cx="2926080" cy="215444"/>
          </a:xfrm>
          <a:prstGeom prst="rect">
            <a:avLst/>
          </a:prstGeom>
          <a:noFill/>
        </p:spPr>
        <p:txBody>
          <a:bodyPr wrap="square" lIns="0" tIns="0" rIns="0" bIns="0" anchor="t">
            <a:spAutoFit/>
          </a:bodyPr>
          <a:lstStyle/>
          <a:p>
            <a:pPr algn="l"/>
            <a:r>
              <a:rPr sz="1400" b="0" i="1" dirty="0">
                <a:solidFill>
                  <a:srgbClr val="6B7280"/>
                </a:solidFill>
                <a:latin typeface="Calibri"/>
              </a:rPr>
              <a:t>100,836 ratings</a:t>
            </a:r>
          </a:p>
        </p:txBody>
      </p:sp>
      <p:sp>
        <p:nvSpPr>
          <p:cNvPr id="33" name="TextBox 32"/>
          <p:cNvSpPr txBox="1"/>
          <p:nvPr/>
        </p:nvSpPr>
        <p:spPr>
          <a:xfrm>
            <a:off x="6766560" y="5596128"/>
            <a:ext cx="2011680" cy="215444"/>
          </a:xfrm>
          <a:prstGeom prst="rect">
            <a:avLst/>
          </a:prstGeom>
          <a:noFill/>
        </p:spPr>
        <p:txBody>
          <a:bodyPr wrap="square" lIns="0" tIns="0" rIns="0" bIns="0" anchor="t">
            <a:spAutoFit/>
          </a:bodyPr>
          <a:lstStyle/>
          <a:p>
            <a:pPr algn="l"/>
            <a:r>
              <a:rPr sz="1400" b="1" i="0" dirty="0">
                <a:solidFill>
                  <a:srgbClr val="14213D"/>
                </a:solidFill>
                <a:latin typeface="Consolas"/>
              </a:rPr>
              <a:t>movies.csv</a:t>
            </a:r>
          </a:p>
        </p:txBody>
      </p:sp>
      <p:sp>
        <p:nvSpPr>
          <p:cNvPr id="34" name="TextBox 33"/>
          <p:cNvSpPr txBox="1"/>
          <p:nvPr/>
        </p:nvSpPr>
        <p:spPr>
          <a:xfrm>
            <a:off x="8595360" y="5596128"/>
            <a:ext cx="2926080" cy="215444"/>
          </a:xfrm>
          <a:prstGeom prst="rect">
            <a:avLst/>
          </a:prstGeom>
          <a:noFill/>
        </p:spPr>
        <p:txBody>
          <a:bodyPr wrap="square" lIns="0" tIns="0" rIns="0" bIns="0" anchor="t">
            <a:spAutoFit/>
          </a:bodyPr>
          <a:lstStyle/>
          <a:p>
            <a:pPr algn="l"/>
            <a:r>
              <a:rPr sz="1400" b="0" i="1" dirty="0">
                <a:solidFill>
                  <a:srgbClr val="6B7280"/>
                </a:solidFill>
                <a:latin typeface="Calibri"/>
              </a:rPr>
              <a:t>9,742 </a:t>
            </a:r>
            <a:r>
              <a:rPr lang="en-US" sz="1400" i="1" dirty="0">
                <a:solidFill>
                  <a:srgbClr val="6B7280"/>
                </a:solidFill>
                <a:latin typeface="Calibri"/>
              </a:rPr>
              <a:t>movie titles</a:t>
            </a:r>
            <a:endParaRPr sz="1400" b="0" i="1" dirty="0">
              <a:solidFill>
                <a:srgbClr val="6B7280"/>
              </a:solidFill>
              <a:latin typeface="Calibri"/>
            </a:endParaRPr>
          </a:p>
        </p:txBody>
      </p:sp>
      <p:sp>
        <p:nvSpPr>
          <p:cNvPr id="35" name="TextBox 34"/>
          <p:cNvSpPr txBox="1"/>
          <p:nvPr/>
        </p:nvSpPr>
        <p:spPr>
          <a:xfrm>
            <a:off x="6766560" y="5888736"/>
            <a:ext cx="2011680" cy="215444"/>
          </a:xfrm>
          <a:prstGeom prst="rect">
            <a:avLst/>
          </a:prstGeom>
          <a:noFill/>
        </p:spPr>
        <p:txBody>
          <a:bodyPr wrap="square" lIns="0" tIns="0" rIns="0" bIns="0" anchor="t">
            <a:spAutoFit/>
          </a:bodyPr>
          <a:lstStyle/>
          <a:p>
            <a:pPr algn="l"/>
            <a:r>
              <a:rPr sz="1400" b="1" i="0" dirty="0">
                <a:solidFill>
                  <a:srgbClr val="14213D"/>
                </a:solidFill>
                <a:latin typeface="Consolas"/>
              </a:rPr>
              <a:t>tags.csv</a:t>
            </a:r>
          </a:p>
        </p:txBody>
      </p:sp>
      <p:sp>
        <p:nvSpPr>
          <p:cNvPr id="36" name="TextBox 35"/>
          <p:cNvSpPr txBox="1"/>
          <p:nvPr/>
        </p:nvSpPr>
        <p:spPr>
          <a:xfrm>
            <a:off x="8595360" y="5888736"/>
            <a:ext cx="2926080" cy="215444"/>
          </a:xfrm>
          <a:prstGeom prst="rect">
            <a:avLst/>
          </a:prstGeom>
          <a:noFill/>
        </p:spPr>
        <p:txBody>
          <a:bodyPr wrap="square" lIns="0" tIns="0" rIns="0" bIns="0" anchor="t">
            <a:spAutoFit/>
          </a:bodyPr>
          <a:lstStyle/>
          <a:p>
            <a:pPr algn="l"/>
            <a:r>
              <a:rPr sz="1400" b="0" i="1" dirty="0">
                <a:solidFill>
                  <a:srgbClr val="6B7280"/>
                </a:solidFill>
                <a:latin typeface="Calibri"/>
              </a:rPr>
              <a:t>free-text tags (cold-start </a:t>
            </a:r>
            <a:r>
              <a:rPr lang="en-US" sz="1400" i="1" dirty="0">
                <a:solidFill>
                  <a:srgbClr val="6B7280"/>
                </a:solidFill>
                <a:latin typeface="Calibri"/>
              </a:rPr>
              <a:t>solution</a:t>
            </a:r>
            <a:r>
              <a:rPr sz="1400" b="0" i="1" dirty="0">
                <a:solidFill>
                  <a:srgbClr val="6B7280"/>
                </a:solidFill>
                <a:latin typeface="Calibri"/>
              </a:rPr>
              <a:t>)</a:t>
            </a:r>
          </a:p>
        </p:txBody>
      </p:sp>
      <p:sp>
        <p:nvSpPr>
          <p:cNvPr id="37" name="TextBox 36"/>
          <p:cNvSpPr txBox="1"/>
          <p:nvPr/>
        </p:nvSpPr>
        <p:spPr>
          <a:xfrm>
            <a:off x="11475720" y="6446520"/>
            <a:ext cx="640080" cy="274320"/>
          </a:xfrm>
          <a:prstGeom prst="rect">
            <a:avLst/>
          </a:prstGeom>
          <a:noFill/>
        </p:spPr>
        <p:txBody>
          <a:bodyPr wrap="square" lIns="0" tIns="0" rIns="0" bIns="0" anchor="t">
            <a:spAutoFit/>
          </a:bodyPr>
          <a:lstStyle/>
          <a:p>
            <a:pPr algn="r"/>
            <a:r>
              <a:rPr sz="900" b="0" i="0">
                <a:solidFill>
                  <a:srgbClr val="6B7280"/>
                </a:solidFill>
                <a:latin typeface="Calibri"/>
              </a:rPr>
              <a:t>2 / 14</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164592"/>
            <a:ext cx="7315200" cy="246221"/>
          </a:xfrm>
          <a:prstGeom prst="rect">
            <a:avLst/>
          </a:prstGeom>
          <a:noFill/>
        </p:spPr>
        <p:txBody>
          <a:bodyPr wrap="square" lIns="0" tIns="0" rIns="0" bIns="0" anchor="t">
            <a:spAutoFit/>
          </a:bodyPr>
          <a:lstStyle/>
          <a:p>
            <a:pPr algn="l"/>
            <a:r>
              <a:rPr sz="1600" b="1" i="0" dirty="0">
                <a:solidFill>
                  <a:srgbClr val="FF0000"/>
                </a:solidFill>
                <a:latin typeface="Cambria"/>
              </a:rPr>
              <a:t>BUSINESS CONTEXT</a:t>
            </a:r>
          </a:p>
        </p:txBody>
      </p:sp>
      <p:sp>
        <p:nvSpPr>
          <p:cNvPr id="3" name="TextBox 2"/>
          <p:cNvSpPr txBox="1"/>
          <p:nvPr/>
        </p:nvSpPr>
        <p:spPr>
          <a:xfrm>
            <a:off x="502920" y="690873"/>
            <a:ext cx="11064240" cy="822960"/>
          </a:xfrm>
          <a:prstGeom prst="rect">
            <a:avLst/>
          </a:prstGeom>
          <a:noFill/>
        </p:spPr>
        <p:txBody>
          <a:bodyPr wrap="square" lIns="0" tIns="0" rIns="0" bIns="0" anchor="t">
            <a:spAutoFit/>
          </a:bodyPr>
          <a:lstStyle/>
          <a:p>
            <a:pPr algn="l"/>
            <a:r>
              <a:rPr sz="3600" b="1" i="0" dirty="0">
                <a:solidFill>
                  <a:srgbClr val="14213D"/>
                </a:solidFill>
                <a:latin typeface="Cambria"/>
              </a:rPr>
              <a:t>Decision fatigue is killing engagement</a:t>
            </a:r>
          </a:p>
        </p:txBody>
      </p:sp>
      <p:sp>
        <p:nvSpPr>
          <p:cNvPr id="5" name="Rounded Rectangle 4"/>
          <p:cNvSpPr/>
          <p:nvPr/>
        </p:nvSpPr>
        <p:spPr>
          <a:xfrm>
            <a:off x="548640" y="1691640"/>
            <a:ext cx="6949440" cy="2286000"/>
          </a:xfrm>
          <a:prstGeom prst="roundRect">
            <a:avLst>
              <a:gd name="adj" fmla="val 5000"/>
            </a:avLst>
          </a:prstGeom>
          <a:solidFill>
            <a:srgbClr val="F5E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6" name="TextBox 5"/>
          <p:cNvSpPr txBox="1"/>
          <p:nvPr/>
        </p:nvSpPr>
        <p:spPr>
          <a:xfrm>
            <a:off x="822960" y="1828800"/>
            <a:ext cx="548640" cy="640080"/>
          </a:xfrm>
          <a:prstGeom prst="rect">
            <a:avLst/>
          </a:prstGeom>
          <a:noFill/>
        </p:spPr>
        <p:txBody>
          <a:bodyPr wrap="square" lIns="0" tIns="0" rIns="0" bIns="0" anchor="t">
            <a:spAutoFit/>
          </a:bodyPr>
          <a:lstStyle/>
          <a:p>
            <a:pPr algn="l"/>
            <a:r>
              <a:rPr sz="7200" b="1" i="0" dirty="0">
                <a:solidFill>
                  <a:srgbClr val="C73E1D"/>
                </a:solidFill>
                <a:latin typeface="Cambria"/>
              </a:rPr>
              <a:t>“</a:t>
            </a:r>
          </a:p>
        </p:txBody>
      </p:sp>
      <p:sp>
        <p:nvSpPr>
          <p:cNvPr id="7" name="TextBox 6"/>
          <p:cNvSpPr txBox="1"/>
          <p:nvPr/>
        </p:nvSpPr>
        <p:spPr>
          <a:xfrm>
            <a:off x="1417320" y="1965960"/>
            <a:ext cx="5943600" cy="1938992"/>
          </a:xfrm>
          <a:prstGeom prst="rect">
            <a:avLst/>
          </a:prstGeom>
          <a:noFill/>
        </p:spPr>
        <p:txBody>
          <a:bodyPr wrap="square" lIns="0" tIns="0" rIns="0" bIns="0" anchor="t">
            <a:spAutoFit/>
          </a:bodyPr>
          <a:lstStyle/>
          <a:p>
            <a:r>
              <a:rPr lang="en-US" dirty="0">
                <a:latin typeface="Calibri" panose="020F0502020204030204" pitchFamily="34" charset="0"/>
                <a:cs typeface="Calibri" panose="020F0502020204030204" pitchFamily="34" charset="0"/>
              </a:rPr>
              <a:t>Ziki faces high early-session abandonment where users who do not find a film they connect with in their first few impressions are unlikely to watch anything that session. Ziki needs a personalized recommendation engine that will surface the top 5 movies most relevant to each user, based on their own rating history so that each homepage visit feels curated, not random, but tailored to what they like. </a:t>
            </a:r>
            <a:endParaRPr lang="en-GB" dirty="0">
              <a:latin typeface="Calibri" panose="020F0502020204030204" pitchFamily="34" charset="0"/>
              <a:cs typeface="Calibri" panose="020F0502020204030204" pitchFamily="34" charset="0"/>
            </a:endParaRPr>
          </a:p>
        </p:txBody>
      </p:sp>
      <p:sp>
        <p:nvSpPr>
          <p:cNvPr id="8" name="TextBox 7"/>
          <p:cNvSpPr txBox="1"/>
          <p:nvPr/>
        </p:nvSpPr>
        <p:spPr>
          <a:xfrm>
            <a:off x="7789985" y="1550722"/>
            <a:ext cx="3886200" cy="553998"/>
          </a:xfrm>
          <a:prstGeom prst="rect">
            <a:avLst/>
          </a:prstGeom>
          <a:noFill/>
        </p:spPr>
        <p:txBody>
          <a:bodyPr wrap="square" lIns="0" tIns="0" rIns="0" bIns="0" anchor="t">
            <a:spAutoFit/>
          </a:bodyPr>
          <a:lstStyle/>
          <a:p>
            <a:pPr algn="l"/>
            <a:r>
              <a:rPr sz="1800" b="1" i="0" dirty="0">
                <a:solidFill>
                  <a:srgbClr val="14213D"/>
                </a:solidFill>
                <a:latin typeface="Cambria"/>
              </a:rPr>
              <a:t>Project objectives</a:t>
            </a:r>
            <a:endParaRPr lang="en-US" sz="1800" b="1" i="0" dirty="0">
              <a:solidFill>
                <a:srgbClr val="14213D"/>
              </a:solidFill>
              <a:latin typeface="Cambria"/>
            </a:endParaRPr>
          </a:p>
          <a:p>
            <a:pPr algn="l"/>
            <a:endParaRPr lang="en-US" b="1" dirty="0">
              <a:solidFill>
                <a:srgbClr val="14213D"/>
              </a:solidFill>
              <a:latin typeface="Cambria"/>
            </a:endParaRPr>
          </a:p>
        </p:txBody>
      </p:sp>
      <p:sp>
        <p:nvSpPr>
          <p:cNvPr id="9" name="Oval 8"/>
          <p:cNvSpPr/>
          <p:nvPr/>
        </p:nvSpPr>
        <p:spPr>
          <a:xfrm>
            <a:off x="7772400" y="2033974"/>
            <a:ext cx="292608" cy="292608"/>
          </a:xfrm>
          <a:prstGeom prst="ellipse">
            <a:avLst/>
          </a:prstGeom>
          <a:solidFill>
            <a:srgbClr val="C73E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772400" y="2058766"/>
            <a:ext cx="292608" cy="292608"/>
          </a:xfrm>
          <a:prstGeom prst="rect">
            <a:avLst/>
          </a:prstGeom>
          <a:noFill/>
        </p:spPr>
        <p:txBody>
          <a:bodyPr wrap="square" lIns="0" tIns="0" rIns="0" bIns="0" anchor="ctr">
            <a:spAutoFit/>
          </a:bodyPr>
          <a:lstStyle/>
          <a:p>
            <a:pPr algn="ctr"/>
            <a:r>
              <a:rPr sz="1400" b="1" i="0" dirty="0">
                <a:solidFill>
                  <a:srgbClr val="FFFFFF"/>
                </a:solidFill>
                <a:latin typeface="Calibri"/>
              </a:rPr>
              <a:t>✓</a:t>
            </a:r>
          </a:p>
        </p:txBody>
      </p:sp>
      <p:sp>
        <p:nvSpPr>
          <p:cNvPr id="11" name="TextBox 10"/>
          <p:cNvSpPr txBox="1"/>
          <p:nvPr/>
        </p:nvSpPr>
        <p:spPr>
          <a:xfrm>
            <a:off x="8229600" y="1996999"/>
            <a:ext cx="3429000" cy="215444"/>
          </a:xfrm>
          <a:prstGeom prst="rect">
            <a:avLst/>
          </a:prstGeom>
          <a:noFill/>
        </p:spPr>
        <p:txBody>
          <a:bodyPr wrap="square" lIns="0" tIns="0" rIns="0" bIns="0" anchor="t">
            <a:spAutoFit/>
          </a:bodyPr>
          <a:lstStyle/>
          <a:p>
            <a:pPr algn="l"/>
            <a:r>
              <a:rPr lang="en-US" sz="1400" b="1" i="0" dirty="0">
                <a:solidFill>
                  <a:srgbClr val="14213D"/>
                </a:solidFill>
                <a:latin typeface="Calibri"/>
              </a:rPr>
              <a:t>Build a hybrid movie recommendation system</a:t>
            </a:r>
            <a:endParaRPr sz="1400" b="1" i="0" dirty="0">
              <a:solidFill>
                <a:srgbClr val="14213D"/>
              </a:solidFill>
              <a:latin typeface="Calibri"/>
            </a:endParaRPr>
          </a:p>
        </p:txBody>
      </p:sp>
      <p:sp>
        <p:nvSpPr>
          <p:cNvPr id="12" name="TextBox 11"/>
          <p:cNvSpPr txBox="1"/>
          <p:nvPr/>
        </p:nvSpPr>
        <p:spPr>
          <a:xfrm>
            <a:off x="8284112" y="2276856"/>
            <a:ext cx="3429000" cy="365760"/>
          </a:xfrm>
          <a:prstGeom prst="rect">
            <a:avLst/>
          </a:prstGeom>
          <a:noFill/>
        </p:spPr>
        <p:txBody>
          <a:bodyPr wrap="square" lIns="0" tIns="0" rIns="0" bIns="0" anchor="t">
            <a:spAutoFit/>
          </a:bodyPr>
          <a:lstStyle/>
          <a:p>
            <a:pPr algn="l"/>
            <a:r>
              <a:rPr sz="1100" b="0" i="1" dirty="0">
                <a:solidFill>
                  <a:srgbClr val="6B7280"/>
                </a:solidFill>
                <a:latin typeface="Calibri"/>
              </a:rPr>
              <a:t>from prior rating history</a:t>
            </a:r>
          </a:p>
        </p:txBody>
      </p:sp>
      <p:sp>
        <p:nvSpPr>
          <p:cNvPr id="13" name="Oval 12"/>
          <p:cNvSpPr/>
          <p:nvPr/>
        </p:nvSpPr>
        <p:spPr>
          <a:xfrm>
            <a:off x="7772400" y="2573236"/>
            <a:ext cx="292608" cy="292608"/>
          </a:xfrm>
          <a:prstGeom prst="ellipse">
            <a:avLst/>
          </a:prstGeom>
          <a:solidFill>
            <a:srgbClr val="C73E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758157" y="2591176"/>
            <a:ext cx="292608" cy="292608"/>
          </a:xfrm>
          <a:prstGeom prst="rect">
            <a:avLst/>
          </a:prstGeom>
          <a:noFill/>
        </p:spPr>
        <p:txBody>
          <a:bodyPr wrap="square" lIns="0" tIns="0" rIns="0" bIns="0" anchor="ctr">
            <a:spAutoFit/>
          </a:bodyPr>
          <a:lstStyle/>
          <a:p>
            <a:pPr algn="ctr"/>
            <a:r>
              <a:rPr sz="1400" b="1" i="0" dirty="0">
                <a:solidFill>
                  <a:srgbClr val="FFFFFF"/>
                </a:solidFill>
                <a:latin typeface="Calibri"/>
              </a:rPr>
              <a:t>✓</a:t>
            </a:r>
          </a:p>
        </p:txBody>
      </p:sp>
      <p:sp>
        <p:nvSpPr>
          <p:cNvPr id="15" name="TextBox 14"/>
          <p:cNvSpPr txBox="1"/>
          <p:nvPr/>
        </p:nvSpPr>
        <p:spPr>
          <a:xfrm>
            <a:off x="8247185" y="2566325"/>
            <a:ext cx="3429000" cy="365760"/>
          </a:xfrm>
          <a:prstGeom prst="rect">
            <a:avLst/>
          </a:prstGeom>
          <a:noFill/>
        </p:spPr>
        <p:txBody>
          <a:bodyPr wrap="square" lIns="0" tIns="0" rIns="0" bIns="0" anchor="t">
            <a:spAutoFit/>
          </a:bodyPr>
          <a:lstStyle/>
          <a:p>
            <a:pPr algn="l"/>
            <a:r>
              <a:rPr sz="1400" b="1" i="0" dirty="0">
                <a:solidFill>
                  <a:srgbClr val="14213D"/>
                </a:solidFill>
                <a:latin typeface="Calibri"/>
              </a:rPr>
              <a:t>Cold-start that works</a:t>
            </a:r>
          </a:p>
        </p:txBody>
      </p:sp>
      <p:sp>
        <p:nvSpPr>
          <p:cNvPr id="16" name="TextBox 15"/>
          <p:cNvSpPr txBox="1"/>
          <p:nvPr/>
        </p:nvSpPr>
        <p:spPr>
          <a:xfrm>
            <a:off x="8284112" y="2834640"/>
            <a:ext cx="3429000" cy="365760"/>
          </a:xfrm>
          <a:prstGeom prst="rect">
            <a:avLst/>
          </a:prstGeom>
          <a:noFill/>
        </p:spPr>
        <p:txBody>
          <a:bodyPr wrap="square" lIns="0" tIns="0" rIns="0" bIns="0" anchor="t">
            <a:spAutoFit/>
          </a:bodyPr>
          <a:lstStyle/>
          <a:p>
            <a:pPr algn="l"/>
            <a:r>
              <a:rPr sz="1100" b="0" i="1" dirty="0">
                <a:solidFill>
                  <a:srgbClr val="6B7280"/>
                </a:solidFill>
                <a:latin typeface="Calibri"/>
              </a:rPr>
              <a:t>for users who haven't rated yet</a:t>
            </a:r>
          </a:p>
        </p:txBody>
      </p:sp>
      <p:sp>
        <p:nvSpPr>
          <p:cNvPr id="17" name="Oval 16"/>
          <p:cNvSpPr/>
          <p:nvPr/>
        </p:nvSpPr>
        <p:spPr>
          <a:xfrm>
            <a:off x="7772400" y="3145566"/>
            <a:ext cx="292608" cy="292608"/>
          </a:xfrm>
          <a:prstGeom prst="ellipse">
            <a:avLst/>
          </a:prstGeom>
          <a:solidFill>
            <a:srgbClr val="C73E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808098" y="3201848"/>
            <a:ext cx="223677" cy="215444"/>
          </a:xfrm>
          <a:prstGeom prst="rect">
            <a:avLst/>
          </a:prstGeom>
          <a:noFill/>
        </p:spPr>
        <p:txBody>
          <a:bodyPr wrap="square" lIns="0" tIns="0" rIns="0" bIns="0" anchor="ctr">
            <a:spAutoFit/>
          </a:bodyPr>
          <a:lstStyle/>
          <a:p>
            <a:pPr algn="ctr"/>
            <a:r>
              <a:rPr sz="1400" b="1" i="0" dirty="0">
                <a:solidFill>
                  <a:srgbClr val="FFFFFF"/>
                </a:solidFill>
                <a:latin typeface="Calibri"/>
              </a:rPr>
              <a:t>✓</a:t>
            </a:r>
          </a:p>
        </p:txBody>
      </p:sp>
      <p:sp>
        <p:nvSpPr>
          <p:cNvPr id="19" name="TextBox 18"/>
          <p:cNvSpPr txBox="1"/>
          <p:nvPr/>
        </p:nvSpPr>
        <p:spPr>
          <a:xfrm>
            <a:off x="8247185" y="3176980"/>
            <a:ext cx="3429000" cy="215444"/>
          </a:xfrm>
          <a:prstGeom prst="rect">
            <a:avLst/>
          </a:prstGeom>
          <a:noFill/>
        </p:spPr>
        <p:txBody>
          <a:bodyPr wrap="square" lIns="0" tIns="0" rIns="0" bIns="0" anchor="t">
            <a:spAutoFit/>
          </a:bodyPr>
          <a:lstStyle/>
          <a:p>
            <a:pPr algn="l"/>
            <a:r>
              <a:rPr lang="en-US" sz="1400" b="1" dirty="0">
                <a:solidFill>
                  <a:srgbClr val="14213D"/>
                </a:solidFill>
                <a:latin typeface="Calibri"/>
              </a:rPr>
              <a:t>Develop user interface</a:t>
            </a:r>
            <a:endParaRPr sz="1400" b="1" i="0" dirty="0">
              <a:solidFill>
                <a:srgbClr val="14213D"/>
              </a:solidFill>
              <a:latin typeface="Calibri"/>
            </a:endParaRPr>
          </a:p>
        </p:txBody>
      </p:sp>
      <p:sp>
        <p:nvSpPr>
          <p:cNvPr id="21" name="Rounded Rectangle 20"/>
          <p:cNvSpPr/>
          <p:nvPr/>
        </p:nvSpPr>
        <p:spPr>
          <a:xfrm>
            <a:off x="548640" y="4617720"/>
            <a:ext cx="11064240" cy="1874519"/>
          </a:xfrm>
          <a:prstGeom prst="roundRect">
            <a:avLst>
              <a:gd name="adj" fmla="val 5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68680" y="4700349"/>
            <a:ext cx="10058400" cy="246221"/>
          </a:xfrm>
          <a:prstGeom prst="rect">
            <a:avLst/>
          </a:prstGeom>
          <a:noFill/>
        </p:spPr>
        <p:txBody>
          <a:bodyPr wrap="square" lIns="0" tIns="0" rIns="0" bIns="0" anchor="t">
            <a:spAutoFit/>
          </a:bodyPr>
          <a:lstStyle/>
          <a:p>
            <a:pPr algn="l"/>
            <a:r>
              <a:rPr sz="1600" b="1" i="0" dirty="0">
                <a:solidFill>
                  <a:srgbClr val="F2A541"/>
                </a:solidFill>
                <a:latin typeface="Calibri"/>
              </a:rPr>
              <a:t>QUESTIONS THIS </a:t>
            </a:r>
            <a:r>
              <a:rPr lang="en-US" sz="1600" b="1" i="0" dirty="0">
                <a:solidFill>
                  <a:srgbClr val="F2A541"/>
                </a:solidFill>
                <a:latin typeface="Calibri"/>
              </a:rPr>
              <a:t>SECTION</a:t>
            </a:r>
            <a:r>
              <a:rPr sz="1600" b="1" i="0" dirty="0">
                <a:solidFill>
                  <a:srgbClr val="F2A541"/>
                </a:solidFill>
                <a:latin typeface="Calibri"/>
              </a:rPr>
              <a:t> ANSWERS</a:t>
            </a:r>
          </a:p>
        </p:txBody>
      </p:sp>
      <p:sp>
        <p:nvSpPr>
          <p:cNvPr id="23" name="TextBox 22"/>
          <p:cNvSpPr txBox="1"/>
          <p:nvPr/>
        </p:nvSpPr>
        <p:spPr>
          <a:xfrm>
            <a:off x="868680" y="5212080"/>
            <a:ext cx="548640" cy="548640"/>
          </a:xfrm>
          <a:prstGeom prst="rect">
            <a:avLst/>
          </a:prstGeom>
          <a:noFill/>
        </p:spPr>
        <p:txBody>
          <a:bodyPr wrap="square" lIns="0" tIns="0" rIns="0" bIns="0" anchor="t">
            <a:spAutoFit/>
          </a:bodyPr>
          <a:lstStyle/>
          <a:p>
            <a:pPr algn="l"/>
            <a:r>
              <a:rPr sz="3000" b="1" i="0">
                <a:solidFill>
                  <a:srgbClr val="F2A541"/>
                </a:solidFill>
                <a:latin typeface="Cambria"/>
              </a:rPr>
              <a:t>01</a:t>
            </a:r>
          </a:p>
        </p:txBody>
      </p:sp>
      <p:sp>
        <p:nvSpPr>
          <p:cNvPr id="24" name="TextBox 23"/>
          <p:cNvSpPr txBox="1"/>
          <p:nvPr/>
        </p:nvSpPr>
        <p:spPr>
          <a:xfrm>
            <a:off x="868680" y="5715000"/>
            <a:ext cx="2468880" cy="549638"/>
          </a:xfrm>
          <a:prstGeom prst="rect">
            <a:avLst/>
          </a:prstGeom>
          <a:noFill/>
        </p:spPr>
        <p:txBody>
          <a:bodyPr wrap="square" lIns="0" tIns="0" rIns="0" bIns="0" anchor="t">
            <a:spAutoFit/>
          </a:bodyPr>
          <a:lstStyle/>
          <a:p>
            <a:pPr algn="l">
              <a:lnSpc>
                <a:spcPct val="115000"/>
              </a:lnSpc>
            </a:pPr>
            <a:r>
              <a:rPr sz="1600" b="0" i="0" dirty="0">
                <a:solidFill>
                  <a:srgbClr val="FFFFFF"/>
                </a:solidFill>
                <a:latin typeface="Calibri"/>
              </a:rPr>
              <a:t>What rating and genre patterns drive </a:t>
            </a:r>
            <a:r>
              <a:rPr sz="1600" b="0" i="0" dirty="0" err="1">
                <a:solidFill>
                  <a:srgbClr val="FFFFFF"/>
                </a:solidFill>
                <a:latin typeface="Calibri"/>
              </a:rPr>
              <a:t>Ziki's</a:t>
            </a:r>
            <a:r>
              <a:rPr sz="1600" b="0" i="0" dirty="0">
                <a:solidFill>
                  <a:srgbClr val="FFFFFF"/>
                </a:solidFill>
                <a:latin typeface="Calibri"/>
              </a:rPr>
              <a:t> library?</a:t>
            </a:r>
          </a:p>
        </p:txBody>
      </p:sp>
      <p:sp>
        <p:nvSpPr>
          <p:cNvPr id="25" name="TextBox 24"/>
          <p:cNvSpPr txBox="1"/>
          <p:nvPr/>
        </p:nvSpPr>
        <p:spPr>
          <a:xfrm>
            <a:off x="3611880" y="5212080"/>
            <a:ext cx="548640" cy="548640"/>
          </a:xfrm>
          <a:prstGeom prst="rect">
            <a:avLst/>
          </a:prstGeom>
          <a:noFill/>
        </p:spPr>
        <p:txBody>
          <a:bodyPr wrap="square" lIns="0" tIns="0" rIns="0" bIns="0" anchor="t">
            <a:spAutoFit/>
          </a:bodyPr>
          <a:lstStyle/>
          <a:p>
            <a:pPr algn="l"/>
            <a:r>
              <a:rPr sz="3000" b="1" i="0">
                <a:solidFill>
                  <a:srgbClr val="F2A541"/>
                </a:solidFill>
                <a:latin typeface="Cambria"/>
              </a:rPr>
              <a:t>02</a:t>
            </a:r>
          </a:p>
        </p:txBody>
      </p:sp>
      <p:sp>
        <p:nvSpPr>
          <p:cNvPr id="26" name="TextBox 25"/>
          <p:cNvSpPr txBox="1"/>
          <p:nvPr/>
        </p:nvSpPr>
        <p:spPr>
          <a:xfrm>
            <a:off x="3611880" y="5715000"/>
            <a:ext cx="2468880" cy="549638"/>
          </a:xfrm>
          <a:prstGeom prst="rect">
            <a:avLst/>
          </a:prstGeom>
          <a:noFill/>
        </p:spPr>
        <p:txBody>
          <a:bodyPr wrap="square" lIns="0" tIns="0" rIns="0" bIns="0" anchor="t">
            <a:spAutoFit/>
          </a:bodyPr>
          <a:lstStyle/>
          <a:p>
            <a:pPr algn="l">
              <a:lnSpc>
                <a:spcPct val="115000"/>
              </a:lnSpc>
            </a:pPr>
            <a:r>
              <a:rPr sz="1600" b="0" i="0" dirty="0">
                <a:solidFill>
                  <a:srgbClr val="FFFFFF"/>
                </a:solidFill>
                <a:latin typeface="Calibri"/>
              </a:rPr>
              <a:t>Why hybrid — and not pure collaborative filtering?</a:t>
            </a:r>
          </a:p>
        </p:txBody>
      </p:sp>
      <p:sp>
        <p:nvSpPr>
          <p:cNvPr id="27" name="TextBox 26"/>
          <p:cNvSpPr txBox="1"/>
          <p:nvPr/>
        </p:nvSpPr>
        <p:spPr>
          <a:xfrm>
            <a:off x="6355080" y="5212080"/>
            <a:ext cx="548640" cy="548640"/>
          </a:xfrm>
          <a:prstGeom prst="rect">
            <a:avLst/>
          </a:prstGeom>
          <a:noFill/>
        </p:spPr>
        <p:txBody>
          <a:bodyPr wrap="square" lIns="0" tIns="0" rIns="0" bIns="0" anchor="t">
            <a:spAutoFit/>
          </a:bodyPr>
          <a:lstStyle/>
          <a:p>
            <a:pPr algn="l"/>
            <a:r>
              <a:rPr sz="3000" b="1" i="0">
                <a:solidFill>
                  <a:srgbClr val="F2A541"/>
                </a:solidFill>
                <a:latin typeface="Cambria"/>
              </a:rPr>
              <a:t>03</a:t>
            </a:r>
          </a:p>
        </p:txBody>
      </p:sp>
      <p:sp>
        <p:nvSpPr>
          <p:cNvPr id="28" name="TextBox 27"/>
          <p:cNvSpPr txBox="1"/>
          <p:nvPr/>
        </p:nvSpPr>
        <p:spPr>
          <a:xfrm>
            <a:off x="6355080" y="5715000"/>
            <a:ext cx="2468880" cy="549638"/>
          </a:xfrm>
          <a:prstGeom prst="rect">
            <a:avLst/>
          </a:prstGeom>
          <a:noFill/>
        </p:spPr>
        <p:txBody>
          <a:bodyPr wrap="square" lIns="0" tIns="0" rIns="0" bIns="0" anchor="t">
            <a:spAutoFit/>
          </a:bodyPr>
          <a:lstStyle/>
          <a:p>
            <a:pPr algn="l">
              <a:lnSpc>
                <a:spcPct val="115000"/>
              </a:lnSpc>
            </a:pPr>
            <a:r>
              <a:rPr sz="1600" b="0" i="0" dirty="0">
                <a:solidFill>
                  <a:srgbClr val="FFFFFF"/>
                </a:solidFill>
                <a:latin typeface="Calibri"/>
              </a:rPr>
              <a:t>Which algorithm wins, and by how much?</a:t>
            </a:r>
          </a:p>
        </p:txBody>
      </p:sp>
      <p:sp>
        <p:nvSpPr>
          <p:cNvPr id="29" name="TextBox 28"/>
          <p:cNvSpPr txBox="1"/>
          <p:nvPr/>
        </p:nvSpPr>
        <p:spPr>
          <a:xfrm>
            <a:off x="9098280" y="5212080"/>
            <a:ext cx="548640" cy="548640"/>
          </a:xfrm>
          <a:prstGeom prst="rect">
            <a:avLst/>
          </a:prstGeom>
          <a:noFill/>
        </p:spPr>
        <p:txBody>
          <a:bodyPr wrap="square" lIns="0" tIns="0" rIns="0" bIns="0" anchor="t">
            <a:spAutoFit/>
          </a:bodyPr>
          <a:lstStyle/>
          <a:p>
            <a:pPr algn="l"/>
            <a:r>
              <a:rPr sz="3000" b="1" i="0">
                <a:solidFill>
                  <a:srgbClr val="F2A541"/>
                </a:solidFill>
                <a:latin typeface="Cambria"/>
              </a:rPr>
              <a:t>04</a:t>
            </a:r>
          </a:p>
        </p:txBody>
      </p:sp>
      <p:sp>
        <p:nvSpPr>
          <p:cNvPr id="30" name="TextBox 29"/>
          <p:cNvSpPr txBox="1"/>
          <p:nvPr/>
        </p:nvSpPr>
        <p:spPr>
          <a:xfrm>
            <a:off x="9098280" y="5658770"/>
            <a:ext cx="2468880" cy="1115947"/>
          </a:xfrm>
          <a:prstGeom prst="rect">
            <a:avLst/>
          </a:prstGeom>
          <a:noFill/>
        </p:spPr>
        <p:txBody>
          <a:bodyPr wrap="square" lIns="0" tIns="0" rIns="0" bIns="0" anchor="t">
            <a:spAutoFit/>
          </a:bodyPr>
          <a:lstStyle/>
          <a:p>
            <a:pPr algn="l">
              <a:lnSpc>
                <a:spcPct val="115000"/>
              </a:lnSpc>
            </a:pPr>
            <a:r>
              <a:rPr sz="1600" b="0" i="0" dirty="0">
                <a:solidFill>
                  <a:srgbClr val="FFFFFF"/>
                </a:solidFill>
                <a:latin typeface="Calibri"/>
              </a:rPr>
              <a:t>How do we serve a brand-new user with zero ratings?</a:t>
            </a:r>
            <a:r>
              <a:rPr lang="en-US" sz="1600" b="0" i="0" dirty="0">
                <a:solidFill>
                  <a:srgbClr val="FFFFFF"/>
                </a:solidFill>
                <a:latin typeface="Calibri"/>
              </a:rPr>
              <a:t>  (Addressing the cold start problem)</a:t>
            </a:r>
            <a:endParaRPr sz="1600" b="0" i="0" dirty="0">
              <a:solidFill>
                <a:srgbClr val="FFFFFF"/>
              </a:solidFill>
              <a:latin typeface="Calibri"/>
            </a:endParaRPr>
          </a:p>
        </p:txBody>
      </p:sp>
      <p:sp>
        <p:nvSpPr>
          <p:cNvPr id="31" name="TextBox 30"/>
          <p:cNvSpPr txBox="1"/>
          <p:nvPr/>
        </p:nvSpPr>
        <p:spPr>
          <a:xfrm>
            <a:off x="11475720" y="6446520"/>
            <a:ext cx="640080" cy="274320"/>
          </a:xfrm>
          <a:prstGeom prst="rect">
            <a:avLst/>
          </a:prstGeom>
          <a:noFill/>
        </p:spPr>
        <p:txBody>
          <a:bodyPr wrap="square" lIns="0" tIns="0" rIns="0" bIns="0" anchor="t">
            <a:spAutoFit/>
          </a:bodyPr>
          <a:lstStyle/>
          <a:p>
            <a:pPr algn="r"/>
            <a:r>
              <a:rPr sz="900" b="0" i="0">
                <a:solidFill>
                  <a:srgbClr val="6B7280"/>
                </a:solidFill>
                <a:latin typeface="Calibri"/>
              </a:rPr>
              <a:t>3 / 14</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164592"/>
            <a:ext cx="7315200" cy="246221"/>
          </a:xfrm>
          <a:prstGeom prst="rect">
            <a:avLst/>
          </a:prstGeom>
          <a:noFill/>
        </p:spPr>
        <p:txBody>
          <a:bodyPr wrap="square" lIns="0" tIns="0" rIns="0" bIns="0" anchor="t">
            <a:spAutoFit/>
          </a:bodyPr>
          <a:lstStyle/>
          <a:p>
            <a:pPr algn="l"/>
            <a:r>
              <a:rPr sz="1600" b="1" i="0" dirty="0">
                <a:solidFill>
                  <a:srgbClr val="FF0000"/>
                </a:solidFill>
                <a:latin typeface="Cambria"/>
              </a:rPr>
              <a:t>DATA UNDERSTANDING</a:t>
            </a:r>
          </a:p>
        </p:txBody>
      </p:sp>
      <p:sp>
        <p:nvSpPr>
          <p:cNvPr id="3" name="TextBox 2"/>
          <p:cNvSpPr txBox="1"/>
          <p:nvPr/>
        </p:nvSpPr>
        <p:spPr>
          <a:xfrm>
            <a:off x="548640" y="365760"/>
            <a:ext cx="11064240" cy="822960"/>
          </a:xfrm>
          <a:prstGeom prst="rect">
            <a:avLst/>
          </a:prstGeom>
          <a:noFill/>
        </p:spPr>
        <p:txBody>
          <a:bodyPr wrap="square" lIns="0" tIns="0" rIns="0" bIns="0" anchor="t">
            <a:spAutoFit/>
          </a:bodyPr>
          <a:lstStyle/>
          <a:p>
            <a:pPr algn="l"/>
            <a:r>
              <a:rPr sz="3600" b="1" i="0">
                <a:solidFill>
                  <a:srgbClr val="14213D"/>
                </a:solidFill>
                <a:latin typeface="Cambria"/>
              </a:rPr>
              <a:t>Three CSVs, one cinematic universe</a:t>
            </a:r>
          </a:p>
        </p:txBody>
      </p:sp>
      <p:sp>
        <p:nvSpPr>
          <p:cNvPr id="4" name="TextBox 3"/>
          <p:cNvSpPr txBox="1"/>
          <p:nvPr/>
        </p:nvSpPr>
        <p:spPr>
          <a:xfrm>
            <a:off x="548640" y="1051560"/>
            <a:ext cx="11064240" cy="215444"/>
          </a:xfrm>
          <a:prstGeom prst="rect">
            <a:avLst/>
          </a:prstGeom>
          <a:noFill/>
        </p:spPr>
        <p:txBody>
          <a:bodyPr wrap="square" lIns="0" tIns="0" rIns="0" bIns="0" anchor="t">
            <a:spAutoFit/>
          </a:bodyPr>
          <a:lstStyle/>
          <a:p>
            <a:pPr algn="l"/>
            <a:r>
              <a:rPr sz="1400" b="0" i="1" dirty="0">
                <a:solidFill>
                  <a:srgbClr val="6B7280"/>
                </a:solidFill>
                <a:latin typeface="Calibri"/>
              </a:rPr>
              <a:t>MovieLens ml-latest-small  · </a:t>
            </a:r>
          </a:p>
        </p:txBody>
      </p:sp>
      <p:sp>
        <p:nvSpPr>
          <p:cNvPr id="5" name="Rounded Rectangle 4"/>
          <p:cNvSpPr/>
          <p:nvPr/>
        </p:nvSpPr>
        <p:spPr>
          <a:xfrm>
            <a:off x="548640" y="1828800"/>
            <a:ext cx="2743200" cy="2011680"/>
          </a:xfrm>
          <a:prstGeom prst="roundRect">
            <a:avLst>
              <a:gd name="adj" fmla="val 5000"/>
            </a:avLst>
          </a:prstGeom>
          <a:solidFill>
            <a:srgbClr val="F5E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48640" y="1828800"/>
            <a:ext cx="164592" cy="201168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2148840"/>
            <a:ext cx="2194560" cy="646331"/>
          </a:xfrm>
          <a:prstGeom prst="rect">
            <a:avLst/>
          </a:prstGeom>
          <a:noFill/>
        </p:spPr>
        <p:txBody>
          <a:bodyPr wrap="square" lIns="0" tIns="0" rIns="0" bIns="0" anchor="t">
            <a:spAutoFit/>
          </a:bodyPr>
          <a:lstStyle/>
          <a:p>
            <a:pPr algn="l"/>
            <a:r>
              <a:rPr sz="4200" b="1" i="0" dirty="0">
                <a:solidFill>
                  <a:srgbClr val="FF0000"/>
                </a:solidFill>
                <a:latin typeface="Cambria"/>
              </a:rPr>
              <a:t>100,836</a:t>
            </a:r>
          </a:p>
        </p:txBody>
      </p:sp>
      <p:sp>
        <p:nvSpPr>
          <p:cNvPr id="8" name="TextBox 7"/>
          <p:cNvSpPr txBox="1"/>
          <p:nvPr/>
        </p:nvSpPr>
        <p:spPr>
          <a:xfrm>
            <a:off x="914400" y="3154680"/>
            <a:ext cx="2194560" cy="457200"/>
          </a:xfrm>
          <a:prstGeom prst="rect">
            <a:avLst/>
          </a:prstGeom>
          <a:noFill/>
        </p:spPr>
        <p:txBody>
          <a:bodyPr wrap="square" lIns="0" tIns="0" rIns="0" bIns="0" anchor="t">
            <a:spAutoFit/>
          </a:bodyPr>
          <a:lstStyle/>
          <a:p>
            <a:pPr algn="l"/>
            <a:r>
              <a:rPr sz="1300" b="0" i="0">
                <a:solidFill>
                  <a:srgbClr val="6B7280"/>
                </a:solidFill>
                <a:latin typeface="Calibri"/>
              </a:rPr>
              <a:t>ratings</a:t>
            </a:r>
          </a:p>
        </p:txBody>
      </p:sp>
      <p:sp>
        <p:nvSpPr>
          <p:cNvPr id="9" name="Rounded Rectangle 8"/>
          <p:cNvSpPr/>
          <p:nvPr/>
        </p:nvSpPr>
        <p:spPr>
          <a:xfrm>
            <a:off x="3410712" y="1828800"/>
            <a:ext cx="2743200" cy="2011680"/>
          </a:xfrm>
          <a:prstGeom prst="roundRect">
            <a:avLst>
              <a:gd name="adj" fmla="val 5000"/>
            </a:avLst>
          </a:prstGeom>
          <a:solidFill>
            <a:srgbClr val="F5E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3410712" y="1828800"/>
            <a:ext cx="164592" cy="2011680"/>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776472" y="2148840"/>
            <a:ext cx="2194560" cy="1005840"/>
          </a:xfrm>
          <a:prstGeom prst="rect">
            <a:avLst/>
          </a:prstGeom>
          <a:noFill/>
        </p:spPr>
        <p:txBody>
          <a:bodyPr wrap="square" lIns="0" tIns="0" rIns="0" bIns="0" anchor="t">
            <a:spAutoFit/>
          </a:bodyPr>
          <a:lstStyle/>
          <a:p>
            <a:pPr algn="l"/>
            <a:r>
              <a:rPr sz="4200" b="1" i="0">
                <a:solidFill>
                  <a:srgbClr val="14213D"/>
                </a:solidFill>
                <a:latin typeface="Cambria"/>
              </a:rPr>
              <a:t>9,742</a:t>
            </a:r>
          </a:p>
        </p:txBody>
      </p:sp>
      <p:sp>
        <p:nvSpPr>
          <p:cNvPr id="12" name="TextBox 11"/>
          <p:cNvSpPr txBox="1"/>
          <p:nvPr/>
        </p:nvSpPr>
        <p:spPr>
          <a:xfrm>
            <a:off x="3776472" y="3154680"/>
            <a:ext cx="2194560" cy="457200"/>
          </a:xfrm>
          <a:prstGeom prst="rect">
            <a:avLst/>
          </a:prstGeom>
          <a:noFill/>
        </p:spPr>
        <p:txBody>
          <a:bodyPr wrap="square" lIns="0" tIns="0" rIns="0" bIns="0" anchor="t">
            <a:spAutoFit/>
          </a:bodyPr>
          <a:lstStyle/>
          <a:p>
            <a:pPr algn="l"/>
            <a:r>
              <a:rPr sz="1300" b="0" i="0">
                <a:solidFill>
                  <a:srgbClr val="6B7280"/>
                </a:solidFill>
                <a:latin typeface="Calibri"/>
              </a:rPr>
              <a:t>movies</a:t>
            </a:r>
          </a:p>
        </p:txBody>
      </p:sp>
      <p:sp>
        <p:nvSpPr>
          <p:cNvPr id="13" name="Rounded Rectangle 12"/>
          <p:cNvSpPr/>
          <p:nvPr/>
        </p:nvSpPr>
        <p:spPr>
          <a:xfrm>
            <a:off x="6272784" y="1828800"/>
            <a:ext cx="2743200" cy="2011680"/>
          </a:xfrm>
          <a:prstGeom prst="roundRect">
            <a:avLst>
              <a:gd name="adj" fmla="val 5000"/>
            </a:avLst>
          </a:prstGeom>
          <a:solidFill>
            <a:srgbClr val="F5E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272784" y="1828800"/>
            <a:ext cx="164592" cy="2011680"/>
          </a:xfrm>
          <a:prstGeom prst="rect">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638544" y="2148840"/>
            <a:ext cx="2194560" cy="1005840"/>
          </a:xfrm>
          <a:prstGeom prst="rect">
            <a:avLst/>
          </a:prstGeom>
          <a:noFill/>
        </p:spPr>
        <p:txBody>
          <a:bodyPr wrap="square" lIns="0" tIns="0" rIns="0" bIns="0" anchor="t">
            <a:spAutoFit/>
          </a:bodyPr>
          <a:lstStyle/>
          <a:p>
            <a:pPr algn="l"/>
            <a:r>
              <a:rPr sz="4200" b="1" i="0">
                <a:solidFill>
                  <a:srgbClr val="F2A541"/>
                </a:solidFill>
                <a:latin typeface="Cambria"/>
              </a:rPr>
              <a:t>610</a:t>
            </a:r>
          </a:p>
        </p:txBody>
      </p:sp>
      <p:sp>
        <p:nvSpPr>
          <p:cNvPr id="16" name="TextBox 15"/>
          <p:cNvSpPr txBox="1"/>
          <p:nvPr/>
        </p:nvSpPr>
        <p:spPr>
          <a:xfrm>
            <a:off x="6638544" y="3154680"/>
            <a:ext cx="2194560" cy="457200"/>
          </a:xfrm>
          <a:prstGeom prst="rect">
            <a:avLst/>
          </a:prstGeom>
          <a:noFill/>
        </p:spPr>
        <p:txBody>
          <a:bodyPr wrap="square" lIns="0" tIns="0" rIns="0" bIns="0" anchor="t">
            <a:spAutoFit/>
          </a:bodyPr>
          <a:lstStyle/>
          <a:p>
            <a:pPr algn="l"/>
            <a:r>
              <a:rPr sz="1300" b="0" i="0">
                <a:solidFill>
                  <a:srgbClr val="6B7280"/>
                </a:solidFill>
                <a:latin typeface="Calibri"/>
              </a:rPr>
              <a:t>users</a:t>
            </a:r>
          </a:p>
        </p:txBody>
      </p:sp>
      <p:sp>
        <p:nvSpPr>
          <p:cNvPr id="17" name="Rounded Rectangle 16"/>
          <p:cNvSpPr/>
          <p:nvPr/>
        </p:nvSpPr>
        <p:spPr>
          <a:xfrm>
            <a:off x="9134856" y="1828800"/>
            <a:ext cx="2743200" cy="2011680"/>
          </a:xfrm>
          <a:prstGeom prst="roundRect">
            <a:avLst>
              <a:gd name="adj" fmla="val 5000"/>
            </a:avLst>
          </a:prstGeom>
          <a:solidFill>
            <a:srgbClr val="F5E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9134856" y="1828800"/>
            <a:ext cx="164592" cy="2011680"/>
          </a:xfrm>
          <a:prstGeom prst="rec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500616" y="2148840"/>
            <a:ext cx="2194560" cy="1005840"/>
          </a:xfrm>
          <a:prstGeom prst="rect">
            <a:avLst/>
          </a:prstGeom>
          <a:noFill/>
        </p:spPr>
        <p:txBody>
          <a:bodyPr wrap="square" lIns="0" tIns="0" rIns="0" bIns="0" anchor="t">
            <a:spAutoFit/>
          </a:bodyPr>
          <a:lstStyle/>
          <a:p>
            <a:pPr algn="l"/>
            <a:r>
              <a:rPr sz="4200" b="1" i="0">
                <a:solidFill>
                  <a:srgbClr val="334155"/>
                </a:solidFill>
                <a:latin typeface="Cambria"/>
              </a:rPr>
              <a:t>98.3%</a:t>
            </a:r>
          </a:p>
        </p:txBody>
      </p:sp>
      <p:sp>
        <p:nvSpPr>
          <p:cNvPr id="20" name="TextBox 19"/>
          <p:cNvSpPr txBox="1"/>
          <p:nvPr/>
        </p:nvSpPr>
        <p:spPr>
          <a:xfrm>
            <a:off x="9500616" y="3154680"/>
            <a:ext cx="2194560" cy="457200"/>
          </a:xfrm>
          <a:prstGeom prst="rect">
            <a:avLst/>
          </a:prstGeom>
          <a:noFill/>
        </p:spPr>
        <p:txBody>
          <a:bodyPr wrap="square" lIns="0" tIns="0" rIns="0" bIns="0" anchor="t">
            <a:spAutoFit/>
          </a:bodyPr>
          <a:lstStyle/>
          <a:p>
            <a:pPr algn="l"/>
            <a:r>
              <a:rPr sz="1300" b="0" i="0">
                <a:solidFill>
                  <a:srgbClr val="6B7280"/>
                </a:solidFill>
                <a:latin typeface="Calibri"/>
              </a:rPr>
              <a:t>matrix sparsity</a:t>
            </a:r>
          </a:p>
        </p:txBody>
      </p:sp>
      <p:sp>
        <p:nvSpPr>
          <p:cNvPr id="21" name="TextBox 20"/>
          <p:cNvSpPr txBox="1"/>
          <p:nvPr/>
        </p:nvSpPr>
        <p:spPr>
          <a:xfrm>
            <a:off x="548640" y="4160520"/>
            <a:ext cx="11064240" cy="411480"/>
          </a:xfrm>
          <a:prstGeom prst="rect">
            <a:avLst/>
          </a:prstGeom>
          <a:noFill/>
        </p:spPr>
        <p:txBody>
          <a:bodyPr wrap="square" lIns="0" tIns="0" rIns="0" bIns="0" anchor="t">
            <a:spAutoFit/>
          </a:bodyPr>
          <a:lstStyle/>
          <a:p>
            <a:pPr algn="l"/>
            <a:r>
              <a:rPr sz="1800" b="1" i="0" dirty="0">
                <a:solidFill>
                  <a:srgbClr val="14213D"/>
                </a:solidFill>
                <a:latin typeface="Cambria"/>
              </a:rPr>
              <a:t>What's in the box</a:t>
            </a:r>
          </a:p>
        </p:txBody>
      </p:sp>
      <p:sp>
        <p:nvSpPr>
          <p:cNvPr id="22" name="Rectangle 21"/>
          <p:cNvSpPr/>
          <p:nvPr/>
        </p:nvSpPr>
        <p:spPr>
          <a:xfrm>
            <a:off x="548640" y="4709160"/>
            <a:ext cx="11329416" cy="457200"/>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23" name="TextBox 22"/>
          <p:cNvSpPr txBox="1"/>
          <p:nvPr/>
        </p:nvSpPr>
        <p:spPr>
          <a:xfrm>
            <a:off x="777240" y="4799260"/>
            <a:ext cx="2377440" cy="276999"/>
          </a:xfrm>
          <a:prstGeom prst="rect">
            <a:avLst/>
          </a:prstGeom>
          <a:noFill/>
        </p:spPr>
        <p:txBody>
          <a:bodyPr wrap="square" lIns="0" tIns="0" rIns="0" bIns="0" anchor="ctr">
            <a:spAutoFit/>
          </a:bodyPr>
          <a:lstStyle/>
          <a:p>
            <a:pPr algn="l"/>
            <a:r>
              <a:rPr b="1" i="0" dirty="0">
                <a:solidFill>
                  <a:srgbClr val="F2A541"/>
                </a:solidFill>
                <a:latin typeface="Calibri"/>
              </a:rPr>
              <a:t>FILE</a:t>
            </a:r>
          </a:p>
        </p:txBody>
      </p:sp>
      <p:sp>
        <p:nvSpPr>
          <p:cNvPr id="25" name="TextBox 24"/>
          <p:cNvSpPr txBox="1"/>
          <p:nvPr/>
        </p:nvSpPr>
        <p:spPr>
          <a:xfrm>
            <a:off x="4084320" y="4823460"/>
            <a:ext cx="4023360" cy="276999"/>
          </a:xfrm>
          <a:prstGeom prst="rect">
            <a:avLst/>
          </a:prstGeom>
          <a:noFill/>
        </p:spPr>
        <p:txBody>
          <a:bodyPr wrap="square" lIns="0" tIns="0" rIns="0" bIns="0" anchor="ctr">
            <a:spAutoFit/>
          </a:bodyPr>
          <a:lstStyle/>
          <a:p>
            <a:pPr algn="l"/>
            <a:r>
              <a:rPr b="1" i="0" dirty="0">
                <a:solidFill>
                  <a:srgbClr val="F2A541"/>
                </a:solidFill>
                <a:latin typeface="Calibri"/>
              </a:rPr>
              <a:t>ROLE</a:t>
            </a:r>
          </a:p>
        </p:txBody>
      </p:sp>
      <p:sp>
        <p:nvSpPr>
          <p:cNvPr id="26" name="Rectangle 25"/>
          <p:cNvSpPr/>
          <p:nvPr/>
        </p:nvSpPr>
        <p:spPr>
          <a:xfrm>
            <a:off x="548640" y="5166360"/>
            <a:ext cx="11329416" cy="457200"/>
          </a:xfrm>
          <a:prstGeom prst="rect">
            <a:avLst/>
          </a:prstGeom>
          <a:solidFill>
            <a:srgbClr val="F5E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77240" y="5256460"/>
            <a:ext cx="2377440" cy="276999"/>
          </a:xfrm>
          <a:prstGeom prst="rect">
            <a:avLst/>
          </a:prstGeom>
          <a:noFill/>
        </p:spPr>
        <p:txBody>
          <a:bodyPr wrap="square" lIns="0" tIns="0" rIns="0" bIns="0" anchor="ctr">
            <a:spAutoFit/>
          </a:bodyPr>
          <a:lstStyle/>
          <a:p>
            <a:pPr algn="l"/>
            <a:r>
              <a:rPr b="1" i="0" dirty="0">
                <a:solidFill>
                  <a:srgbClr val="14213D"/>
                </a:solidFill>
                <a:latin typeface="Consolas"/>
              </a:rPr>
              <a:t>ratings.csv</a:t>
            </a:r>
          </a:p>
        </p:txBody>
      </p:sp>
      <p:sp>
        <p:nvSpPr>
          <p:cNvPr id="29" name="TextBox 28"/>
          <p:cNvSpPr txBox="1"/>
          <p:nvPr/>
        </p:nvSpPr>
        <p:spPr>
          <a:xfrm>
            <a:off x="4084320" y="5117961"/>
            <a:ext cx="7793736" cy="553998"/>
          </a:xfrm>
          <a:prstGeom prst="rect">
            <a:avLst/>
          </a:prstGeom>
          <a:noFill/>
        </p:spPr>
        <p:txBody>
          <a:bodyPr wrap="square" lIns="0" tIns="0" rIns="0" bIns="0" anchor="ctr">
            <a:spAutoFit/>
          </a:bodyPr>
          <a:lstStyle/>
          <a:p>
            <a:pPr algn="l"/>
            <a:r>
              <a:rPr lang="en-US" b="0" i="1" dirty="0">
                <a:solidFill>
                  <a:srgbClr val="6B7280"/>
                </a:solidFill>
                <a:latin typeface="Calibri"/>
              </a:rPr>
              <a:t>Training data for all collaborative filtering model. </a:t>
            </a:r>
            <a:r>
              <a:rPr b="0" i="1" dirty="0">
                <a:solidFill>
                  <a:srgbClr val="6B7280"/>
                </a:solidFill>
                <a:latin typeface="Calibri"/>
              </a:rPr>
              <a:t>0.5–5.0 stars in 0.5 increments — primary signal</a:t>
            </a:r>
          </a:p>
        </p:txBody>
      </p:sp>
      <p:sp>
        <p:nvSpPr>
          <p:cNvPr id="30" name="Rectangle 29"/>
          <p:cNvSpPr/>
          <p:nvPr/>
        </p:nvSpPr>
        <p:spPr>
          <a:xfrm>
            <a:off x="548640" y="5623560"/>
            <a:ext cx="11329416"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777240" y="5713660"/>
            <a:ext cx="2377440" cy="276999"/>
          </a:xfrm>
          <a:prstGeom prst="rect">
            <a:avLst/>
          </a:prstGeom>
          <a:noFill/>
        </p:spPr>
        <p:txBody>
          <a:bodyPr wrap="square" lIns="0" tIns="0" rIns="0" bIns="0" anchor="ctr">
            <a:spAutoFit/>
          </a:bodyPr>
          <a:lstStyle/>
          <a:p>
            <a:pPr algn="l"/>
            <a:r>
              <a:rPr b="1" i="0" dirty="0">
                <a:solidFill>
                  <a:srgbClr val="14213D"/>
                </a:solidFill>
                <a:latin typeface="Consolas"/>
              </a:rPr>
              <a:t>movies.csv</a:t>
            </a:r>
          </a:p>
        </p:txBody>
      </p:sp>
      <p:sp>
        <p:nvSpPr>
          <p:cNvPr id="33" name="TextBox 32"/>
          <p:cNvSpPr txBox="1"/>
          <p:nvPr/>
        </p:nvSpPr>
        <p:spPr>
          <a:xfrm>
            <a:off x="4084320" y="5689461"/>
            <a:ext cx="6373368" cy="276999"/>
          </a:xfrm>
          <a:prstGeom prst="rect">
            <a:avLst/>
          </a:prstGeom>
          <a:noFill/>
        </p:spPr>
        <p:txBody>
          <a:bodyPr wrap="square" lIns="0" tIns="0" rIns="0" bIns="0" anchor="ctr">
            <a:spAutoFit/>
          </a:bodyPr>
          <a:lstStyle/>
          <a:p>
            <a:pPr algn="l"/>
            <a:r>
              <a:rPr lang="en-US" i="1" dirty="0">
                <a:solidFill>
                  <a:srgbClr val="6B7280"/>
                </a:solidFill>
                <a:latin typeface="Calibri"/>
              </a:rPr>
              <a:t>Translating movie IDs to titles and genres in all output</a:t>
            </a:r>
            <a:endParaRPr b="0" i="1" dirty="0">
              <a:solidFill>
                <a:srgbClr val="6B7280"/>
              </a:solidFill>
              <a:latin typeface="Calibri"/>
            </a:endParaRPr>
          </a:p>
        </p:txBody>
      </p:sp>
      <p:sp>
        <p:nvSpPr>
          <p:cNvPr id="34" name="Rectangle 33"/>
          <p:cNvSpPr/>
          <p:nvPr/>
        </p:nvSpPr>
        <p:spPr>
          <a:xfrm>
            <a:off x="548640" y="6080760"/>
            <a:ext cx="11329416" cy="457200"/>
          </a:xfrm>
          <a:prstGeom prst="rect">
            <a:avLst/>
          </a:prstGeom>
          <a:solidFill>
            <a:srgbClr val="F5E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777240" y="6170860"/>
            <a:ext cx="2377440" cy="276999"/>
          </a:xfrm>
          <a:prstGeom prst="rect">
            <a:avLst/>
          </a:prstGeom>
          <a:noFill/>
        </p:spPr>
        <p:txBody>
          <a:bodyPr wrap="square" lIns="0" tIns="0" rIns="0" bIns="0" anchor="ctr">
            <a:spAutoFit/>
          </a:bodyPr>
          <a:lstStyle/>
          <a:p>
            <a:pPr algn="l"/>
            <a:r>
              <a:rPr b="1" i="0" dirty="0">
                <a:solidFill>
                  <a:srgbClr val="14213D"/>
                </a:solidFill>
                <a:latin typeface="Consolas"/>
              </a:rPr>
              <a:t>tags.csv</a:t>
            </a:r>
          </a:p>
        </p:txBody>
      </p:sp>
      <p:sp>
        <p:nvSpPr>
          <p:cNvPr id="37" name="TextBox 36"/>
          <p:cNvSpPr txBox="1"/>
          <p:nvPr/>
        </p:nvSpPr>
        <p:spPr>
          <a:xfrm>
            <a:off x="4111635" y="6146661"/>
            <a:ext cx="6373368" cy="276999"/>
          </a:xfrm>
          <a:prstGeom prst="rect">
            <a:avLst/>
          </a:prstGeom>
          <a:noFill/>
        </p:spPr>
        <p:txBody>
          <a:bodyPr wrap="square" lIns="0" tIns="0" rIns="0" bIns="0" anchor="ctr">
            <a:spAutoFit/>
          </a:bodyPr>
          <a:lstStyle/>
          <a:p>
            <a:pPr algn="l"/>
            <a:r>
              <a:rPr lang="en-US" i="1" dirty="0">
                <a:solidFill>
                  <a:srgbClr val="6B7280"/>
                </a:solidFill>
                <a:latin typeface="Calibri"/>
              </a:rPr>
              <a:t>Keyword matching for new-user</a:t>
            </a:r>
            <a:r>
              <a:rPr b="0" i="1" dirty="0">
                <a:solidFill>
                  <a:srgbClr val="6B7280"/>
                </a:solidFill>
                <a:latin typeface="Calibri"/>
              </a:rPr>
              <a:t> cold-start </a:t>
            </a:r>
            <a:r>
              <a:rPr lang="en-US" i="1" dirty="0">
                <a:solidFill>
                  <a:srgbClr val="6B7280"/>
                </a:solidFill>
                <a:latin typeface="Calibri"/>
              </a:rPr>
              <a:t>recommendations</a:t>
            </a:r>
            <a:endParaRPr b="0" i="1" dirty="0">
              <a:solidFill>
                <a:srgbClr val="6B7280"/>
              </a:solidFill>
              <a:latin typeface="Calibri"/>
            </a:endParaRPr>
          </a:p>
        </p:txBody>
      </p:sp>
      <p:sp>
        <p:nvSpPr>
          <p:cNvPr id="38" name="TextBox 37"/>
          <p:cNvSpPr txBox="1"/>
          <p:nvPr/>
        </p:nvSpPr>
        <p:spPr>
          <a:xfrm>
            <a:off x="11475720" y="6446520"/>
            <a:ext cx="640080" cy="138499"/>
          </a:xfrm>
          <a:prstGeom prst="rect">
            <a:avLst/>
          </a:prstGeom>
          <a:noFill/>
        </p:spPr>
        <p:txBody>
          <a:bodyPr wrap="square" lIns="0" tIns="0" rIns="0" bIns="0" anchor="t">
            <a:spAutoFit/>
          </a:bodyPr>
          <a:lstStyle/>
          <a:p>
            <a:pPr algn="r"/>
            <a:r>
              <a:rPr lang="en-US" sz="900" dirty="0">
                <a:solidFill>
                  <a:srgbClr val="6B7280"/>
                </a:solidFill>
                <a:latin typeface="Calibri"/>
              </a:rPr>
              <a:t>4</a:t>
            </a:r>
            <a:r>
              <a:rPr sz="900" b="0" i="0" dirty="0">
                <a:solidFill>
                  <a:srgbClr val="6B7280"/>
                </a:solidFill>
                <a:latin typeface="Calibri"/>
              </a:rPr>
              <a:t> / 14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164592"/>
            <a:ext cx="7315200" cy="246221"/>
          </a:xfrm>
          <a:prstGeom prst="rect">
            <a:avLst/>
          </a:prstGeom>
          <a:noFill/>
        </p:spPr>
        <p:txBody>
          <a:bodyPr wrap="square" lIns="0" tIns="0" rIns="0" bIns="0" anchor="t">
            <a:spAutoFit/>
          </a:bodyPr>
          <a:lstStyle/>
          <a:p>
            <a:pPr algn="l"/>
            <a:r>
              <a:rPr sz="1600" b="1" i="0" dirty="0">
                <a:solidFill>
                  <a:srgbClr val="FF0000"/>
                </a:solidFill>
                <a:latin typeface="Cambria"/>
              </a:rPr>
              <a:t>APPROACH</a:t>
            </a:r>
          </a:p>
        </p:txBody>
      </p:sp>
      <p:sp>
        <p:nvSpPr>
          <p:cNvPr id="3" name="TextBox 2"/>
          <p:cNvSpPr txBox="1"/>
          <p:nvPr/>
        </p:nvSpPr>
        <p:spPr>
          <a:xfrm>
            <a:off x="548640" y="365760"/>
            <a:ext cx="11064240" cy="822960"/>
          </a:xfrm>
          <a:prstGeom prst="rect">
            <a:avLst/>
          </a:prstGeom>
          <a:noFill/>
        </p:spPr>
        <p:txBody>
          <a:bodyPr wrap="square" lIns="0" tIns="0" rIns="0" bIns="0" anchor="t">
            <a:spAutoFit/>
          </a:bodyPr>
          <a:lstStyle/>
          <a:p>
            <a:pPr algn="l"/>
            <a:r>
              <a:rPr sz="3600" b="1" i="0" dirty="0">
                <a:solidFill>
                  <a:srgbClr val="14213D"/>
                </a:solidFill>
                <a:latin typeface="Cambria"/>
              </a:rPr>
              <a:t>Why a hybrid recommender</a:t>
            </a:r>
          </a:p>
        </p:txBody>
      </p:sp>
      <p:sp>
        <p:nvSpPr>
          <p:cNvPr id="4" name="TextBox 3"/>
          <p:cNvSpPr txBox="1"/>
          <p:nvPr/>
        </p:nvSpPr>
        <p:spPr>
          <a:xfrm>
            <a:off x="562708" y="1051560"/>
            <a:ext cx="11064240" cy="215444"/>
          </a:xfrm>
          <a:prstGeom prst="rect">
            <a:avLst/>
          </a:prstGeom>
          <a:noFill/>
        </p:spPr>
        <p:txBody>
          <a:bodyPr wrap="square" lIns="0" tIns="0" rIns="0" bIns="0" anchor="t">
            <a:spAutoFit/>
          </a:bodyPr>
          <a:lstStyle/>
          <a:p>
            <a:pPr algn="l"/>
            <a:r>
              <a:rPr sz="1400" b="0" i="1" dirty="0">
                <a:solidFill>
                  <a:srgbClr val="6B7280"/>
                </a:solidFill>
                <a:latin typeface="Calibri"/>
              </a:rPr>
              <a:t>Each pure </a:t>
            </a:r>
            <a:r>
              <a:rPr lang="en-US" sz="1400" b="0" i="1" dirty="0">
                <a:solidFill>
                  <a:srgbClr val="6B7280"/>
                </a:solidFill>
                <a:latin typeface="Calibri"/>
              </a:rPr>
              <a:t>model</a:t>
            </a:r>
            <a:r>
              <a:rPr sz="1400" b="0" i="1" dirty="0">
                <a:solidFill>
                  <a:srgbClr val="6B7280"/>
                </a:solidFill>
                <a:latin typeface="Calibri"/>
              </a:rPr>
              <a:t> fails somewhere — together </a:t>
            </a:r>
            <a:r>
              <a:rPr lang="en-US" sz="1400" i="1" dirty="0">
                <a:solidFill>
                  <a:srgbClr val="6B7280"/>
                </a:solidFill>
                <a:latin typeface="Calibri"/>
              </a:rPr>
              <a:t>we build a better model</a:t>
            </a:r>
            <a:endParaRPr sz="1400" b="0" i="1" dirty="0">
              <a:solidFill>
                <a:srgbClr val="6B7280"/>
              </a:solidFill>
              <a:latin typeface="Calibri"/>
            </a:endParaRPr>
          </a:p>
        </p:txBody>
      </p:sp>
      <p:sp>
        <p:nvSpPr>
          <p:cNvPr id="5" name="Rounded Rectangle 4"/>
          <p:cNvSpPr/>
          <p:nvPr/>
        </p:nvSpPr>
        <p:spPr>
          <a:xfrm>
            <a:off x="662940" y="1762330"/>
            <a:ext cx="5440680" cy="3108960"/>
          </a:xfrm>
          <a:prstGeom prst="roundRect">
            <a:avLst>
              <a:gd name="adj" fmla="val 5000"/>
            </a:avLst>
          </a:prstGeom>
          <a:solidFill>
            <a:srgbClr val="F5E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6" name="Oval 5"/>
          <p:cNvSpPr/>
          <p:nvPr/>
        </p:nvSpPr>
        <p:spPr>
          <a:xfrm>
            <a:off x="777240" y="2057400"/>
            <a:ext cx="640080" cy="640080"/>
          </a:xfrm>
          <a:prstGeom prst="ellips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2057400"/>
            <a:ext cx="640080" cy="640080"/>
          </a:xfrm>
          <a:prstGeom prst="rect">
            <a:avLst/>
          </a:prstGeom>
          <a:noFill/>
        </p:spPr>
        <p:txBody>
          <a:bodyPr wrap="square" lIns="0" tIns="0" rIns="0" bIns="0" anchor="ctr">
            <a:spAutoFit/>
          </a:bodyPr>
          <a:lstStyle/>
          <a:p>
            <a:pPr algn="ctr"/>
            <a:r>
              <a:rPr sz="1400" b="1" i="0">
                <a:solidFill>
                  <a:srgbClr val="FFFFFF"/>
                </a:solidFill>
                <a:latin typeface="Cambria"/>
              </a:rPr>
              <a:t>CF</a:t>
            </a:r>
          </a:p>
        </p:txBody>
      </p:sp>
      <p:sp>
        <p:nvSpPr>
          <p:cNvPr id="8" name="TextBox 7"/>
          <p:cNvSpPr txBox="1"/>
          <p:nvPr/>
        </p:nvSpPr>
        <p:spPr>
          <a:xfrm>
            <a:off x="1554480" y="2057400"/>
            <a:ext cx="3840480" cy="457200"/>
          </a:xfrm>
          <a:prstGeom prst="rect">
            <a:avLst/>
          </a:prstGeom>
          <a:noFill/>
        </p:spPr>
        <p:txBody>
          <a:bodyPr wrap="square" lIns="0" tIns="0" rIns="0" bIns="0" anchor="t">
            <a:spAutoFit/>
          </a:bodyPr>
          <a:lstStyle/>
          <a:p>
            <a:pPr algn="l"/>
            <a:r>
              <a:rPr sz="2000" b="1" i="0">
                <a:solidFill>
                  <a:srgbClr val="14213D"/>
                </a:solidFill>
                <a:latin typeface="Cambria"/>
              </a:rPr>
              <a:t>Collaborative filtering</a:t>
            </a:r>
          </a:p>
        </p:txBody>
      </p:sp>
      <p:sp>
        <p:nvSpPr>
          <p:cNvPr id="9" name="TextBox 8"/>
          <p:cNvSpPr txBox="1"/>
          <p:nvPr/>
        </p:nvSpPr>
        <p:spPr>
          <a:xfrm>
            <a:off x="1554480" y="2496312"/>
            <a:ext cx="3840480" cy="365760"/>
          </a:xfrm>
          <a:prstGeom prst="rect">
            <a:avLst/>
          </a:prstGeom>
          <a:noFill/>
        </p:spPr>
        <p:txBody>
          <a:bodyPr wrap="square" lIns="0" tIns="0" rIns="0" bIns="0" anchor="t">
            <a:spAutoFit/>
          </a:bodyPr>
          <a:lstStyle/>
          <a:p>
            <a:pPr algn="l"/>
            <a:r>
              <a:rPr sz="1100" b="0" i="1">
                <a:solidFill>
                  <a:srgbClr val="6B7280"/>
                </a:solidFill>
                <a:latin typeface="Calibri"/>
              </a:rPr>
              <a:t>users similar to you also liked …</a:t>
            </a:r>
          </a:p>
        </p:txBody>
      </p:sp>
      <p:sp>
        <p:nvSpPr>
          <p:cNvPr id="10" name="Oval 9"/>
          <p:cNvSpPr/>
          <p:nvPr/>
        </p:nvSpPr>
        <p:spPr>
          <a:xfrm>
            <a:off x="868680" y="3134634"/>
            <a:ext cx="256032" cy="256032"/>
          </a:xfrm>
          <a:prstGeom prst="ellipse">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68680" y="3163824"/>
            <a:ext cx="256032" cy="256032"/>
          </a:xfrm>
          <a:prstGeom prst="rect">
            <a:avLst/>
          </a:prstGeom>
          <a:noFill/>
        </p:spPr>
        <p:txBody>
          <a:bodyPr wrap="square" lIns="0" tIns="0" rIns="0" bIns="0" anchor="ctr">
            <a:spAutoFit/>
          </a:bodyPr>
          <a:lstStyle/>
          <a:p>
            <a:pPr algn="ctr"/>
            <a:r>
              <a:rPr sz="1400" b="1" i="0" dirty="0">
                <a:solidFill>
                  <a:srgbClr val="FFFFFF"/>
                </a:solidFill>
                <a:latin typeface="Calibri"/>
              </a:rPr>
              <a:t>✓</a:t>
            </a:r>
          </a:p>
        </p:txBody>
      </p:sp>
      <p:sp>
        <p:nvSpPr>
          <p:cNvPr id="12" name="TextBox 11"/>
          <p:cNvSpPr txBox="1"/>
          <p:nvPr/>
        </p:nvSpPr>
        <p:spPr>
          <a:xfrm>
            <a:off x="1280160" y="3108960"/>
            <a:ext cx="4663440" cy="246221"/>
          </a:xfrm>
          <a:prstGeom prst="rect">
            <a:avLst/>
          </a:prstGeom>
          <a:noFill/>
        </p:spPr>
        <p:txBody>
          <a:bodyPr wrap="square" lIns="0" tIns="0" rIns="0" bIns="0" anchor="t">
            <a:spAutoFit/>
          </a:bodyPr>
          <a:lstStyle/>
          <a:p>
            <a:pPr algn="l"/>
            <a:r>
              <a:rPr sz="1600" b="0" i="0" dirty="0">
                <a:solidFill>
                  <a:srgbClr val="1F2937"/>
                </a:solidFill>
                <a:latin typeface="Calibri"/>
              </a:rPr>
              <a:t>Captures latent taste patterns</a:t>
            </a:r>
          </a:p>
        </p:txBody>
      </p:sp>
      <p:sp>
        <p:nvSpPr>
          <p:cNvPr id="13" name="Oval 12"/>
          <p:cNvSpPr/>
          <p:nvPr/>
        </p:nvSpPr>
        <p:spPr>
          <a:xfrm>
            <a:off x="868680" y="3566160"/>
            <a:ext cx="256032" cy="256032"/>
          </a:xfrm>
          <a:prstGeom prst="ellipse">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68680" y="3570065"/>
            <a:ext cx="256032" cy="256032"/>
          </a:xfrm>
          <a:prstGeom prst="rect">
            <a:avLst/>
          </a:prstGeom>
          <a:noFill/>
        </p:spPr>
        <p:txBody>
          <a:bodyPr wrap="square" lIns="0" tIns="0" rIns="0" bIns="0" anchor="ctr">
            <a:spAutoFit/>
          </a:bodyPr>
          <a:lstStyle/>
          <a:p>
            <a:pPr algn="ctr"/>
            <a:r>
              <a:rPr sz="1400" b="1" i="0" dirty="0">
                <a:solidFill>
                  <a:srgbClr val="FFFFFF"/>
                </a:solidFill>
                <a:latin typeface="Calibri"/>
              </a:rPr>
              <a:t>✓</a:t>
            </a:r>
          </a:p>
        </p:txBody>
      </p:sp>
      <p:sp>
        <p:nvSpPr>
          <p:cNvPr id="15" name="TextBox 14"/>
          <p:cNvSpPr txBox="1"/>
          <p:nvPr/>
        </p:nvSpPr>
        <p:spPr>
          <a:xfrm>
            <a:off x="1280160" y="3520440"/>
            <a:ext cx="4663440" cy="246221"/>
          </a:xfrm>
          <a:prstGeom prst="rect">
            <a:avLst/>
          </a:prstGeom>
          <a:noFill/>
        </p:spPr>
        <p:txBody>
          <a:bodyPr wrap="square" lIns="0" tIns="0" rIns="0" bIns="0" anchor="t">
            <a:spAutoFit/>
          </a:bodyPr>
          <a:lstStyle/>
          <a:p>
            <a:pPr algn="l"/>
            <a:r>
              <a:rPr sz="1600" b="0" i="0" dirty="0">
                <a:solidFill>
                  <a:srgbClr val="1F2937"/>
                </a:solidFill>
                <a:latin typeface="Calibri"/>
              </a:rPr>
              <a:t>Improves with more users + ratings</a:t>
            </a:r>
          </a:p>
        </p:txBody>
      </p:sp>
      <p:sp>
        <p:nvSpPr>
          <p:cNvPr id="16" name="Oval 15"/>
          <p:cNvSpPr/>
          <p:nvPr/>
        </p:nvSpPr>
        <p:spPr>
          <a:xfrm>
            <a:off x="876066" y="3986784"/>
            <a:ext cx="256032" cy="256032"/>
          </a:xfrm>
          <a:prstGeom prst="ellipse">
            <a:avLst/>
          </a:prstGeom>
          <a:solidFill>
            <a:srgbClr val="C73E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81342" y="3989773"/>
            <a:ext cx="256032" cy="256032"/>
          </a:xfrm>
          <a:prstGeom prst="rect">
            <a:avLst/>
          </a:prstGeom>
          <a:noFill/>
        </p:spPr>
        <p:txBody>
          <a:bodyPr wrap="square" lIns="0" tIns="0" rIns="0" bIns="0" anchor="ctr">
            <a:spAutoFit/>
          </a:bodyPr>
          <a:lstStyle/>
          <a:p>
            <a:pPr algn="ctr"/>
            <a:r>
              <a:rPr sz="1400" b="1" i="0" dirty="0">
                <a:solidFill>
                  <a:srgbClr val="FFFFFF"/>
                </a:solidFill>
                <a:latin typeface="Calibri"/>
              </a:rPr>
              <a:t>✗</a:t>
            </a:r>
          </a:p>
        </p:txBody>
      </p:sp>
      <p:sp>
        <p:nvSpPr>
          <p:cNvPr id="18" name="TextBox 17"/>
          <p:cNvSpPr txBox="1"/>
          <p:nvPr/>
        </p:nvSpPr>
        <p:spPr>
          <a:xfrm>
            <a:off x="1280160" y="3931920"/>
            <a:ext cx="4663440" cy="246221"/>
          </a:xfrm>
          <a:prstGeom prst="rect">
            <a:avLst/>
          </a:prstGeom>
          <a:noFill/>
        </p:spPr>
        <p:txBody>
          <a:bodyPr wrap="square" lIns="0" tIns="0" rIns="0" bIns="0" anchor="t">
            <a:spAutoFit/>
          </a:bodyPr>
          <a:lstStyle/>
          <a:p>
            <a:pPr algn="l"/>
            <a:r>
              <a:rPr sz="1600" b="0" i="0" dirty="0">
                <a:solidFill>
                  <a:srgbClr val="1F2937"/>
                </a:solidFill>
                <a:latin typeface="Calibri"/>
              </a:rPr>
              <a:t>Useless for brand-new users (cold start</a:t>
            </a:r>
            <a:r>
              <a:rPr sz="1200" b="0" i="0" dirty="0">
                <a:solidFill>
                  <a:srgbClr val="1F2937"/>
                </a:solidFill>
                <a:latin typeface="Calibri"/>
              </a:rPr>
              <a:t>)</a:t>
            </a:r>
          </a:p>
        </p:txBody>
      </p:sp>
      <p:sp>
        <p:nvSpPr>
          <p:cNvPr id="19" name="Oval 18"/>
          <p:cNvSpPr/>
          <p:nvPr/>
        </p:nvSpPr>
        <p:spPr>
          <a:xfrm>
            <a:off x="868680" y="4363974"/>
            <a:ext cx="256032" cy="256032"/>
          </a:xfrm>
          <a:prstGeom prst="ellipse">
            <a:avLst/>
          </a:prstGeom>
          <a:solidFill>
            <a:srgbClr val="C73E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68680" y="4353951"/>
            <a:ext cx="256032" cy="256032"/>
          </a:xfrm>
          <a:prstGeom prst="rect">
            <a:avLst/>
          </a:prstGeom>
          <a:noFill/>
        </p:spPr>
        <p:txBody>
          <a:bodyPr wrap="square" lIns="0" tIns="0" rIns="0" bIns="0" anchor="ctr">
            <a:spAutoFit/>
          </a:bodyPr>
          <a:lstStyle/>
          <a:p>
            <a:pPr algn="ctr"/>
            <a:r>
              <a:rPr sz="1400" b="1" i="0" dirty="0">
                <a:solidFill>
                  <a:srgbClr val="FFFFFF"/>
                </a:solidFill>
                <a:latin typeface="Calibri"/>
              </a:rPr>
              <a:t>✗</a:t>
            </a:r>
          </a:p>
        </p:txBody>
      </p:sp>
      <p:sp>
        <p:nvSpPr>
          <p:cNvPr id="21" name="TextBox 20"/>
          <p:cNvSpPr txBox="1"/>
          <p:nvPr/>
        </p:nvSpPr>
        <p:spPr>
          <a:xfrm>
            <a:off x="1280160" y="4343400"/>
            <a:ext cx="4663440" cy="246221"/>
          </a:xfrm>
          <a:prstGeom prst="rect">
            <a:avLst/>
          </a:prstGeom>
          <a:noFill/>
        </p:spPr>
        <p:txBody>
          <a:bodyPr wrap="square" lIns="0" tIns="0" rIns="0" bIns="0" anchor="t">
            <a:spAutoFit/>
          </a:bodyPr>
          <a:lstStyle/>
          <a:p>
            <a:pPr algn="l"/>
            <a:r>
              <a:rPr sz="1600" b="0" i="0" dirty="0">
                <a:solidFill>
                  <a:srgbClr val="1F2937"/>
                </a:solidFill>
                <a:latin typeface="Calibri"/>
              </a:rPr>
              <a:t>Long-tail movies starve for signal</a:t>
            </a:r>
          </a:p>
        </p:txBody>
      </p:sp>
      <p:sp>
        <p:nvSpPr>
          <p:cNvPr id="22" name="Rounded Rectangle 21"/>
          <p:cNvSpPr/>
          <p:nvPr/>
        </p:nvSpPr>
        <p:spPr>
          <a:xfrm>
            <a:off x="6172200" y="1783080"/>
            <a:ext cx="5440680" cy="3108960"/>
          </a:xfrm>
          <a:prstGeom prst="roundRect">
            <a:avLst>
              <a:gd name="adj" fmla="val 5000"/>
            </a:avLst>
          </a:prstGeom>
          <a:solidFill>
            <a:srgbClr val="F5E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6400800" y="2057400"/>
            <a:ext cx="640080" cy="640080"/>
          </a:xfrm>
          <a:prstGeom prst="ellipse">
            <a:avLst/>
          </a:prstGeom>
          <a:solidFill>
            <a:srgbClr val="C73E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400800" y="2057400"/>
            <a:ext cx="640080" cy="640080"/>
          </a:xfrm>
          <a:prstGeom prst="rect">
            <a:avLst/>
          </a:prstGeom>
          <a:noFill/>
        </p:spPr>
        <p:txBody>
          <a:bodyPr wrap="square" lIns="0" tIns="0" rIns="0" bIns="0" anchor="ctr">
            <a:spAutoFit/>
          </a:bodyPr>
          <a:lstStyle/>
          <a:p>
            <a:pPr algn="ctr"/>
            <a:r>
              <a:rPr sz="1400" b="1" i="0" dirty="0">
                <a:solidFill>
                  <a:srgbClr val="FFFFFF"/>
                </a:solidFill>
                <a:latin typeface="Cambria"/>
              </a:rPr>
              <a:t>CB</a:t>
            </a:r>
          </a:p>
        </p:txBody>
      </p:sp>
      <p:sp>
        <p:nvSpPr>
          <p:cNvPr id="25" name="TextBox 24"/>
          <p:cNvSpPr txBox="1"/>
          <p:nvPr/>
        </p:nvSpPr>
        <p:spPr>
          <a:xfrm>
            <a:off x="7178040" y="2057400"/>
            <a:ext cx="3840480" cy="457200"/>
          </a:xfrm>
          <a:prstGeom prst="rect">
            <a:avLst/>
          </a:prstGeom>
          <a:noFill/>
        </p:spPr>
        <p:txBody>
          <a:bodyPr wrap="square" lIns="0" tIns="0" rIns="0" bIns="0" anchor="t">
            <a:spAutoFit/>
          </a:bodyPr>
          <a:lstStyle/>
          <a:p>
            <a:pPr algn="l"/>
            <a:r>
              <a:rPr sz="2000" b="1" i="0">
                <a:solidFill>
                  <a:srgbClr val="14213D"/>
                </a:solidFill>
                <a:latin typeface="Cambria"/>
              </a:rPr>
              <a:t>Content-based filtering</a:t>
            </a:r>
          </a:p>
        </p:txBody>
      </p:sp>
      <p:sp>
        <p:nvSpPr>
          <p:cNvPr id="26" name="TextBox 25"/>
          <p:cNvSpPr txBox="1"/>
          <p:nvPr/>
        </p:nvSpPr>
        <p:spPr>
          <a:xfrm>
            <a:off x="7178040" y="2496312"/>
            <a:ext cx="3840480" cy="365760"/>
          </a:xfrm>
          <a:prstGeom prst="rect">
            <a:avLst/>
          </a:prstGeom>
          <a:noFill/>
        </p:spPr>
        <p:txBody>
          <a:bodyPr wrap="square" lIns="0" tIns="0" rIns="0" bIns="0" anchor="t">
            <a:spAutoFit/>
          </a:bodyPr>
          <a:lstStyle/>
          <a:p>
            <a:pPr algn="l"/>
            <a:r>
              <a:rPr sz="1100" b="0" i="1">
                <a:solidFill>
                  <a:srgbClr val="6B7280"/>
                </a:solidFill>
                <a:latin typeface="Calibri"/>
              </a:rPr>
              <a:t>movies similar to ones you liked</a:t>
            </a:r>
          </a:p>
        </p:txBody>
      </p:sp>
      <p:sp>
        <p:nvSpPr>
          <p:cNvPr id="27" name="Oval 26"/>
          <p:cNvSpPr/>
          <p:nvPr/>
        </p:nvSpPr>
        <p:spPr>
          <a:xfrm>
            <a:off x="6537960" y="3042946"/>
            <a:ext cx="256032" cy="256032"/>
          </a:xfrm>
          <a:prstGeom prst="ellipse">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515100" y="3063240"/>
            <a:ext cx="256032" cy="256032"/>
          </a:xfrm>
          <a:prstGeom prst="rect">
            <a:avLst/>
          </a:prstGeom>
          <a:noFill/>
        </p:spPr>
        <p:txBody>
          <a:bodyPr wrap="square" lIns="0" tIns="0" rIns="0" bIns="0" anchor="ctr">
            <a:spAutoFit/>
          </a:bodyPr>
          <a:lstStyle/>
          <a:p>
            <a:pPr algn="ctr"/>
            <a:r>
              <a:rPr sz="1400" b="1" i="0" dirty="0">
                <a:solidFill>
                  <a:srgbClr val="FFFFFF"/>
                </a:solidFill>
                <a:latin typeface="Calibri"/>
              </a:rPr>
              <a:t>✓</a:t>
            </a:r>
          </a:p>
        </p:txBody>
      </p:sp>
      <p:sp>
        <p:nvSpPr>
          <p:cNvPr id="29" name="TextBox 28"/>
          <p:cNvSpPr txBox="1"/>
          <p:nvPr/>
        </p:nvSpPr>
        <p:spPr>
          <a:xfrm>
            <a:off x="6903720" y="3108960"/>
            <a:ext cx="4663440" cy="246221"/>
          </a:xfrm>
          <a:prstGeom prst="rect">
            <a:avLst/>
          </a:prstGeom>
          <a:noFill/>
        </p:spPr>
        <p:txBody>
          <a:bodyPr wrap="square" lIns="0" tIns="0" rIns="0" bIns="0" anchor="t">
            <a:spAutoFit/>
          </a:bodyPr>
          <a:lstStyle/>
          <a:p>
            <a:pPr algn="l"/>
            <a:r>
              <a:rPr sz="1600" b="0" i="0" dirty="0">
                <a:solidFill>
                  <a:srgbClr val="1F2937"/>
                </a:solidFill>
                <a:latin typeface="Calibri"/>
              </a:rPr>
              <a:t>Works on day one — no rating history needed</a:t>
            </a:r>
          </a:p>
        </p:txBody>
      </p:sp>
      <p:sp>
        <p:nvSpPr>
          <p:cNvPr id="30" name="Oval 29"/>
          <p:cNvSpPr/>
          <p:nvPr/>
        </p:nvSpPr>
        <p:spPr>
          <a:xfrm>
            <a:off x="6537960" y="3474720"/>
            <a:ext cx="256032" cy="256032"/>
          </a:xfrm>
          <a:prstGeom prst="ellipse">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534443" y="3492201"/>
            <a:ext cx="256032" cy="256032"/>
          </a:xfrm>
          <a:prstGeom prst="rect">
            <a:avLst/>
          </a:prstGeom>
          <a:noFill/>
        </p:spPr>
        <p:txBody>
          <a:bodyPr wrap="square" lIns="0" tIns="0" rIns="0" bIns="0" anchor="ctr">
            <a:spAutoFit/>
          </a:bodyPr>
          <a:lstStyle/>
          <a:p>
            <a:pPr algn="ctr"/>
            <a:r>
              <a:rPr sz="1400" b="1" i="0" dirty="0">
                <a:solidFill>
                  <a:srgbClr val="FFFFFF"/>
                </a:solidFill>
                <a:latin typeface="Calibri"/>
              </a:rPr>
              <a:t>✓</a:t>
            </a:r>
          </a:p>
        </p:txBody>
      </p:sp>
      <p:sp>
        <p:nvSpPr>
          <p:cNvPr id="32" name="TextBox 31"/>
          <p:cNvSpPr txBox="1"/>
          <p:nvPr/>
        </p:nvSpPr>
        <p:spPr>
          <a:xfrm>
            <a:off x="6903720" y="3520440"/>
            <a:ext cx="4663440" cy="246221"/>
          </a:xfrm>
          <a:prstGeom prst="rect">
            <a:avLst/>
          </a:prstGeom>
          <a:noFill/>
        </p:spPr>
        <p:txBody>
          <a:bodyPr wrap="square" lIns="0" tIns="0" rIns="0" bIns="0" anchor="t">
            <a:spAutoFit/>
          </a:bodyPr>
          <a:lstStyle/>
          <a:p>
            <a:pPr algn="l"/>
            <a:r>
              <a:rPr sz="1600" b="0" i="0" dirty="0">
                <a:solidFill>
                  <a:srgbClr val="1F2937"/>
                </a:solidFill>
                <a:latin typeface="Calibri"/>
              </a:rPr>
              <a:t>Explainable: matches by genre / tag</a:t>
            </a:r>
          </a:p>
        </p:txBody>
      </p:sp>
      <p:sp>
        <p:nvSpPr>
          <p:cNvPr id="33" name="Oval 32"/>
          <p:cNvSpPr/>
          <p:nvPr/>
        </p:nvSpPr>
        <p:spPr>
          <a:xfrm>
            <a:off x="6547104" y="3945285"/>
            <a:ext cx="256032" cy="256032"/>
          </a:xfrm>
          <a:prstGeom prst="ellipse">
            <a:avLst/>
          </a:prstGeom>
          <a:solidFill>
            <a:srgbClr val="C73E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537960" y="3957945"/>
            <a:ext cx="256032" cy="256032"/>
          </a:xfrm>
          <a:prstGeom prst="rect">
            <a:avLst/>
          </a:prstGeom>
          <a:noFill/>
        </p:spPr>
        <p:txBody>
          <a:bodyPr wrap="square" lIns="0" tIns="0" rIns="0" bIns="0" anchor="ctr">
            <a:spAutoFit/>
          </a:bodyPr>
          <a:lstStyle/>
          <a:p>
            <a:pPr algn="ctr"/>
            <a:r>
              <a:rPr sz="1400" b="1" i="0">
                <a:solidFill>
                  <a:srgbClr val="FFFFFF"/>
                </a:solidFill>
                <a:latin typeface="Calibri"/>
              </a:rPr>
              <a:t>✗</a:t>
            </a:r>
          </a:p>
        </p:txBody>
      </p:sp>
      <p:sp>
        <p:nvSpPr>
          <p:cNvPr id="35" name="TextBox 34"/>
          <p:cNvSpPr txBox="1"/>
          <p:nvPr/>
        </p:nvSpPr>
        <p:spPr>
          <a:xfrm>
            <a:off x="6903720" y="3931920"/>
            <a:ext cx="4663440" cy="246221"/>
          </a:xfrm>
          <a:prstGeom prst="rect">
            <a:avLst/>
          </a:prstGeom>
          <a:noFill/>
        </p:spPr>
        <p:txBody>
          <a:bodyPr wrap="square" lIns="0" tIns="0" rIns="0" bIns="0" anchor="t">
            <a:spAutoFit/>
          </a:bodyPr>
          <a:lstStyle/>
          <a:p>
            <a:pPr algn="l"/>
            <a:r>
              <a:rPr sz="1600" b="0" i="0" dirty="0">
                <a:solidFill>
                  <a:srgbClr val="1F2937"/>
                </a:solidFill>
                <a:latin typeface="Calibri"/>
              </a:rPr>
              <a:t>Misses cross-genre surprises</a:t>
            </a:r>
          </a:p>
        </p:txBody>
      </p:sp>
      <p:sp>
        <p:nvSpPr>
          <p:cNvPr id="36" name="Oval 35"/>
          <p:cNvSpPr/>
          <p:nvPr/>
        </p:nvSpPr>
        <p:spPr>
          <a:xfrm>
            <a:off x="6547104" y="4384197"/>
            <a:ext cx="256032" cy="256032"/>
          </a:xfrm>
          <a:prstGeom prst="ellipse">
            <a:avLst/>
          </a:prstGeom>
          <a:solidFill>
            <a:srgbClr val="C73E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537960" y="4396857"/>
            <a:ext cx="256032" cy="256032"/>
          </a:xfrm>
          <a:prstGeom prst="rect">
            <a:avLst/>
          </a:prstGeom>
          <a:noFill/>
        </p:spPr>
        <p:txBody>
          <a:bodyPr wrap="square" lIns="0" tIns="0" rIns="0" bIns="0" anchor="ctr">
            <a:spAutoFit/>
          </a:bodyPr>
          <a:lstStyle/>
          <a:p>
            <a:pPr algn="ctr"/>
            <a:r>
              <a:rPr sz="1400" b="1" i="0" dirty="0">
                <a:solidFill>
                  <a:srgbClr val="FFFFFF"/>
                </a:solidFill>
                <a:latin typeface="Calibri"/>
              </a:rPr>
              <a:t>✗</a:t>
            </a:r>
          </a:p>
        </p:txBody>
      </p:sp>
      <p:sp>
        <p:nvSpPr>
          <p:cNvPr id="38" name="TextBox 37"/>
          <p:cNvSpPr txBox="1"/>
          <p:nvPr/>
        </p:nvSpPr>
        <p:spPr>
          <a:xfrm>
            <a:off x="6903720" y="4343400"/>
            <a:ext cx="4663440" cy="246221"/>
          </a:xfrm>
          <a:prstGeom prst="rect">
            <a:avLst/>
          </a:prstGeom>
          <a:noFill/>
        </p:spPr>
        <p:txBody>
          <a:bodyPr wrap="square" lIns="0" tIns="0" rIns="0" bIns="0" anchor="t">
            <a:spAutoFit/>
          </a:bodyPr>
          <a:lstStyle/>
          <a:p>
            <a:pPr algn="l"/>
            <a:r>
              <a:rPr sz="1600" b="0" i="0" dirty="0">
                <a:solidFill>
                  <a:srgbClr val="1F2937"/>
                </a:solidFill>
                <a:latin typeface="Calibri"/>
              </a:rPr>
              <a:t>Tag coverage is sparse (~20% of movies)</a:t>
            </a:r>
          </a:p>
        </p:txBody>
      </p:sp>
      <p:sp>
        <p:nvSpPr>
          <p:cNvPr id="39" name="Rounded Rectangle 38"/>
          <p:cNvSpPr/>
          <p:nvPr/>
        </p:nvSpPr>
        <p:spPr>
          <a:xfrm>
            <a:off x="548640" y="5074920"/>
            <a:ext cx="11064240" cy="1463040"/>
          </a:xfrm>
          <a:prstGeom prst="roundRect">
            <a:avLst>
              <a:gd name="adj" fmla="val 6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868680" y="5257800"/>
            <a:ext cx="10515600" cy="276999"/>
          </a:xfrm>
          <a:prstGeom prst="rect">
            <a:avLst/>
          </a:prstGeom>
          <a:noFill/>
        </p:spPr>
        <p:txBody>
          <a:bodyPr wrap="square" lIns="0" tIns="0" rIns="0" bIns="0" anchor="t">
            <a:spAutoFit/>
          </a:bodyPr>
          <a:lstStyle/>
          <a:p>
            <a:pPr algn="l"/>
            <a:r>
              <a:rPr b="1" i="0" dirty="0">
                <a:solidFill>
                  <a:srgbClr val="F2A541"/>
                </a:solidFill>
                <a:latin typeface="Calibri"/>
              </a:rPr>
              <a:t>OUR ANSWER  ·  HYBRID</a:t>
            </a:r>
          </a:p>
        </p:txBody>
      </p:sp>
      <p:sp>
        <p:nvSpPr>
          <p:cNvPr id="41" name="TextBox 40"/>
          <p:cNvSpPr txBox="1"/>
          <p:nvPr/>
        </p:nvSpPr>
        <p:spPr>
          <a:xfrm>
            <a:off x="868680" y="5577840"/>
            <a:ext cx="10515600" cy="548640"/>
          </a:xfrm>
          <a:prstGeom prst="rect">
            <a:avLst/>
          </a:prstGeom>
          <a:noFill/>
        </p:spPr>
        <p:txBody>
          <a:bodyPr wrap="square" lIns="0" tIns="0" rIns="0" bIns="0" anchor="t">
            <a:spAutoFit/>
          </a:bodyPr>
          <a:lstStyle/>
          <a:p>
            <a:pPr algn="l"/>
            <a:r>
              <a:rPr sz="2200" b="1" i="0">
                <a:solidFill>
                  <a:srgbClr val="FFFFFF"/>
                </a:solidFill>
                <a:latin typeface="Cambria"/>
              </a:rPr>
              <a:t>SVD for users with history  +  tag/genre matching for cold starts</a:t>
            </a:r>
          </a:p>
        </p:txBody>
      </p:sp>
      <p:sp>
        <p:nvSpPr>
          <p:cNvPr id="43" name="TextBox 42"/>
          <p:cNvSpPr txBox="1"/>
          <p:nvPr/>
        </p:nvSpPr>
        <p:spPr>
          <a:xfrm>
            <a:off x="11475720" y="6446520"/>
            <a:ext cx="640080" cy="138499"/>
          </a:xfrm>
          <a:prstGeom prst="rect">
            <a:avLst/>
          </a:prstGeom>
          <a:noFill/>
        </p:spPr>
        <p:txBody>
          <a:bodyPr wrap="square" lIns="0" tIns="0" rIns="0" bIns="0" anchor="t">
            <a:spAutoFit/>
          </a:bodyPr>
          <a:lstStyle/>
          <a:p>
            <a:pPr algn="r"/>
            <a:r>
              <a:rPr sz="900" b="0" i="0" dirty="0">
                <a:solidFill>
                  <a:srgbClr val="6B7280"/>
                </a:solidFill>
                <a:latin typeface="Calibri"/>
              </a:rPr>
              <a:t>4</a:t>
            </a:r>
            <a:r>
              <a:rPr lang="en-US" sz="900" b="0" i="0" dirty="0">
                <a:solidFill>
                  <a:srgbClr val="6B7280"/>
                </a:solidFill>
                <a:latin typeface="Calibri"/>
              </a:rPr>
              <a:t>5</a:t>
            </a:r>
            <a:r>
              <a:rPr sz="900" b="0" i="0" dirty="0">
                <a:solidFill>
                  <a:srgbClr val="6B7280"/>
                </a:solidFill>
                <a:latin typeface="Calibri"/>
              </a:rPr>
              <a:t>/ 14</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164592"/>
            <a:ext cx="7315200" cy="246221"/>
          </a:xfrm>
          <a:prstGeom prst="rect">
            <a:avLst/>
          </a:prstGeom>
          <a:noFill/>
        </p:spPr>
        <p:txBody>
          <a:bodyPr wrap="square" lIns="0" tIns="0" rIns="0" bIns="0" anchor="t">
            <a:spAutoFit/>
          </a:bodyPr>
          <a:lstStyle/>
          <a:p>
            <a:pPr algn="l"/>
            <a:r>
              <a:rPr sz="1600" b="1" i="0" dirty="0">
                <a:solidFill>
                  <a:srgbClr val="FF0000"/>
                </a:solidFill>
                <a:latin typeface="Cambria"/>
              </a:rPr>
              <a:t>EDA  </a:t>
            </a:r>
          </a:p>
        </p:txBody>
      </p:sp>
      <p:sp>
        <p:nvSpPr>
          <p:cNvPr id="3" name="TextBox 2"/>
          <p:cNvSpPr txBox="1"/>
          <p:nvPr/>
        </p:nvSpPr>
        <p:spPr>
          <a:xfrm>
            <a:off x="548640" y="365760"/>
            <a:ext cx="11064240" cy="822960"/>
          </a:xfrm>
          <a:prstGeom prst="rect">
            <a:avLst/>
          </a:prstGeom>
          <a:noFill/>
        </p:spPr>
        <p:txBody>
          <a:bodyPr wrap="square" lIns="0" tIns="0" rIns="0" bIns="0" anchor="t">
            <a:spAutoFit/>
          </a:bodyPr>
          <a:lstStyle/>
          <a:p>
            <a:pPr algn="l"/>
            <a:r>
              <a:rPr sz="3600" b="1" i="0">
                <a:solidFill>
                  <a:srgbClr val="14213D"/>
                </a:solidFill>
                <a:latin typeface="Cambria"/>
              </a:rPr>
              <a:t>Ratings skew positive — a lot</a:t>
            </a:r>
          </a:p>
        </p:txBody>
      </p:sp>
      <p:sp>
        <p:nvSpPr>
          <p:cNvPr id="4" name="TextBox 3"/>
          <p:cNvSpPr txBox="1"/>
          <p:nvPr/>
        </p:nvSpPr>
        <p:spPr>
          <a:xfrm>
            <a:off x="548640" y="1051560"/>
            <a:ext cx="11064240" cy="411480"/>
          </a:xfrm>
          <a:prstGeom prst="rect">
            <a:avLst/>
          </a:prstGeom>
          <a:noFill/>
        </p:spPr>
        <p:txBody>
          <a:bodyPr wrap="square" lIns="0" tIns="0" rIns="0" bIns="0" anchor="t">
            <a:spAutoFit/>
          </a:bodyPr>
          <a:lstStyle/>
          <a:p>
            <a:pPr algn="l"/>
            <a:r>
              <a:rPr sz="1400" b="0" i="1">
                <a:solidFill>
                  <a:srgbClr val="6B7280"/>
                </a:solidFill>
                <a:latin typeface="Calibri"/>
              </a:rPr>
              <a:t>Most stars cluster between 3.0 and 5.0</a:t>
            </a:r>
          </a:p>
        </p:txBody>
      </p:sp>
      <p:pic>
        <p:nvPicPr>
          <p:cNvPr id="5" name="Picture 4" descr="cell22_out1.png"/>
          <p:cNvPicPr>
            <a:picLocks noChangeAspect="1"/>
          </p:cNvPicPr>
          <p:nvPr/>
        </p:nvPicPr>
        <p:blipFill>
          <a:blip r:embed="rId2"/>
          <a:stretch>
            <a:fillRect/>
          </a:stretch>
        </p:blipFill>
        <p:spPr>
          <a:xfrm>
            <a:off x="548640" y="1920240"/>
            <a:ext cx="6583680" cy="3716594"/>
          </a:xfrm>
          <a:prstGeom prst="rect">
            <a:avLst/>
          </a:prstGeom>
        </p:spPr>
      </p:pic>
      <p:sp>
        <p:nvSpPr>
          <p:cNvPr id="6" name="TextBox 5"/>
          <p:cNvSpPr txBox="1"/>
          <p:nvPr/>
        </p:nvSpPr>
        <p:spPr>
          <a:xfrm>
            <a:off x="7498079" y="1783080"/>
            <a:ext cx="4206240" cy="457200"/>
          </a:xfrm>
          <a:prstGeom prst="rect">
            <a:avLst/>
          </a:prstGeom>
          <a:noFill/>
        </p:spPr>
        <p:txBody>
          <a:bodyPr wrap="square" lIns="0" tIns="0" rIns="0" bIns="0" anchor="t">
            <a:spAutoFit/>
          </a:bodyPr>
          <a:lstStyle/>
          <a:p>
            <a:pPr algn="l"/>
            <a:r>
              <a:rPr sz="1800" b="1" i="0">
                <a:solidFill>
                  <a:srgbClr val="14213D"/>
                </a:solidFill>
                <a:latin typeface="Cambria"/>
              </a:rPr>
              <a:t>Why this matters</a:t>
            </a:r>
          </a:p>
        </p:txBody>
      </p:sp>
      <p:sp>
        <p:nvSpPr>
          <p:cNvPr id="7" name="TextBox 6"/>
          <p:cNvSpPr txBox="1"/>
          <p:nvPr/>
        </p:nvSpPr>
        <p:spPr>
          <a:xfrm>
            <a:off x="7498079" y="2286000"/>
            <a:ext cx="4206240" cy="861774"/>
          </a:xfrm>
          <a:prstGeom prst="rect">
            <a:avLst/>
          </a:prstGeom>
          <a:noFill/>
        </p:spPr>
        <p:txBody>
          <a:bodyPr wrap="square" lIns="0" tIns="0" rIns="0" bIns="0" anchor="t">
            <a:spAutoFit/>
          </a:bodyPr>
          <a:lstStyle/>
          <a:p>
            <a:pPr algn="l"/>
            <a:r>
              <a:rPr sz="5600" b="1" i="0" dirty="0">
                <a:solidFill>
                  <a:srgbClr val="FF0000"/>
                </a:solidFill>
                <a:latin typeface="Cambria"/>
              </a:rPr>
              <a:t>3.5</a:t>
            </a:r>
          </a:p>
        </p:txBody>
      </p:sp>
      <p:sp>
        <p:nvSpPr>
          <p:cNvPr id="8" name="TextBox 7"/>
          <p:cNvSpPr txBox="1"/>
          <p:nvPr/>
        </p:nvSpPr>
        <p:spPr>
          <a:xfrm>
            <a:off x="9052559" y="2697480"/>
            <a:ext cx="4206240" cy="457200"/>
          </a:xfrm>
          <a:prstGeom prst="rect">
            <a:avLst/>
          </a:prstGeom>
          <a:noFill/>
        </p:spPr>
        <p:txBody>
          <a:bodyPr wrap="square" lIns="0" tIns="0" rIns="0" bIns="0" anchor="t">
            <a:spAutoFit/>
          </a:bodyPr>
          <a:lstStyle/>
          <a:p>
            <a:pPr algn="l"/>
            <a:r>
              <a:rPr sz="1200" b="0" i="1">
                <a:solidFill>
                  <a:srgbClr val="6B7280"/>
                </a:solidFill>
                <a:latin typeface="Calibri"/>
              </a:rPr>
              <a:t>mean rating</a:t>
            </a:r>
          </a:p>
        </p:txBody>
      </p:sp>
      <p:sp>
        <p:nvSpPr>
          <p:cNvPr id="9" name="Oval 8"/>
          <p:cNvSpPr/>
          <p:nvPr/>
        </p:nvSpPr>
        <p:spPr>
          <a:xfrm>
            <a:off x="7514256" y="3667728"/>
            <a:ext cx="201168" cy="201168"/>
          </a:xfrm>
          <a:prstGeom prst="ellipse">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869701" y="3629812"/>
            <a:ext cx="3749040" cy="276999"/>
          </a:xfrm>
          <a:prstGeom prst="rect">
            <a:avLst/>
          </a:prstGeom>
          <a:noFill/>
        </p:spPr>
        <p:txBody>
          <a:bodyPr wrap="square" lIns="0" tIns="0" rIns="0" bIns="0" anchor="t">
            <a:spAutoFit/>
          </a:bodyPr>
          <a:lstStyle/>
          <a:p>
            <a:pPr algn="l"/>
            <a:r>
              <a:rPr b="1" i="0" dirty="0">
                <a:solidFill>
                  <a:srgbClr val="14213D"/>
                </a:solidFill>
                <a:latin typeface="Calibri"/>
              </a:rPr>
              <a:t>Selection bias</a:t>
            </a:r>
          </a:p>
        </p:txBody>
      </p:sp>
      <p:sp>
        <p:nvSpPr>
          <p:cNvPr id="11" name="TextBox 10"/>
          <p:cNvSpPr txBox="1"/>
          <p:nvPr/>
        </p:nvSpPr>
        <p:spPr>
          <a:xfrm>
            <a:off x="7863839" y="3957769"/>
            <a:ext cx="3749040" cy="492443"/>
          </a:xfrm>
          <a:prstGeom prst="rect">
            <a:avLst/>
          </a:prstGeom>
          <a:noFill/>
        </p:spPr>
        <p:txBody>
          <a:bodyPr wrap="square" lIns="0" tIns="0" rIns="0" bIns="0" anchor="t">
            <a:spAutoFit/>
          </a:bodyPr>
          <a:lstStyle/>
          <a:p>
            <a:pPr algn="l"/>
            <a:r>
              <a:rPr sz="1600" b="0" i="0" dirty="0">
                <a:solidFill>
                  <a:srgbClr val="6B7280"/>
                </a:solidFill>
                <a:latin typeface="Calibri"/>
              </a:rPr>
              <a:t>Users only rate movies they already chose — averages skew up</a:t>
            </a:r>
            <a:r>
              <a:rPr sz="1100" b="0" i="0" dirty="0">
                <a:solidFill>
                  <a:srgbClr val="6B7280"/>
                </a:solidFill>
                <a:latin typeface="Calibri"/>
              </a:rPr>
              <a:t>.</a:t>
            </a:r>
          </a:p>
        </p:txBody>
      </p:sp>
      <p:sp>
        <p:nvSpPr>
          <p:cNvPr id="12" name="Oval 11"/>
          <p:cNvSpPr/>
          <p:nvPr/>
        </p:nvSpPr>
        <p:spPr>
          <a:xfrm>
            <a:off x="7498079" y="4650216"/>
            <a:ext cx="201168" cy="201168"/>
          </a:xfrm>
          <a:prstGeom prst="ellipse">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863839" y="4612300"/>
            <a:ext cx="3749040" cy="276999"/>
          </a:xfrm>
          <a:prstGeom prst="rect">
            <a:avLst/>
          </a:prstGeom>
          <a:noFill/>
        </p:spPr>
        <p:txBody>
          <a:bodyPr wrap="square" lIns="0" tIns="0" rIns="0" bIns="0" anchor="t">
            <a:spAutoFit/>
          </a:bodyPr>
          <a:lstStyle/>
          <a:p>
            <a:pPr algn="l"/>
            <a:r>
              <a:rPr b="1" i="0" dirty="0">
                <a:solidFill>
                  <a:srgbClr val="14213D"/>
                </a:solidFill>
                <a:latin typeface="Calibri"/>
              </a:rPr>
              <a:t>Mean-center per user</a:t>
            </a:r>
          </a:p>
        </p:txBody>
      </p:sp>
      <p:sp>
        <p:nvSpPr>
          <p:cNvPr id="14" name="TextBox 13"/>
          <p:cNvSpPr txBox="1"/>
          <p:nvPr/>
        </p:nvSpPr>
        <p:spPr>
          <a:xfrm>
            <a:off x="7863839" y="4925025"/>
            <a:ext cx="3749040" cy="492443"/>
          </a:xfrm>
          <a:prstGeom prst="rect">
            <a:avLst/>
          </a:prstGeom>
          <a:noFill/>
        </p:spPr>
        <p:txBody>
          <a:bodyPr wrap="square" lIns="0" tIns="0" rIns="0" bIns="0" anchor="t">
            <a:spAutoFit/>
          </a:bodyPr>
          <a:lstStyle/>
          <a:p>
            <a:pPr algn="l"/>
            <a:r>
              <a:rPr sz="1600" b="0" i="0" dirty="0">
                <a:solidFill>
                  <a:srgbClr val="6B7280"/>
                </a:solidFill>
                <a:latin typeface="Calibri"/>
              </a:rPr>
              <a:t>Some raters are generous, others are stingy. Center before SVD</a:t>
            </a:r>
            <a:r>
              <a:rPr sz="1100" b="0" i="0" dirty="0">
                <a:solidFill>
                  <a:srgbClr val="6B7280"/>
                </a:solidFill>
                <a:latin typeface="Calibri"/>
              </a:rPr>
              <a:t>.</a:t>
            </a:r>
          </a:p>
        </p:txBody>
      </p:sp>
      <p:sp>
        <p:nvSpPr>
          <p:cNvPr id="15" name="Oval 14"/>
          <p:cNvSpPr/>
          <p:nvPr/>
        </p:nvSpPr>
        <p:spPr>
          <a:xfrm>
            <a:off x="7498079" y="5715000"/>
            <a:ext cx="201168" cy="201168"/>
          </a:xfrm>
          <a:prstGeom prst="ellipse">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863839" y="5677084"/>
            <a:ext cx="3749040" cy="276999"/>
          </a:xfrm>
          <a:prstGeom prst="rect">
            <a:avLst/>
          </a:prstGeom>
          <a:noFill/>
        </p:spPr>
        <p:txBody>
          <a:bodyPr wrap="square" lIns="0" tIns="0" rIns="0" bIns="0" anchor="t">
            <a:spAutoFit/>
          </a:bodyPr>
          <a:lstStyle/>
          <a:p>
            <a:pPr algn="l"/>
            <a:r>
              <a:rPr b="1" i="0" dirty="0">
                <a:solidFill>
                  <a:srgbClr val="14213D"/>
                </a:solidFill>
                <a:latin typeface="Calibri"/>
              </a:rPr>
              <a:t>Sub-2.0 ratings are rare</a:t>
            </a:r>
          </a:p>
        </p:txBody>
      </p:sp>
      <p:sp>
        <p:nvSpPr>
          <p:cNvPr id="17" name="TextBox 16"/>
          <p:cNvSpPr txBox="1"/>
          <p:nvPr/>
        </p:nvSpPr>
        <p:spPr>
          <a:xfrm>
            <a:off x="7863839" y="5999797"/>
            <a:ext cx="3749040" cy="492443"/>
          </a:xfrm>
          <a:prstGeom prst="rect">
            <a:avLst/>
          </a:prstGeom>
          <a:noFill/>
        </p:spPr>
        <p:txBody>
          <a:bodyPr wrap="square" lIns="0" tIns="0" rIns="0" bIns="0" anchor="t">
            <a:spAutoFit/>
          </a:bodyPr>
          <a:lstStyle/>
          <a:p>
            <a:pPr algn="l"/>
            <a:r>
              <a:rPr sz="1600" b="0" i="0" dirty="0">
                <a:solidFill>
                  <a:srgbClr val="6B7280"/>
                </a:solidFill>
                <a:latin typeface="Calibri"/>
              </a:rPr>
              <a:t>Very few negative signals — a known recommender risk</a:t>
            </a:r>
            <a:r>
              <a:rPr sz="1100" b="0" i="0" dirty="0">
                <a:solidFill>
                  <a:srgbClr val="6B7280"/>
                </a:solidFill>
                <a:latin typeface="Calibri"/>
              </a:rPr>
              <a:t>.</a:t>
            </a:r>
          </a:p>
        </p:txBody>
      </p:sp>
      <p:sp>
        <p:nvSpPr>
          <p:cNvPr id="18" name="TextBox 17"/>
          <p:cNvSpPr txBox="1"/>
          <p:nvPr/>
        </p:nvSpPr>
        <p:spPr>
          <a:xfrm>
            <a:off x="11475720" y="6446520"/>
            <a:ext cx="640080" cy="274320"/>
          </a:xfrm>
          <a:prstGeom prst="rect">
            <a:avLst/>
          </a:prstGeom>
          <a:noFill/>
        </p:spPr>
        <p:txBody>
          <a:bodyPr wrap="square" lIns="0" tIns="0" rIns="0" bIns="0" anchor="t">
            <a:spAutoFit/>
          </a:bodyPr>
          <a:lstStyle/>
          <a:p>
            <a:pPr algn="r"/>
            <a:r>
              <a:rPr sz="900" b="0" i="0">
                <a:solidFill>
                  <a:srgbClr val="6B7280"/>
                </a:solidFill>
                <a:latin typeface="Calibri"/>
              </a:rPr>
              <a:t>6 / 14</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164592"/>
            <a:ext cx="7315200" cy="246221"/>
          </a:xfrm>
          <a:prstGeom prst="rect">
            <a:avLst/>
          </a:prstGeom>
          <a:noFill/>
        </p:spPr>
        <p:txBody>
          <a:bodyPr wrap="square" lIns="0" tIns="0" rIns="0" bIns="0" anchor="t">
            <a:spAutoFit/>
          </a:bodyPr>
          <a:lstStyle/>
          <a:p>
            <a:pPr algn="l"/>
            <a:r>
              <a:rPr sz="1600" b="1" i="0" dirty="0">
                <a:solidFill>
                  <a:srgbClr val="C73E1D"/>
                </a:solidFill>
                <a:latin typeface="Cambria"/>
              </a:rPr>
              <a:t>EDA </a:t>
            </a:r>
            <a:r>
              <a:rPr sz="1000" b="1" i="0" dirty="0">
                <a:solidFill>
                  <a:srgbClr val="C73E1D"/>
                </a:solidFill>
                <a:latin typeface="Cambria"/>
              </a:rPr>
              <a:t> </a:t>
            </a:r>
          </a:p>
        </p:txBody>
      </p:sp>
      <p:sp>
        <p:nvSpPr>
          <p:cNvPr id="3" name="TextBox 2"/>
          <p:cNvSpPr txBox="1"/>
          <p:nvPr/>
        </p:nvSpPr>
        <p:spPr>
          <a:xfrm>
            <a:off x="548640" y="365760"/>
            <a:ext cx="11064240" cy="822960"/>
          </a:xfrm>
          <a:prstGeom prst="rect">
            <a:avLst/>
          </a:prstGeom>
          <a:noFill/>
        </p:spPr>
        <p:txBody>
          <a:bodyPr wrap="square" lIns="0" tIns="0" rIns="0" bIns="0" anchor="t">
            <a:spAutoFit/>
          </a:bodyPr>
          <a:lstStyle/>
          <a:p>
            <a:pPr algn="l"/>
            <a:r>
              <a:rPr sz="3600" b="1" i="0">
                <a:solidFill>
                  <a:srgbClr val="14213D"/>
                </a:solidFill>
                <a:latin typeface="Cambria"/>
              </a:rPr>
              <a:t>Forrest Gump leads — but popular ≠ best</a:t>
            </a:r>
          </a:p>
        </p:txBody>
      </p:sp>
      <p:pic>
        <p:nvPicPr>
          <p:cNvPr id="5" name="Picture 4" descr="cell28_out0.png"/>
          <p:cNvPicPr>
            <a:picLocks noChangeAspect="1"/>
          </p:cNvPicPr>
          <p:nvPr/>
        </p:nvPicPr>
        <p:blipFill>
          <a:blip r:embed="rId2"/>
          <a:stretch>
            <a:fillRect/>
          </a:stretch>
        </p:blipFill>
        <p:spPr>
          <a:xfrm>
            <a:off x="213360" y="1188719"/>
            <a:ext cx="8944708" cy="5057336"/>
          </a:xfrm>
          <a:prstGeom prst="rect">
            <a:avLst/>
          </a:prstGeom>
        </p:spPr>
      </p:pic>
      <p:sp>
        <p:nvSpPr>
          <p:cNvPr id="6" name="TextBox 5"/>
          <p:cNvSpPr txBox="1"/>
          <p:nvPr/>
        </p:nvSpPr>
        <p:spPr>
          <a:xfrm>
            <a:off x="3261360" y="6400800"/>
            <a:ext cx="5669280" cy="365760"/>
          </a:xfrm>
          <a:prstGeom prst="rect">
            <a:avLst/>
          </a:prstGeom>
          <a:noFill/>
        </p:spPr>
        <p:txBody>
          <a:bodyPr wrap="square" lIns="0" tIns="0" rIns="0" bIns="0" anchor="t">
            <a:spAutoFit/>
          </a:bodyPr>
          <a:lstStyle/>
          <a:p>
            <a:pPr algn="ctr"/>
            <a:r>
              <a:rPr sz="1100" b="0" i="1" dirty="0">
                <a:solidFill>
                  <a:srgbClr val="6B7280"/>
                </a:solidFill>
                <a:latin typeface="Calibri"/>
              </a:rPr>
              <a:t>Top 10 most-rated titles</a:t>
            </a:r>
          </a:p>
        </p:txBody>
      </p:sp>
      <p:sp>
        <p:nvSpPr>
          <p:cNvPr id="11" name="TextBox 10"/>
          <p:cNvSpPr txBox="1"/>
          <p:nvPr/>
        </p:nvSpPr>
        <p:spPr>
          <a:xfrm>
            <a:off x="10012680" y="2377440"/>
            <a:ext cx="1737360" cy="1005840"/>
          </a:xfrm>
          <a:prstGeom prst="rect">
            <a:avLst/>
          </a:prstGeom>
          <a:noFill/>
        </p:spPr>
        <p:txBody>
          <a:bodyPr wrap="square" lIns="0" tIns="0" rIns="0" bIns="0" anchor="t">
            <a:spAutoFit/>
          </a:bodyPr>
          <a:lstStyle/>
          <a:p>
            <a:pPr algn="l">
              <a:lnSpc>
                <a:spcPct val="105000"/>
              </a:lnSpc>
            </a:pPr>
            <a:r>
              <a:rPr sz="1800" b="1" i="0">
                <a:solidFill>
                  <a:srgbClr val="FFFFFF"/>
                </a:solidFill>
                <a:latin typeface="Cambria"/>
              </a:rPr>
              <a:t>Popularity</a:t>
            </a:r>
          </a:p>
          <a:p>
            <a:pPr algn="l">
              <a:lnSpc>
                <a:spcPct val="105000"/>
              </a:lnSpc>
            </a:pPr>
            <a:r>
              <a:rPr sz="1800" b="1" i="0">
                <a:solidFill>
                  <a:srgbClr val="FFFFFF"/>
                </a:solidFill>
                <a:latin typeface="Cambria"/>
              </a:rPr>
              <a:t>and quality</a:t>
            </a:r>
          </a:p>
          <a:p>
            <a:pPr algn="l">
              <a:lnSpc>
                <a:spcPct val="105000"/>
              </a:lnSpc>
            </a:pPr>
            <a:r>
              <a:rPr sz="1800" b="1" i="0">
                <a:solidFill>
                  <a:srgbClr val="FFFFFF"/>
                </a:solidFill>
                <a:latin typeface="Cambria"/>
              </a:rPr>
              <a:t>are different.</a:t>
            </a:r>
          </a:p>
        </p:txBody>
      </p:sp>
      <p:sp>
        <p:nvSpPr>
          <p:cNvPr id="13" name="TextBox 12"/>
          <p:cNvSpPr txBox="1"/>
          <p:nvPr/>
        </p:nvSpPr>
        <p:spPr>
          <a:xfrm>
            <a:off x="11475720" y="6446520"/>
            <a:ext cx="640080" cy="274320"/>
          </a:xfrm>
          <a:prstGeom prst="rect">
            <a:avLst/>
          </a:prstGeom>
          <a:noFill/>
        </p:spPr>
        <p:txBody>
          <a:bodyPr wrap="square" lIns="0" tIns="0" rIns="0" bIns="0" anchor="t">
            <a:spAutoFit/>
          </a:bodyPr>
          <a:lstStyle/>
          <a:p>
            <a:pPr algn="r"/>
            <a:r>
              <a:rPr sz="900" b="0" i="0">
                <a:solidFill>
                  <a:srgbClr val="6B7280"/>
                </a:solidFill>
                <a:latin typeface="Calibri"/>
              </a:rPr>
              <a:t>7 / 14</a:t>
            </a:r>
          </a:p>
        </p:txBody>
      </p:sp>
    </p:spTree>
    <p:extLst>
      <p:ext uri="{BB962C8B-B14F-4D97-AF65-F5344CB8AC3E}">
        <p14:creationId xmlns:p14="http://schemas.microsoft.com/office/powerpoint/2010/main" val="9150940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164592"/>
            <a:ext cx="7315200" cy="246221"/>
          </a:xfrm>
          <a:prstGeom prst="rect">
            <a:avLst/>
          </a:prstGeom>
          <a:noFill/>
        </p:spPr>
        <p:txBody>
          <a:bodyPr wrap="square" lIns="0" tIns="0" rIns="0" bIns="0" anchor="t">
            <a:spAutoFit/>
          </a:bodyPr>
          <a:lstStyle/>
          <a:p>
            <a:pPr algn="l"/>
            <a:r>
              <a:rPr sz="1600" b="1" i="0" dirty="0">
                <a:solidFill>
                  <a:srgbClr val="C73E1D"/>
                </a:solidFill>
                <a:latin typeface="Cambria"/>
              </a:rPr>
              <a:t>EDA </a:t>
            </a:r>
            <a:r>
              <a:rPr sz="1000" b="1" i="0" dirty="0">
                <a:solidFill>
                  <a:srgbClr val="C73E1D"/>
                </a:solidFill>
                <a:latin typeface="Cambria"/>
              </a:rPr>
              <a:t> </a:t>
            </a:r>
          </a:p>
        </p:txBody>
      </p:sp>
      <p:sp>
        <p:nvSpPr>
          <p:cNvPr id="3" name="TextBox 2"/>
          <p:cNvSpPr txBox="1"/>
          <p:nvPr/>
        </p:nvSpPr>
        <p:spPr>
          <a:xfrm>
            <a:off x="548640" y="365760"/>
            <a:ext cx="11064240" cy="553998"/>
          </a:xfrm>
          <a:prstGeom prst="rect">
            <a:avLst/>
          </a:prstGeom>
          <a:noFill/>
        </p:spPr>
        <p:txBody>
          <a:bodyPr wrap="square" lIns="0" tIns="0" rIns="0" bIns="0" anchor="t">
            <a:spAutoFit/>
          </a:bodyPr>
          <a:lstStyle/>
          <a:p>
            <a:pPr algn="l"/>
            <a:r>
              <a:rPr lang="en-US" sz="3600" b="1" dirty="0">
                <a:solidFill>
                  <a:srgbClr val="14213D"/>
                </a:solidFill>
                <a:latin typeface="Cambria"/>
              </a:rPr>
              <a:t>Rating Count vs. average rating</a:t>
            </a:r>
            <a:endParaRPr sz="3600" b="1" i="0" dirty="0">
              <a:solidFill>
                <a:srgbClr val="14213D"/>
              </a:solidFill>
              <a:latin typeface="Cambria"/>
            </a:endParaRPr>
          </a:p>
        </p:txBody>
      </p:sp>
      <p:pic>
        <p:nvPicPr>
          <p:cNvPr id="7" name="Picture 6" descr="cell35_out1.png"/>
          <p:cNvPicPr>
            <a:picLocks noChangeAspect="1"/>
          </p:cNvPicPr>
          <p:nvPr/>
        </p:nvPicPr>
        <p:blipFill>
          <a:blip r:embed="rId2"/>
          <a:stretch>
            <a:fillRect/>
          </a:stretch>
        </p:blipFill>
        <p:spPr>
          <a:xfrm>
            <a:off x="1195754" y="919758"/>
            <a:ext cx="9777046" cy="5801082"/>
          </a:xfrm>
          <a:prstGeom prst="rect">
            <a:avLst/>
          </a:prstGeom>
        </p:spPr>
      </p:pic>
      <p:sp>
        <p:nvSpPr>
          <p:cNvPr id="11" name="TextBox 10"/>
          <p:cNvSpPr txBox="1"/>
          <p:nvPr/>
        </p:nvSpPr>
        <p:spPr>
          <a:xfrm>
            <a:off x="10012680" y="2377440"/>
            <a:ext cx="1737360" cy="1005840"/>
          </a:xfrm>
          <a:prstGeom prst="rect">
            <a:avLst/>
          </a:prstGeom>
          <a:noFill/>
        </p:spPr>
        <p:txBody>
          <a:bodyPr wrap="square" lIns="0" tIns="0" rIns="0" bIns="0" anchor="t">
            <a:spAutoFit/>
          </a:bodyPr>
          <a:lstStyle/>
          <a:p>
            <a:pPr algn="l">
              <a:lnSpc>
                <a:spcPct val="105000"/>
              </a:lnSpc>
            </a:pPr>
            <a:r>
              <a:rPr sz="1800" b="1" i="0">
                <a:solidFill>
                  <a:srgbClr val="FFFFFF"/>
                </a:solidFill>
                <a:latin typeface="Cambria"/>
              </a:rPr>
              <a:t>Popularity</a:t>
            </a:r>
          </a:p>
          <a:p>
            <a:pPr algn="l">
              <a:lnSpc>
                <a:spcPct val="105000"/>
              </a:lnSpc>
            </a:pPr>
            <a:r>
              <a:rPr sz="1800" b="1" i="0">
                <a:solidFill>
                  <a:srgbClr val="FFFFFF"/>
                </a:solidFill>
                <a:latin typeface="Cambria"/>
              </a:rPr>
              <a:t>and quality</a:t>
            </a:r>
          </a:p>
          <a:p>
            <a:pPr algn="l">
              <a:lnSpc>
                <a:spcPct val="105000"/>
              </a:lnSpc>
            </a:pPr>
            <a:r>
              <a:rPr sz="1800" b="1" i="0">
                <a:solidFill>
                  <a:srgbClr val="FFFFFF"/>
                </a:solidFill>
                <a:latin typeface="Cambria"/>
              </a:rPr>
              <a:t>are different.</a:t>
            </a:r>
          </a:p>
        </p:txBody>
      </p:sp>
      <p:sp>
        <p:nvSpPr>
          <p:cNvPr id="13" name="TextBox 12"/>
          <p:cNvSpPr txBox="1"/>
          <p:nvPr/>
        </p:nvSpPr>
        <p:spPr>
          <a:xfrm>
            <a:off x="11475720" y="6446520"/>
            <a:ext cx="640080" cy="138499"/>
          </a:xfrm>
          <a:prstGeom prst="rect">
            <a:avLst/>
          </a:prstGeom>
          <a:noFill/>
        </p:spPr>
        <p:txBody>
          <a:bodyPr wrap="square" lIns="0" tIns="0" rIns="0" bIns="0" anchor="t">
            <a:spAutoFit/>
          </a:bodyPr>
          <a:lstStyle/>
          <a:p>
            <a:pPr algn="r"/>
            <a:r>
              <a:rPr lang="en-US" sz="900" dirty="0">
                <a:solidFill>
                  <a:srgbClr val="6B7280"/>
                </a:solidFill>
                <a:latin typeface="Calibri"/>
              </a:rPr>
              <a:t>8</a:t>
            </a:r>
            <a:r>
              <a:rPr sz="900" b="0" i="0" dirty="0">
                <a:solidFill>
                  <a:srgbClr val="6B7280"/>
                </a:solidFill>
                <a:latin typeface="Calibri"/>
              </a:rPr>
              <a:t> / 14</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164592"/>
            <a:ext cx="7315200" cy="274320"/>
          </a:xfrm>
          <a:prstGeom prst="rect">
            <a:avLst/>
          </a:prstGeom>
          <a:noFill/>
        </p:spPr>
        <p:txBody>
          <a:bodyPr wrap="square" lIns="0" tIns="0" rIns="0" bIns="0" anchor="t">
            <a:spAutoFit/>
          </a:bodyPr>
          <a:lstStyle/>
          <a:p>
            <a:pPr algn="l"/>
            <a:r>
              <a:rPr sz="1000" b="1" i="0">
                <a:solidFill>
                  <a:srgbClr val="C73E1D"/>
                </a:solidFill>
                <a:latin typeface="Cambria"/>
              </a:rPr>
              <a:t>EDA  ·  6.3 / 6.6 GENRES</a:t>
            </a:r>
          </a:p>
        </p:txBody>
      </p:sp>
      <p:sp>
        <p:nvSpPr>
          <p:cNvPr id="3" name="TextBox 2"/>
          <p:cNvSpPr txBox="1"/>
          <p:nvPr/>
        </p:nvSpPr>
        <p:spPr>
          <a:xfrm>
            <a:off x="548640" y="365760"/>
            <a:ext cx="11064240" cy="1107996"/>
          </a:xfrm>
          <a:prstGeom prst="rect">
            <a:avLst/>
          </a:prstGeom>
          <a:noFill/>
        </p:spPr>
        <p:txBody>
          <a:bodyPr wrap="square" lIns="0" tIns="0" rIns="0" bIns="0" anchor="t">
            <a:spAutoFit/>
          </a:bodyPr>
          <a:lstStyle/>
          <a:p>
            <a:pPr algn="l"/>
            <a:r>
              <a:rPr sz="3600" b="1" i="0" dirty="0">
                <a:solidFill>
                  <a:srgbClr val="14213D"/>
                </a:solidFill>
                <a:latin typeface="Cambria"/>
              </a:rPr>
              <a:t>Drama and Comedy </a:t>
            </a:r>
            <a:r>
              <a:rPr lang="en-US" sz="3600" b="1" dirty="0">
                <a:solidFill>
                  <a:srgbClr val="14213D"/>
                </a:solidFill>
                <a:latin typeface="Cambria"/>
              </a:rPr>
              <a:t>are the most frequent in</a:t>
            </a:r>
            <a:r>
              <a:rPr sz="3600" b="1" i="0" dirty="0">
                <a:solidFill>
                  <a:srgbClr val="14213D"/>
                </a:solidFill>
                <a:latin typeface="Cambria"/>
              </a:rPr>
              <a:t> the library</a:t>
            </a:r>
          </a:p>
        </p:txBody>
      </p:sp>
      <p:pic>
        <p:nvPicPr>
          <p:cNvPr id="5" name="Picture 4" descr="cell32_out0.png"/>
          <p:cNvPicPr>
            <a:picLocks noChangeAspect="1"/>
          </p:cNvPicPr>
          <p:nvPr/>
        </p:nvPicPr>
        <p:blipFill>
          <a:blip r:embed="rId2"/>
          <a:stretch>
            <a:fillRect/>
          </a:stretch>
        </p:blipFill>
        <p:spPr>
          <a:xfrm>
            <a:off x="548640" y="1277258"/>
            <a:ext cx="9088846" cy="4483462"/>
          </a:xfrm>
          <a:prstGeom prst="rect">
            <a:avLst/>
          </a:prstGeom>
        </p:spPr>
      </p:pic>
      <p:sp>
        <p:nvSpPr>
          <p:cNvPr id="7" name="Rounded Rectangle 6"/>
          <p:cNvSpPr/>
          <p:nvPr/>
        </p:nvSpPr>
        <p:spPr>
          <a:xfrm>
            <a:off x="548640" y="5760720"/>
            <a:ext cx="11064240" cy="777240"/>
          </a:xfrm>
          <a:prstGeom prst="roundRect">
            <a:avLst>
              <a:gd name="adj" fmla="val 15000"/>
            </a:avLst>
          </a:prstGeom>
          <a:solidFill>
            <a:srgbClr val="F5E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85371" y="6026230"/>
            <a:ext cx="10515600" cy="246221"/>
          </a:xfrm>
          <a:prstGeom prst="rect">
            <a:avLst/>
          </a:prstGeom>
          <a:noFill/>
        </p:spPr>
        <p:txBody>
          <a:bodyPr wrap="square" lIns="0" tIns="0" rIns="0" bIns="0" anchor="ctr">
            <a:spAutoFit/>
          </a:bodyPr>
          <a:lstStyle/>
          <a:p>
            <a:pPr algn="l"/>
            <a:r>
              <a:rPr sz="1600" b="0" i="1" dirty="0">
                <a:solidFill>
                  <a:srgbClr val="1F2937"/>
                </a:solidFill>
                <a:latin typeface="Calibri"/>
              </a:rPr>
              <a:t>Drama (4,361) and Comedy (3,756) — high volume, average ratings</a:t>
            </a:r>
            <a:r>
              <a:rPr sz="1200" b="0" i="1" dirty="0">
                <a:solidFill>
                  <a:srgbClr val="1F2937"/>
                </a:solidFill>
                <a:latin typeface="Calibri"/>
              </a:rPr>
              <a:t>..</a:t>
            </a:r>
          </a:p>
        </p:txBody>
      </p:sp>
      <p:sp>
        <p:nvSpPr>
          <p:cNvPr id="9" name="TextBox 8"/>
          <p:cNvSpPr txBox="1"/>
          <p:nvPr/>
        </p:nvSpPr>
        <p:spPr>
          <a:xfrm>
            <a:off x="11475720" y="6446520"/>
            <a:ext cx="640080" cy="138499"/>
          </a:xfrm>
          <a:prstGeom prst="rect">
            <a:avLst/>
          </a:prstGeom>
          <a:noFill/>
        </p:spPr>
        <p:txBody>
          <a:bodyPr wrap="square" lIns="0" tIns="0" rIns="0" bIns="0" anchor="t">
            <a:spAutoFit/>
          </a:bodyPr>
          <a:lstStyle/>
          <a:p>
            <a:pPr algn="r"/>
            <a:r>
              <a:rPr sz="900" b="0" i="0" dirty="0">
                <a:solidFill>
                  <a:srgbClr val="6B7280"/>
                </a:solidFill>
                <a:latin typeface="Calibri"/>
              </a:rPr>
              <a:t>8</a:t>
            </a:r>
            <a:r>
              <a:rPr lang="en-US" sz="900" b="0" i="0" dirty="0">
                <a:solidFill>
                  <a:srgbClr val="6B7280"/>
                </a:solidFill>
                <a:latin typeface="Calibri"/>
              </a:rPr>
              <a:t>9</a:t>
            </a:r>
            <a:r>
              <a:rPr sz="900" b="0" i="0" dirty="0">
                <a:solidFill>
                  <a:srgbClr val="6B7280"/>
                </a:solidFill>
                <a:latin typeface="Calibri"/>
              </a:rPr>
              <a:t>/ 14</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164592"/>
            <a:ext cx="7315200" cy="246221"/>
          </a:xfrm>
          <a:prstGeom prst="rect">
            <a:avLst/>
          </a:prstGeom>
          <a:noFill/>
        </p:spPr>
        <p:txBody>
          <a:bodyPr wrap="square" lIns="0" tIns="0" rIns="0" bIns="0" anchor="t">
            <a:spAutoFit/>
          </a:bodyPr>
          <a:lstStyle/>
          <a:p>
            <a:pPr algn="l"/>
            <a:r>
              <a:rPr sz="1600" b="1" i="0" dirty="0">
                <a:solidFill>
                  <a:srgbClr val="C73E1D"/>
                </a:solidFill>
                <a:latin typeface="Cambria"/>
              </a:rPr>
              <a:t>EDA</a:t>
            </a:r>
            <a:r>
              <a:rPr sz="1000" b="1" i="0" dirty="0">
                <a:solidFill>
                  <a:srgbClr val="C73E1D"/>
                </a:solidFill>
                <a:latin typeface="Cambria"/>
              </a:rPr>
              <a:t>  </a:t>
            </a:r>
          </a:p>
        </p:txBody>
      </p:sp>
      <p:sp>
        <p:nvSpPr>
          <p:cNvPr id="3" name="TextBox 2"/>
          <p:cNvSpPr txBox="1"/>
          <p:nvPr/>
        </p:nvSpPr>
        <p:spPr>
          <a:xfrm>
            <a:off x="548640" y="365760"/>
            <a:ext cx="11064240" cy="1107996"/>
          </a:xfrm>
          <a:prstGeom prst="rect">
            <a:avLst/>
          </a:prstGeom>
          <a:noFill/>
        </p:spPr>
        <p:txBody>
          <a:bodyPr wrap="square" lIns="0" tIns="0" rIns="0" bIns="0" anchor="t">
            <a:spAutoFit/>
          </a:bodyPr>
          <a:lstStyle/>
          <a:p>
            <a:pPr algn="l"/>
            <a:r>
              <a:rPr sz="3600" b="1" i="0" dirty="0">
                <a:solidFill>
                  <a:srgbClr val="14213D"/>
                </a:solidFill>
                <a:latin typeface="Cambria"/>
              </a:rPr>
              <a:t>Drama and Comedy </a:t>
            </a:r>
            <a:r>
              <a:rPr lang="en-US" sz="3600" b="1" dirty="0">
                <a:solidFill>
                  <a:srgbClr val="14213D"/>
                </a:solidFill>
                <a:latin typeface="Cambria"/>
              </a:rPr>
              <a:t>are the most frequent in</a:t>
            </a:r>
            <a:r>
              <a:rPr sz="3600" b="1" i="0" dirty="0">
                <a:solidFill>
                  <a:srgbClr val="14213D"/>
                </a:solidFill>
                <a:latin typeface="Cambria"/>
              </a:rPr>
              <a:t> the library</a:t>
            </a:r>
          </a:p>
        </p:txBody>
      </p:sp>
      <p:pic>
        <p:nvPicPr>
          <p:cNvPr id="6" name="Picture 5" descr="cell41_out0.png"/>
          <p:cNvPicPr>
            <a:picLocks noChangeAspect="1"/>
          </p:cNvPicPr>
          <p:nvPr/>
        </p:nvPicPr>
        <p:blipFill>
          <a:blip r:embed="rId2"/>
          <a:stretch>
            <a:fillRect/>
          </a:stretch>
        </p:blipFill>
        <p:spPr>
          <a:xfrm>
            <a:off x="1074057" y="1277257"/>
            <a:ext cx="9448577" cy="4696936"/>
          </a:xfrm>
          <a:prstGeom prst="rect">
            <a:avLst/>
          </a:prstGeom>
        </p:spPr>
      </p:pic>
      <p:sp>
        <p:nvSpPr>
          <p:cNvPr id="7" name="Rounded Rectangle 6"/>
          <p:cNvSpPr/>
          <p:nvPr/>
        </p:nvSpPr>
        <p:spPr>
          <a:xfrm>
            <a:off x="365760" y="5974193"/>
            <a:ext cx="11064240" cy="777240"/>
          </a:xfrm>
          <a:prstGeom prst="roundRect">
            <a:avLst>
              <a:gd name="adj" fmla="val 15000"/>
            </a:avLst>
          </a:prstGeom>
          <a:solidFill>
            <a:srgbClr val="F5E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68680" y="5707856"/>
            <a:ext cx="10515600" cy="738664"/>
          </a:xfrm>
          <a:prstGeom prst="rect">
            <a:avLst/>
          </a:prstGeom>
          <a:noFill/>
        </p:spPr>
        <p:txBody>
          <a:bodyPr wrap="square" lIns="0" tIns="0" rIns="0" bIns="0" anchor="ctr">
            <a:spAutoFit/>
          </a:bodyPr>
          <a:lstStyle/>
          <a:p>
            <a:pPr algn="l"/>
            <a:endParaRPr lang="en-US" sz="1600" b="0" i="1" dirty="0">
              <a:solidFill>
                <a:srgbClr val="1F2937"/>
              </a:solidFill>
              <a:latin typeface="Calibri"/>
            </a:endParaRPr>
          </a:p>
          <a:p>
            <a:pPr algn="l"/>
            <a:endParaRPr lang="en-GB" sz="1600" i="1" dirty="0">
              <a:solidFill>
                <a:srgbClr val="1F2937"/>
              </a:solidFill>
              <a:latin typeface="Calibri"/>
            </a:endParaRPr>
          </a:p>
          <a:p>
            <a:pPr algn="l"/>
            <a:r>
              <a:rPr sz="1600" b="0" i="1" dirty="0">
                <a:solidFill>
                  <a:srgbClr val="1F2937"/>
                </a:solidFill>
                <a:latin typeface="Calibri"/>
              </a:rPr>
              <a:t>Niche genres (Film-Noir 3.92, War 3.81) are fewer titles but consistently loved</a:t>
            </a:r>
            <a:r>
              <a:rPr sz="1200" b="0" i="1" dirty="0">
                <a:solidFill>
                  <a:srgbClr val="1F2937"/>
                </a:solidFill>
                <a:latin typeface="Calibri"/>
              </a:rPr>
              <a:t>.</a:t>
            </a:r>
          </a:p>
        </p:txBody>
      </p:sp>
      <p:sp>
        <p:nvSpPr>
          <p:cNvPr id="9" name="TextBox 8"/>
          <p:cNvSpPr txBox="1"/>
          <p:nvPr/>
        </p:nvSpPr>
        <p:spPr>
          <a:xfrm>
            <a:off x="11475720" y="6446520"/>
            <a:ext cx="640080" cy="138499"/>
          </a:xfrm>
          <a:prstGeom prst="rect">
            <a:avLst/>
          </a:prstGeom>
          <a:noFill/>
        </p:spPr>
        <p:txBody>
          <a:bodyPr wrap="square" lIns="0" tIns="0" rIns="0" bIns="0" anchor="t">
            <a:spAutoFit/>
          </a:bodyPr>
          <a:lstStyle/>
          <a:p>
            <a:pPr algn="r"/>
            <a:r>
              <a:rPr lang="en-US" sz="900" dirty="0">
                <a:solidFill>
                  <a:srgbClr val="6B7280"/>
                </a:solidFill>
                <a:latin typeface="Calibri"/>
              </a:rPr>
              <a:t>10</a:t>
            </a:r>
            <a:r>
              <a:rPr sz="900" b="0" i="0" dirty="0">
                <a:solidFill>
                  <a:srgbClr val="6B7280"/>
                </a:solidFill>
                <a:latin typeface="Calibri"/>
              </a:rPr>
              <a:t> / 14</a:t>
            </a:r>
          </a:p>
        </p:txBody>
      </p:sp>
    </p:spTree>
    <p:extLst>
      <p:ext uri="{BB962C8B-B14F-4D97-AF65-F5344CB8AC3E}">
        <p14:creationId xmlns:p14="http://schemas.microsoft.com/office/powerpoint/2010/main" val="28455923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164592"/>
            <a:ext cx="7315200" cy="246221"/>
          </a:xfrm>
          <a:prstGeom prst="rect">
            <a:avLst/>
          </a:prstGeom>
          <a:noFill/>
        </p:spPr>
        <p:txBody>
          <a:bodyPr wrap="square" lIns="0" tIns="0" rIns="0" bIns="0" anchor="t">
            <a:spAutoFit/>
          </a:bodyPr>
          <a:lstStyle/>
          <a:p>
            <a:pPr algn="l"/>
            <a:r>
              <a:rPr sz="1600" b="1" i="0" dirty="0">
                <a:solidFill>
                  <a:srgbClr val="C73E1D"/>
                </a:solidFill>
                <a:latin typeface="Cambria"/>
              </a:rPr>
              <a:t>EDA  </a:t>
            </a:r>
          </a:p>
        </p:txBody>
      </p:sp>
      <p:sp>
        <p:nvSpPr>
          <p:cNvPr id="3" name="TextBox 2"/>
          <p:cNvSpPr txBox="1"/>
          <p:nvPr/>
        </p:nvSpPr>
        <p:spPr>
          <a:xfrm>
            <a:off x="562708" y="365760"/>
            <a:ext cx="11064240" cy="553998"/>
          </a:xfrm>
          <a:prstGeom prst="rect">
            <a:avLst/>
          </a:prstGeom>
          <a:noFill/>
        </p:spPr>
        <p:txBody>
          <a:bodyPr wrap="square" lIns="0" tIns="0" rIns="0" bIns="0" anchor="t">
            <a:spAutoFit/>
          </a:bodyPr>
          <a:lstStyle/>
          <a:p>
            <a:pPr algn="l"/>
            <a:r>
              <a:rPr sz="3600" b="1" i="0" dirty="0">
                <a:solidFill>
                  <a:srgbClr val="14213D"/>
                </a:solidFill>
                <a:latin typeface="Cambria"/>
              </a:rPr>
              <a:t>Tags are the cold-start </a:t>
            </a:r>
            <a:r>
              <a:rPr lang="en-US" sz="3600" b="1" dirty="0">
                <a:solidFill>
                  <a:srgbClr val="14213D"/>
                </a:solidFill>
                <a:latin typeface="Cambria"/>
              </a:rPr>
              <a:t>solution</a:t>
            </a:r>
            <a:endParaRPr sz="3600" b="1" i="0" dirty="0">
              <a:solidFill>
                <a:srgbClr val="14213D"/>
              </a:solidFill>
              <a:latin typeface="Cambria"/>
            </a:endParaRPr>
          </a:p>
        </p:txBody>
      </p:sp>
      <p:sp>
        <p:nvSpPr>
          <p:cNvPr id="4" name="TextBox 3"/>
          <p:cNvSpPr txBox="1"/>
          <p:nvPr/>
        </p:nvSpPr>
        <p:spPr>
          <a:xfrm>
            <a:off x="548640" y="997815"/>
            <a:ext cx="11064240" cy="246221"/>
          </a:xfrm>
          <a:prstGeom prst="rect">
            <a:avLst/>
          </a:prstGeom>
          <a:noFill/>
        </p:spPr>
        <p:txBody>
          <a:bodyPr wrap="square" lIns="0" tIns="0" rIns="0" bIns="0" anchor="t">
            <a:spAutoFit/>
          </a:bodyPr>
          <a:lstStyle/>
          <a:p>
            <a:pPr algn="l"/>
            <a:r>
              <a:rPr lang="en-US" sz="1600" i="1" dirty="0">
                <a:solidFill>
                  <a:srgbClr val="6B7280"/>
                </a:solidFill>
                <a:latin typeface="Calibri"/>
              </a:rPr>
              <a:t>Tag</a:t>
            </a:r>
            <a:r>
              <a:rPr sz="1600" b="0" i="1" dirty="0">
                <a:solidFill>
                  <a:srgbClr val="6B7280"/>
                </a:solidFill>
                <a:latin typeface="Calibri"/>
              </a:rPr>
              <a:t>s</a:t>
            </a:r>
            <a:r>
              <a:rPr lang="en-US" sz="1600" b="0" i="1" dirty="0">
                <a:solidFill>
                  <a:srgbClr val="6B7280"/>
                </a:solidFill>
                <a:latin typeface="Calibri"/>
              </a:rPr>
              <a:t> description</a:t>
            </a:r>
            <a:r>
              <a:rPr sz="1600" b="0" i="1" dirty="0">
                <a:solidFill>
                  <a:srgbClr val="6B7280"/>
                </a:solidFill>
                <a:latin typeface="Calibri"/>
              </a:rPr>
              <a:t> help us recommend before we've seen a single rating</a:t>
            </a:r>
          </a:p>
        </p:txBody>
      </p:sp>
      <p:pic>
        <p:nvPicPr>
          <p:cNvPr id="5" name="Picture 4" descr="cell44_out0.png"/>
          <p:cNvPicPr>
            <a:picLocks noChangeAspect="1"/>
          </p:cNvPicPr>
          <p:nvPr/>
        </p:nvPicPr>
        <p:blipFill>
          <a:blip r:embed="rId2"/>
          <a:stretch>
            <a:fillRect/>
          </a:stretch>
        </p:blipFill>
        <p:spPr>
          <a:xfrm>
            <a:off x="548639" y="1308295"/>
            <a:ext cx="9917723" cy="4615947"/>
          </a:xfrm>
          <a:prstGeom prst="rect">
            <a:avLst/>
          </a:prstGeom>
        </p:spPr>
      </p:pic>
      <p:sp>
        <p:nvSpPr>
          <p:cNvPr id="23" name="Rounded Rectangle 22"/>
          <p:cNvSpPr/>
          <p:nvPr/>
        </p:nvSpPr>
        <p:spPr>
          <a:xfrm>
            <a:off x="478971" y="5924243"/>
            <a:ext cx="11064240" cy="914400"/>
          </a:xfrm>
          <a:prstGeom prst="roundRect">
            <a:avLst>
              <a:gd name="adj" fmla="val 6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68680" y="5924243"/>
            <a:ext cx="2286000" cy="822960"/>
          </a:xfrm>
          <a:prstGeom prst="rect">
            <a:avLst/>
          </a:prstGeom>
          <a:noFill/>
        </p:spPr>
        <p:txBody>
          <a:bodyPr wrap="square" lIns="0" tIns="0" rIns="0" bIns="0" anchor="ctr">
            <a:spAutoFit/>
          </a:bodyPr>
          <a:lstStyle/>
          <a:p>
            <a:pPr algn="l"/>
            <a:r>
              <a:rPr sz="4200" b="1" i="0" dirty="0">
                <a:solidFill>
                  <a:srgbClr val="F2A541"/>
                </a:solidFill>
                <a:latin typeface="Cambria"/>
              </a:rPr>
              <a:t>~20%</a:t>
            </a:r>
          </a:p>
        </p:txBody>
      </p:sp>
      <p:sp>
        <p:nvSpPr>
          <p:cNvPr id="25" name="TextBox 24"/>
          <p:cNvSpPr txBox="1"/>
          <p:nvPr/>
        </p:nvSpPr>
        <p:spPr>
          <a:xfrm>
            <a:off x="2808514" y="6094649"/>
            <a:ext cx="8229600" cy="571182"/>
          </a:xfrm>
          <a:prstGeom prst="rect">
            <a:avLst/>
          </a:prstGeom>
          <a:noFill/>
        </p:spPr>
        <p:txBody>
          <a:bodyPr wrap="square" lIns="0" tIns="0" rIns="0" bIns="0" anchor="ctr">
            <a:spAutoFit/>
          </a:bodyPr>
          <a:lstStyle/>
          <a:p>
            <a:pPr algn="l">
              <a:lnSpc>
                <a:spcPct val="120000"/>
              </a:lnSpc>
            </a:pPr>
            <a:r>
              <a:rPr sz="1600" b="0" i="1" dirty="0">
                <a:solidFill>
                  <a:srgbClr val="FFFFFF"/>
                </a:solidFill>
                <a:latin typeface="Calibri"/>
              </a:rPr>
              <a:t>of movies carry any user-generated tag —</a:t>
            </a:r>
          </a:p>
          <a:p>
            <a:pPr algn="l">
              <a:lnSpc>
                <a:spcPct val="120000"/>
              </a:lnSpc>
            </a:pPr>
            <a:r>
              <a:rPr sz="1600" b="0" i="1" dirty="0">
                <a:solidFill>
                  <a:srgbClr val="FFFFFF"/>
                </a:solidFill>
                <a:latin typeface="Calibri"/>
              </a:rPr>
              <a:t>enough to help a brand-new user, but we still need a genre-level fallback for the rest.</a:t>
            </a:r>
          </a:p>
        </p:txBody>
      </p:sp>
      <p:sp>
        <p:nvSpPr>
          <p:cNvPr id="26" name="TextBox 25"/>
          <p:cNvSpPr txBox="1"/>
          <p:nvPr/>
        </p:nvSpPr>
        <p:spPr>
          <a:xfrm>
            <a:off x="11475720" y="6446520"/>
            <a:ext cx="640080" cy="138499"/>
          </a:xfrm>
          <a:prstGeom prst="rect">
            <a:avLst/>
          </a:prstGeom>
          <a:noFill/>
        </p:spPr>
        <p:txBody>
          <a:bodyPr wrap="square" lIns="0" tIns="0" rIns="0" bIns="0" anchor="t">
            <a:spAutoFit/>
          </a:bodyPr>
          <a:lstStyle/>
          <a:p>
            <a:pPr algn="r"/>
            <a:r>
              <a:rPr sz="900" b="0" i="0" dirty="0">
                <a:solidFill>
                  <a:srgbClr val="6B7280"/>
                </a:solidFill>
                <a:latin typeface="Calibri"/>
              </a:rPr>
              <a:t>9</a:t>
            </a:r>
            <a:r>
              <a:rPr lang="en-US" sz="900" b="0" i="0" dirty="0">
                <a:solidFill>
                  <a:srgbClr val="6B7280"/>
                </a:solidFill>
                <a:latin typeface="Calibri"/>
              </a:rPr>
              <a:t>11</a:t>
            </a:r>
            <a:r>
              <a:rPr sz="900" b="0" i="0" dirty="0">
                <a:solidFill>
                  <a:srgbClr val="6B7280"/>
                </a:solidFill>
                <a:latin typeface="Calibri"/>
              </a:rPr>
              <a:t>/ 14</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164592"/>
            <a:ext cx="7315200" cy="246221"/>
          </a:xfrm>
          <a:prstGeom prst="rect">
            <a:avLst/>
          </a:prstGeom>
          <a:noFill/>
        </p:spPr>
        <p:txBody>
          <a:bodyPr wrap="square" lIns="0" tIns="0" rIns="0" bIns="0" anchor="t">
            <a:spAutoFit/>
          </a:bodyPr>
          <a:lstStyle/>
          <a:p>
            <a:pPr algn="l"/>
            <a:r>
              <a:rPr sz="1600" b="1" i="0" dirty="0">
                <a:solidFill>
                  <a:srgbClr val="C73E1D"/>
                </a:solidFill>
                <a:latin typeface="Cambria"/>
              </a:rPr>
              <a:t>EDA  </a:t>
            </a:r>
          </a:p>
        </p:txBody>
      </p:sp>
      <p:sp>
        <p:nvSpPr>
          <p:cNvPr id="3" name="TextBox 2"/>
          <p:cNvSpPr txBox="1"/>
          <p:nvPr/>
        </p:nvSpPr>
        <p:spPr>
          <a:xfrm>
            <a:off x="562708" y="365760"/>
            <a:ext cx="11064240" cy="553998"/>
          </a:xfrm>
          <a:prstGeom prst="rect">
            <a:avLst/>
          </a:prstGeom>
          <a:noFill/>
        </p:spPr>
        <p:txBody>
          <a:bodyPr wrap="square" lIns="0" tIns="0" rIns="0" bIns="0" anchor="t">
            <a:spAutoFit/>
          </a:bodyPr>
          <a:lstStyle/>
          <a:p>
            <a:pPr algn="l"/>
            <a:r>
              <a:rPr sz="3600" b="1" i="0" dirty="0">
                <a:solidFill>
                  <a:srgbClr val="14213D"/>
                </a:solidFill>
                <a:latin typeface="Cambria"/>
              </a:rPr>
              <a:t>Tags are the cold-start </a:t>
            </a:r>
            <a:r>
              <a:rPr lang="en-US" sz="3600" b="1" dirty="0">
                <a:solidFill>
                  <a:srgbClr val="14213D"/>
                </a:solidFill>
                <a:latin typeface="Cambria"/>
              </a:rPr>
              <a:t>solution</a:t>
            </a:r>
            <a:endParaRPr sz="3600" b="1" i="0" dirty="0">
              <a:solidFill>
                <a:srgbClr val="14213D"/>
              </a:solidFill>
              <a:latin typeface="Cambria"/>
            </a:endParaRPr>
          </a:p>
        </p:txBody>
      </p:sp>
      <p:sp>
        <p:nvSpPr>
          <p:cNvPr id="4" name="TextBox 3"/>
          <p:cNvSpPr txBox="1"/>
          <p:nvPr/>
        </p:nvSpPr>
        <p:spPr>
          <a:xfrm>
            <a:off x="548640" y="997815"/>
            <a:ext cx="11064240" cy="246221"/>
          </a:xfrm>
          <a:prstGeom prst="rect">
            <a:avLst/>
          </a:prstGeom>
          <a:noFill/>
        </p:spPr>
        <p:txBody>
          <a:bodyPr wrap="square" lIns="0" tIns="0" rIns="0" bIns="0" anchor="t">
            <a:spAutoFit/>
          </a:bodyPr>
          <a:lstStyle/>
          <a:p>
            <a:pPr algn="l"/>
            <a:r>
              <a:rPr lang="en-US" sz="1600" b="0" i="1" dirty="0">
                <a:solidFill>
                  <a:srgbClr val="6B7280"/>
                </a:solidFill>
                <a:latin typeface="Calibri"/>
              </a:rPr>
              <a:t>Visual of most tagged movies</a:t>
            </a:r>
            <a:endParaRPr sz="1600" b="0" i="1" dirty="0">
              <a:solidFill>
                <a:srgbClr val="6B7280"/>
              </a:solidFill>
              <a:latin typeface="Calibri"/>
            </a:endParaRPr>
          </a:p>
        </p:txBody>
      </p:sp>
      <p:sp>
        <p:nvSpPr>
          <p:cNvPr id="26" name="TextBox 25"/>
          <p:cNvSpPr txBox="1"/>
          <p:nvPr/>
        </p:nvSpPr>
        <p:spPr>
          <a:xfrm>
            <a:off x="11475720" y="6446520"/>
            <a:ext cx="640080" cy="138499"/>
          </a:xfrm>
          <a:prstGeom prst="rect">
            <a:avLst/>
          </a:prstGeom>
          <a:noFill/>
        </p:spPr>
        <p:txBody>
          <a:bodyPr wrap="square" lIns="0" tIns="0" rIns="0" bIns="0" anchor="t">
            <a:spAutoFit/>
          </a:bodyPr>
          <a:lstStyle/>
          <a:p>
            <a:pPr algn="r"/>
            <a:r>
              <a:rPr sz="900" b="0" i="0" dirty="0">
                <a:solidFill>
                  <a:srgbClr val="6B7280"/>
                </a:solidFill>
                <a:latin typeface="Calibri"/>
              </a:rPr>
              <a:t>9</a:t>
            </a:r>
            <a:r>
              <a:rPr lang="en-US" sz="900" b="0" i="0" dirty="0">
                <a:solidFill>
                  <a:srgbClr val="6B7280"/>
                </a:solidFill>
                <a:latin typeface="Calibri"/>
              </a:rPr>
              <a:t>12</a:t>
            </a:r>
            <a:r>
              <a:rPr sz="900" b="0" i="0" dirty="0">
                <a:solidFill>
                  <a:srgbClr val="6B7280"/>
                </a:solidFill>
                <a:latin typeface="Calibri"/>
              </a:rPr>
              <a:t>/ 14</a:t>
            </a:r>
          </a:p>
        </p:txBody>
      </p:sp>
      <p:pic>
        <p:nvPicPr>
          <p:cNvPr id="6" name="Picture 5">
            <a:extLst>
              <a:ext uri="{FF2B5EF4-FFF2-40B4-BE49-F238E27FC236}">
                <a16:creationId xmlns:a16="http://schemas.microsoft.com/office/drawing/2014/main" id="{BE642301-EEB7-4318-AA5D-39E0F6500CE9}"/>
              </a:ext>
            </a:extLst>
          </p:cNvPr>
          <p:cNvPicPr>
            <a:picLocks noChangeAspect="1"/>
          </p:cNvPicPr>
          <p:nvPr/>
        </p:nvPicPr>
        <p:blipFill>
          <a:blip r:embed="rId2"/>
          <a:stretch>
            <a:fillRect/>
          </a:stretch>
        </p:blipFill>
        <p:spPr>
          <a:xfrm>
            <a:off x="478971" y="1369470"/>
            <a:ext cx="9755797" cy="5122770"/>
          </a:xfrm>
          <a:prstGeom prst="rect">
            <a:avLst/>
          </a:prstGeom>
        </p:spPr>
      </p:pic>
    </p:spTree>
    <p:extLst>
      <p:ext uri="{BB962C8B-B14F-4D97-AF65-F5344CB8AC3E}">
        <p14:creationId xmlns:p14="http://schemas.microsoft.com/office/powerpoint/2010/main" val="7789404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164592"/>
            <a:ext cx="7315200" cy="246221"/>
          </a:xfrm>
          <a:prstGeom prst="rect">
            <a:avLst/>
          </a:prstGeom>
          <a:noFill/>
        </p:spPr>
        <p:txBody>
          <a:bodyPr wrap="square" lIns="0" tIns="0" rIns="0" bIns="0" anchor="t">
            <a:spAutoFit/>
          </a:bodyPr>
          <a:lstStyle/>
          <a:p>
            <a:pPr algn="l"/>
            <a:r>
              <a:rPr sz="1600" b="1" i="0" dirty="0">
                <a:solidFill>
                  <a:srgbClr val="C73E1D"/>
                </a:solidFill>
                <a:latin typeface="Cambria"/>
              </a:rPr>
              <a:t>MODELING</a:t>
            </a:r>
          </a:p>
        </p:txBody>
      </p:sp>
      <p:sp>
        <p:nvSpPr>
          <p:cNvPr id="3" name="TextBox 2"/>
          <p:cNvSpPr txBox="1"/>
          <p:nvPr/>
        </p:nvSpPr>
        <p:spPr>
          <a:xfrm>
            <a:off x="548640" y="365760"/>
            <a:ext cx="11064240" cy="1107996"/>
          </a:xfrm>
          <a:prstGeom prst="rect">
            <a:avLst/>
          </a:prstGeom>
          <a:noFill/>
        </p:spPr>
        <p:txBody>
          <a:bodyPr wrap="square" lIns="0" tIns="0" rIns="0" bIns="0" anchor="t">
            <a:spAutoFit/>
          </a:bodyPr>
          <a:lstStyle/>
          <a:p>
            <a:pPr algn="l"/>
            <a:r>
              <a:rPr sz="3600" b="1" i="0" dirty="0">
                <a:solidFill>
                  <a:srgbClr val="14213D"/>
                </a:solidFill>
                <a:latin typeface="Cambria"/>
              </a:rPr>
              <a:t>SVD </a:t>
            </a:r>
            <a:r>
              <a:rPr lang="en-US" sz="3600" b="1" i="0" dirty="0">
                <a:solidFill>
                  <a:srgbClr val="14213D"/>
                </a:solidFill>
                <a:latin typeface="Cambria"/>
              </a:rPr>
              <a:t>outperforms KNN Basic, KNN With Means and NMF</a:t>
            </a:r>
            <a:endParaRPr sz="3600" b="1" i="0" dirty="0">
              <a:solidFill>
                <a:srgbClr val="14213D"/>
              </a:solidFill>
              <a:latin typeface="Cambria"/>
            </a:endParaRPr>
          </a:p>
        </p:txBody>
      </p:sp>
      <p:sp>
        <p:nvSpPr>
          <p:cNvPr id="4" name="TextBox 3"/>
          <p:cNvSpPr txBox="1"/>
          <p:nvPr/>
        </p:nvSpPr>
        <p:spPr>
          <a:xfrm>
            <a:off x="563880" y="1668780"/>
            <a:ext cx="11064240" cy="411480"/>
          </a:xfrm>
          <a:prstGeom prst="rect">
            <a:avLst/>
          </a:prstGeom>
          <a:noFill/>
        </p:spPr>
        <p:txBody>
          <a:bodyPr wrap="square" lIns="0" tIns="0" rIns="0" bIns="0" anchor="t">
            <a:spAutoFit/>
          </a:bodyPr>
          <a:lstStyle/>
          <a:p>
            <a:pPr algn="l"/>
            <a:r>
              <a:rPr sz="1400" b="0" i="1" dirty="0">
                <a:solidFill>
                  <a:srgbClr val="6B7280"/>
                </a:solidFill>
                <a:latin typeface="Calibri"/>
              </a:rPr>
              <a:t>Four algorithms · 5-fold cross-validated · lower is better</a:t>
            </a:r>
          </a:p>
        </p:txBody>
      </p:sp>
      <p:pic>
        <p:nvPicPr>
          <p:cNvPr id="5" name="Picture 4" descr="cell57_out2.png"/>
          <p:cNvPicPr>
            <a:picLocks noChangeAspect="1"/>
          </p:cNvPicPr>
          <p:nvPr/>
        </p:nvPicPr>
        <p:blipFill>
          <a:blip r:embed="rId2"/>
          <a:stretch>
            <a:fillRect/>
          </a:stretch>
        </p:blipFill>
        <p:spPr>
          <a:xfrm>
            <a:off x="289560" y="2452164"/>
            <a:ext cx="7315200" cy="3902916"/>
          </a:xfrm>
          <a:prstGeom prst="rect">
            <a:avLst/>
          </a:prstGeom>
        </p:spPr>
      </p:pic>
      <p:sp>
        <p:nvSpPr>
          <p:cNvPr id="6" name="Rounded Rectangle 5"/>
          <p:cNvSpPr/>
          <p:nvPr/>
        </p:nvSpPr>
        <p:spPr>
          <a:xfrm>
            <a:off x="7863840" y="1783080"/>
            <a:ext cx="3840480" cy="4572000"/>
          </a:xfrm>
          <a:prstGeom prst="roundRect">
            <a:avLst>
              <a:gd name="adj" fmla="val 4000"/>
            </a:avLst>
          </a:prstGeom>
          <a:solidFill>
            <a:srgbClr val="F5E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138160" y="2057400"/>
            <a:ext cx="3291840" cy="457200"/>
          </a:xfrm>
          <a:prstGeom prst="rect">
            <a:avLst/>
          </a:prstGeom>
          <a:noFill/>
        </p:spPr>
        <p:txBody>
          <a:bodyPr wrap="square" lIns="0" tIns="0" rIns="0" bIns="0" anchor="t">
            <a:spAutoFit/>
          </a:bodyPr>
          <a:lstStyle/>
          <a:p>
            <a:pPr algn="l"/>
            <a:r>
              <a:rPr sz="1000" b="1" i="0">
                <a:solidFill>
                  <a:srgbClr val="C73E1D"/>
                </a:solidFill>
                <a:latin typeface="Calibri"/>
              </a:rPr>
              <a:t>RESULTS</a:t>
            </a:r>
          </a:p>
        </p:txBody>
      </p:sp>
      <p:sp>
        <p:nvSpPr>
          <p:cNvPr id="8" name="TextBox 7"/>
          <p:cNvSpPr txBox="1"/>
          <p:nvPr/>
        </p:nvSpPr>
        <p:spPr>
          <a:xfrm>
            <a:off x="8138160" y="2377440"/>
            <a:ext cx="3291840" cy="457200"/>
          </a:xfrm>
          <a:prstGeom prst="rect">
            <a:avLst/>
          </a:prstGeom>
          <a:noFill/>
        </p:spPr>
        <p:txBody>
          <a:bodyPr wrap="square" lIns="0" tIns="0" rIns="0" bIns="0" anchor="t">
            <a:spAutoFit/>
          </a:bodyPr>
          <a:lstStyle/>
          <a:p>
            <a:pPr algn="l"/>
            <a:r>
              <a:rPr sz="1800" b="1" i="0" dirty="0">
                <a:solidFill>
                  <a:srgbClr val="14213D"/>
                </a:solidFill>
                <a:latin typeface="Cambria"/>
              </a:rPr>
              <a:t>Cross-</a:t>
            </a:r>
            <a:r>
              <a:rPr sz="1800" b="1" i="0" dirty="0" err="1">
                <a:solidFill>
                  <a:srgbClr val="14213D"/>
                </a:solidFill>
                <a:latin typeface="Cambria"/>
              </a:rPr>
              <a:t>val</a:t>
            </a:r>
            <a:r>
              <a:rPr sz="1800" b="1" i="0" dirty="0">
                <a:solidFill>
                  <a:srgbClr val="14213D"/>
                </a:solidFill>
                <a:latin typeface="Cambria"/>
              </a:rPr>
              <a:t> scores</a:t>
            </a:r>
          </a:p>
        </p:txBody>
      </p:sp>
      <p:sp>
        <p:nvSpPr>
          <p:cNvPr id="9" name="Rectangle 8"/>
          <p:cNvSpPr/>
          <p:nvPr/>
        </p:nvSpPr>
        <p:spPr>
          <a:xfrm>
            <a:off x="8138160" y="3063240"/>
            <a:ext cx="1737360" cy="384048"/>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138160" y="3063240"/>
            <a:ext cx="1737360" cy="384048"/>
          </a:xfrm>
          <a:prstGeom prst="rect">
            <a:avLst/>
          </a:prstGeom>
          <a:noFill/>
        </p:spPr>
        <p:txBody>
          <a:bodyPr wrap="square" lIns="0" tIns="0" rIns="0" bIns="0" anchor="ctr">
            <a:spAutoFit/>
          </a:bodyPr>
          <a:lstStyle/>
          <a:p>
            <a:pPr algn="ctr"/>
            <a:r>
              <a:rPr sz="1100" b="1" i="0">
                <a:solidFill>
                  <a:srgbClr val="F2A541"/>
                </a:solidFill>
                <a:latin typeface="Calibri"/>
              </a:rPr>
              <a:t>Model</a:t>
            </a:r>
          </a:p>
        </p:txBody>
      </p:sp>
      <p:sp>
        <p:nvSpPr>
          <p:cNvPr id="11" name="Rectangle 10"/>
          <p:cNvSpPr/>
          <p:nvPr/>
        </p:nvSpPr>
        <p:spPr>
          <a:xfrm>
            <a:off x="9875520" y="3063240"/>
            <a:ext cx="777240" cy="384048"/>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875520" y="3063240"/>
            <a:ext cx="777240" cy="384048"/>
          </a:xfrm>
          <a:prstGeom prst="rect">
            <a:avLst/>
          </a:prstGeom>
          <a:noFill/>
        </p:spPr>
        <p:txBody>
          <a:bodyPr wrap="square" lIns="0" tIns="0" rIns="0" bIns="0" anchor="ctr">
            <a:spAutoFit/>
          </a:bodyPr>
          <a:lstStyle/>
          <a:p>
            <a:pPr algn="ctr"/>
            <a:r>
              <a:rPr sz="1100" b="1" i="0">
                <a:solidFill>
                  <a:srgbClr val="F2A541"/>
                </a:solidFill>
                <a:latin typeface="Calibri"/>
              </a:rPr>
              <a:t>RMSE</a:t>
            </a:r>
          </a:p>
        </p:txBody>
      </p:sp>
      <p:sp>
        <p:nvSpPr>
          <p:cNvPr id="13" name="Rectangle 12"/>
          <p:cNvSpPr/>
          <p:nvPr/>
        </p:nvSpPr>
        <p:spPr>
          <a:xfrm>
            <a:off x="10652760" y="3063240"/>
            <a:ext cx="777240" cy="384048"/>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652760" y="3063240"/>
            <a:ext cx="777240" cy="384048"/>
          </a:xfrm>
          <a:prstGeom prst="rect">
            <a:avLst/>
          </a:prstGeom>
          <a:noFill/>
        </p:spPr>
        <p:txBody>
          <a:bodyPr wrap="square" lIns="0" tIns="0" rIns="0" bIns="0" anchor="ctr">
            <a:spAutoFit/>
          </a:bodyPr>
          <a:lstStyle/>
          <a:p>
            <a:pPr algn="ctr"/>
            <a:r>
              <a:rPr sz="1100" b="1" i="0">
                <a:solidFill>
                  <a:srgbClr val="F2A541"/>
                </a:solidFill>
                <a:latin typeface="Calibri"/>
              </a:rPr>
              <a:t>MAE</a:t>
            </a:r>
          </a:p>
        </p:txBody>
      </p:sp>
      <p:sp>
        <p:nvSpPr>
          <p:cNvPr id="15" name="Rectangle 14"/>
          <p:cNvSpPr/>
          <p:nvPr/>
        </p:nvSpPr>
        <p:spPr>
          <a:xfrm>
            <a:off x="8138160" y="3447288"/>
            <a:ext cx="3291840"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29600" y="3447288"/>
            <a:ext cx="1737360" cy="384048"/>
          </a:xfrm>
          <a:prstGeom prst="rect">
            <a:avLst/>
          </a:prstGeom>
          <a:noFill/>
        </p:spPr>
        <p:txBody>
          <a:bodyPr wrap="square" lIns="0" tIns="0" rIns="0" bIns="0" anchor="ctr">
            <a:spAutoFit/>
          </a:bodyPr>
          <a:lstStyle/>
          <a:p>
            <a:pPr algn="l"/>
            <a:r>
              <a:rPr sz="1100" b="0" i="0">
                <a:solidFill>
                  <a:srgbClr val="14213D"/>
                </a:solidFill>
                <a:latin typeface="Calibri"/>
              </a:rPr>
              <a:t>KNN Basic</a:t>
            </a:r>
          </a:p>
        </p:txBody>
      </p:sp>
      <p:sp>
        <p:nvSpPr>
          <p:cNvPr id="17" name="TextBox 16"/>
          <p:cNvSpPr txBox="1"/>
          <p:nvPr/>
        </p:nvSpPr>
        <p:spPr>
          <a:xfrm>
            <a:off x="9875520" y="3447288"/>
            <a:ext cx="777240" cy="384048"/>
          </a:xfrm>
          <a:prstGeom prst="rect">
            <a:avLst/>
          </a:prstGeom>
          <a:noFill/>
        </p:spPr>
        <p:txBody>
          <a:bodyPr wrap="square" lIns="0" tIns="0" rIns="0" bIns="0" anchor="ctr">
            <a:spAutoFit/>
          </a:bodyPr>
          <a:lstStyle/>
          <a:p>
            <a:pPr algn="ctr"/>
            <a:r>
              <a:rPr sz="1100" b="0" i="0">
                <a:solidFill>
                  <a:srgbClr val="14213D"/>
                </a:solidFill>
                <a:latin typeface="Consolas"/>
              </a:rPr>
              <a:t>0.97</a:t>
            </a:r>
          </a:p>
        </p:txBody>
      </p:sp>
      <p:sp>
        <p:nvSpPr>
          <p:cNvPr id="18" name="TextBox 17"/>
          <p:cNvSpPr txBox="1"/>
          <p:nvPr/>
        </p:nvSpPr>
        <p:spPr>
          <a:xfrm>
            <a:off x="10652760" y="3554673"/>
            <a:ext cx="777240" cy="169277"/>
          </a:xfrm>
          <a:prstGeom prst="rect">
            <a:avLst/>
          </a:prstGeom>
          <a:noFill/>
        </p:spPr>
        <p:txBody>
          <a:bodyPr wrap="square" lIns="0" tIns="0" rIns="0" bIns="0" anchor="ctr">
            <a:spAutoFit/>
          </a:bodyPr>
          <a:lstStyle/>
          <a:p>
            <a:pPr algn="ctr"/>
            <a:r>
              <a:rPr sz="1100" b="0" i="0" dirty="0">
                <a:solidFill>
                  <a:srgbClr val="14213D"/>
                </a:solidFill>
                <a:latin typeface="Consolas"/>
              </a:rPr>
              <a:t>0.7</a:t>
            </a:r>
            <a:r>
              <a:rPr lang="en-US" sz="1100" b="0" i="0" dirty="0">
                <a:solidFill>
                  <a:srgbClr val="14213D"/>
                </a:solidFill>
                <a:latin typeface="Consolas"/>
              </a:rPr>
              <a:t>6</a:t>
            </a:r>
            <a:endParaRPr sz="1100" b="0" i="0" dirty="0">
              <a:solidFill>
                <a:srgbClr val="14213D"/>
              </a:solidFill>
              <a:latin typeface="Consolas"/>
            </a:endParaRPr>
          </a:p>
        </p:txBody>
      </p:sp>
      <p:sp>
        <p:nvSpPr>
          <p:cNvPr id="19" name="Rectangle 18"/>
          <p:cNvSpPr/>
          <p:nvPr/>
        </p:nvSpPr>
        <p:spPr>
          <a:xfrm>
            <a:off x="8138160" y="3831336"/>
            <a:ext cx="3291840" cy="384048"/>
          </a:xfrm>
          <a:prstGeom prst="rect">
            <a:avLst/>
          </a:prstGeom>
          <a:solidFill>
            <a:srgbClr val="F5E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229600" y="3831336"/>
            <a:ext cx="1737360" cy="384048"/>
          </a:xfrm>
          <a:prstGeom prst="rect">
            <a:avLst/>
          </a:prstGeom>
          <a:noFill/>
        </p:spPr>
        <p:txBody>
          <a:bodyPr wrap="square" lIns="0" tIns="0" rIns="0" bIns="0" anchor="ctr">
            <a:spAutoFit/>
          </a:bodyPr>
          <a:lstStyle/>
          <a:p>
            <a:pPr algn="l"/>
            <a:r>
              <a:rPr sz="1100" b="0" i="0">
                <a:solidFill>
                  <a:srgbClr val="14213D"/>
                </a:solidFill>
                <a:latin typeface="Calibri"/>
              </a:rPr>
              <a:t>KNN With Means</a:t>
            </a:r>
          </a:p>
        </p:txBody>
      </p:sp>
      <p:sp>
        <p:nvSpPr>
          <p:cNvPr id="21" name="TextBox 20"/>
          <p:cNvSpPr txBox="1"/>
          <p:nvPr/>
        </p:nvSpPr>
        <p:spPr>
          <a:xfrm>
            <a:off x="9875520" y="3938721"/>
            <a:ext cx="777240" cy="169277"/>
          </a:xfrm>
          <a:prstGeom prst="rect">
            <a:avLst/>
          </a:prstGeom>
          <a:noFill/>
        </p:spPr>
        <p:txBody>
          <a:bodyPr wrap="square" lIns="0" tIns="0" rIns="0" bIns="0" anchor="ctr">
            <a:spAutoFit/>
          </a:bodyPr>
          <a:lstStyle/>
          <a:p>
            <a:pPr algn="ctr"/>
            <a:r>
              <a:rPr sz="1100" b="0" i="0" dirty="0">
                <a:solidFill>
                  <a:srgbClr val="14213D"/>
                </a:solidFill>
                <a:latin typeface="Consolas"/>
              </a:rPr>
              <a:t>0.9</a:t>
            </a:r>
            <a:r>
              <a:rPr lang="en-US" sz="1100" b="0" i="0" dirty="0">
                <a:solidFill>
                  <a:srgbClr val="14213D"/>
                </a:solidFill>
                <a:latin typeface="Consolas"/>
              </a:rPr>
              <a:t>1</a:t>
            </a:r>
            <a:endParaRPr sz="1100" b="0" i="0" dirty="0">
              <a:solidFill>
                <a:srgbClr val="14213D"/>
              </a:solidFill>
              <a:latin typeface="Consolas"/>
            </a:endParaRPr>
          </a:p>
        </p:txBody>
      </p:sp>
      <p:sp>
        <p:nvSpPr>
          <p:cNvPr id="22" name="TextBox 21"/>
          <p:cNvSpPr txBox="1"/>
          <p:nvPr/>
        </p:nvSpPr>
        <p:spPr>
          <a:xfrm>
            <a:off x="10652760" y="3831336"/>
            <a:ext cx="777240" cy="384048"/>
          </a:xfrm>
          <a:prstGeom prst="rect">
            <a:avLst/>
          </a:prstGeom>
          <a:noFill/>
        </p:spPr>
        <p:txBody>
          <a:bodyPr wrap="square" lIns="0" tIns="0" rIns="0" bIns="0" anchor="ctr">
            <a:spAutoFit/>
          </a:bodyPr>
          <a:lstStyle/>
          <a:p>
            <a:pPr algn="ctr"/>
            <a:r>
              <a:rPr sz="1100" b="0" i="0">
                <a:solidFill>
                  <a:srgbClr val="14213D"/>
                </a:solidFill>
                <a:latin typeface="Consolas"/>
              </a:rPr>
              <a:t>0.69</a:t>
            </a:r>
          </a:p>
        </p:txBody>
      </p:sp>
      <p:sp>
        <p:nvSpPr>
          <p:cNvPr id="23" name="Rectangle 22"/>
          <p:cNvSpPr/>
          <p:nvPr/>
        </p:nvSpPr>
        <p:spPr>
          <a:xfrm>
            <a:off x="8138160" y="4215384"/>
            <a:ext cx="3291840"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229600" y="4215384"/>
            <a:ext cx="1737360" cy="384048"/>
          </a:xfrm>
          <a:prstGeom prst="rect">
            <a:avLst/>
          </a:prstGeom>
          <a:noFill/>
        </p:spPr>
        <p:txBody>
          <a:bodyPr wrap="square" lIns="0" tIns="0" rIns="0" bIns="0" anchor="ctr">
            <a:spAutoFit/>
          </a:bodyPr>
          <a:lstStyle/>
          <a:p>
            <a:pPr algn="l"/>
            <a:r>
              <a:rPr sz="1100" b="0" i="0">
                <a:solidFill>
                  <a:srgbClr val="14213D"/>
                </a:solidFill>
                <a:latin typeface="Calibri"/>
              </a:rPr>
              <a:t>NMF</a:t>
            </a:r>
          </a:p>
        </p:txBody>
      </p:sp>
      <p:sp>
        <p:nvSpPr>
          <p:cNvPr id="25" name="TextBox 24"/>
          <p:cNvSpPr txBox="1"/>
          <p:nvPr/>
        </p:nvSpPr>
        <p:spPr>
          <a:xfrm>
            <a:off x="9875520" y="4215384"/>
            <a:ext cx="777240" cy="384048"/>
          </a:xfrm>
          <a:prstGeom prst="rect">
            <a:avLst/>
          </a:prstGeom>
          <a:noFill/>
        </p:spPr>
        <p:txBody>
          <a:bodyPr wrap="square" lIns="0" tIns="0" rIns="0" bIns="0" anchor="ctr">
            <a:spAutoFit/>
          </a:bodyPr>
          <a:lstStyle/>
          <a:p>
            <a:pPr algn="ctr"/>
            <a:r>
              <a:rPr sz="1100" b="0" i="0">
                <a:solidFill>
                  <a:srgbClr val="14213D"/>
                </a:solidFill>
                <a:latin typeface="Consolas"/>
              </a:rPr>
              <a:t>0.92</a:t>
            </a:r>
          </a:p>
        </p:txBody>
      </p:sp>
      <p:sp>
        <p:nvSpPr>
          <p:cNvPr id="26" name="TextBox 25"/>
          <p:cNvSpPr txBox="1"/>
          <p:nvPr/>
        </p:nvSpPr>
        <p:spPr>
          <a:xfrm>
            <a:off x="10652760" y="4215384"/>
            <a:ext cx="777240" cy="384048"/>
          </a:xfrm>
          <a:prstGeom prst="rect">
            <a:avLst/>
          </a:prstGeom>
          <a:noFill/>
        </p:spPr>
        <p:txBody>
          <a:bodyPr wrap="square" lIns="0" tIns="0" rIns="0" bIns="0" anchor="ctr">
            <a:spAutoFit/>
          </a:bodyPr>
          <a:lstStyle/>
          <a:p>
            <a:pPr algn="ctr"/>
            <a:r>
              <a:rPr sz="1100" b="0" i="0">
                <a:solidFill>
                  <a:srgbClr val="14213D"/>
                </a:solidFill>
                <a:latin typeface="Consolas"/>
              </a:rPr>
              <a:t>0.71</a:t>
            </a:r>
          </a:p>
        </p:txBody>
      </p:sp>
      <p:sp>
        <p:nvSpPr>
          <p:cNvPr id="27" name="Rectangle 26"/>
          <p:cNvSpPr/>
          <p:nvPr/>
        </p:nvSpPr>
        <p:spPr>
          <a:xfrm>
            <a:off x="8138160" y="4599432"/>
            <a:ext cx="3291840" cy="384048"/>
          </a:xfrm>
          <a:prstGeom prst="rect">
            <a:avLst/>
          </a:prstGeom>
          <a:solidFill>
            <a:srgbClr val="C73E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229600" y="4599432"/>
            <a:ext cx="1737360" cy="384048"/>
          </a:xfrm>
          <a:prstGeom prst="rect">
            <a:avLst/>
          </a:prstGeom>
          <a:noFill/>
        </p:spPr>
        <p:txBody>
          <a:bodyPr wrap="square" lIns="0" tIns="0" rIns="0" bIns="0" anchor="ctr">
            <a:spAutoFit/>
          </a:bodyPr>
          <a:lstStyle/>
          <a:p>
            <a:pPr algn="l"/>
            <a:r>
              <a:rPr sz="1100" b="1" i="0">
                <a:solidFill>
                  <a:srgbClr val="FFFFFF"/>
                </a:solidFill>
                <a:latin typeface="Calibri"/>
              </a:rPr>
              <a:t>SVD (tuned)</a:t>
            </a:r>
          </a:p>
        </p:txBody>
      </p:sp>
      <p:sp>
        <p:nvSpPr>
          <p:cNvPr id="29" name="TextBox 28"/>
          <p:cNvSpPr txBox="1"/>
          <p:nvPr/>
        </p:nvSpPr>
        <p:spPr>
          <a:xfrm>
            <a:off x="9875520" y="4599432"/>
            <a:ext cx="777240" cy="384048"/>
          </a:xfrm>
          <a:prstGeom prst="rect">
            <a:avLst/>
          </a:prstGeom>
          <a:noFill/>
        </p:spPr>
        <p:txBody>
          <a:bodyPr wrap="square" lIns="0" tIns="0" rIns="0" bIns="0" anchor="ctr">
            <a:spAutoFit/>
          </a:bodyPr>
          <a:lstStyle/>
          <a:p>
            <a:pPr algn="ctr"/>
            <a:r>
              <a:rPr sz="1100" b="1" i="0">
                <a:solidFill>
                  <a:srgbClr val="FFFFFF"/>
                </a:solidFill>
                <a:latin typeface="Consolas"/>
              </a:rPr>
              <a:t>0.87</a:t>
            </a:r>
          </a:p>
        </p:txBody>
      </p:sp>
      <p:sp>
        <p:nvSpPr>
          <p:cNvPr id="30" name="TextBox 29"/>
          <p:cNvSpPr txBox="1"/>
          <p:nvPr/>
        </p:nvSpPr>
        <p:spPr>
          <a:xfrm>
            <a:off x="10652760" y="4599432"/>
            <a:ext cx="777240" cy="384048"/>
          </a:xfrm>
          <a:prstGeom prst="rect">
            <a:avLst/>
          </a:prstGeom>
          <a:noFill/>
        </p:spPr>
        <p:txBody>
          <a:bodyPr wrap="square" lIns="0" tIns="0" rIns="0" bIns="0" anchor="ctr">
            <a:spAutoFit/>
          </a:bodyPr>
          <a:lstStyle/>
          <a:p>
            <a:pPr algn="ctr"/>
            <a:r>
              <a:rPr sz="1100" b="1" i="0">
                <a:solidFill>
                  <a:srgbClr val="FFFFFF"/>
                </a:solidFill>
                <a:latin typeface="Consolas"/>
              </a:rPr>
              <a:t>0.67</a:t>
            </a:r>
          </a:p>
        </p:txBody>
      </p:sp>
      <p:sp>
        <p:nvSpPr>
          <p:cNvPr id="31" name="TextBox 30"/>
          <p:cNvSpPr txBox="1"/>
          <p:nvPr/>
        </p:nvSpPr>
        <p:spPr>
          <a:xfrm>
            <a:off x="8138160" y="5166360"/>
            <a:ext cx="3291840" cy="1097280"/>
          </a:xfrm>
          <a:prstGeom prst="rect">
            <a:avLst/>
          </a:prstGeom>
          <a:noFill/>
        </p:spPr>
        <p:txBody>
          <a:bodyPr wrap="square" lIns="0" tIns="0" rIns="0" bIns="0" anchor="t">
            <a:spAutoFit/>
          </a:bodyPr>
          <a:lstStyle/>
          <a:p>
            <a:pPr algn="l">
              <a:lnSpc>
                <a:spcPct val="125000"/>
              </a:lnSpc>
            </a:pPr>
            <a:r>
              <a:rPr sz="1200" b="0" i="1">
                <a:solidFill>
                  <a:srgbClr val="1F2937"/>
                </a:solidFill>
                <a:latin typeface="Calibri"/>
              </a:rPr>
              <a:t>SVD beats KNN methods by</a:t>
            </a:r>
          </a:p>
          <a:p>
            <a:pPr algn="l">
              <a:lnSpc>
                <a:spcPct val="125000"/>
              </a:lnSpc>
            </a:pPr>
            <a:r>
              <a:rPr sz="1200" b="0" i="1">
                <a:solidFill>
                  <a:srgbClr val="1F2937"/>
                </a:solidFill>
                <a:latin typeface="Calibri"/>
              </a:rPr>
              <a:t>learning latent factors instead</a:t>
            </a:r>
          </a:p>
          <a:p>
            <a:pPr algn="l">
              <a:lnSpc>
                <a:spcPct val="125000"/>
              </a:lnSpc>
            </a:pPr>
            <a:r>
              <a:rPr sz="1200" b="0" i="1">
                <a:solidFill>
                  <a:srgbClr val="1F2937"/>
                </a:solidFill>
                <a:latin typeface="Calibri"/>
              </a:rPr>
              <a:t>of nearest-neighbor lookups.</a:t>
            </a:r>
          </a:p>
        </p:txBody>
      </p:sp>
      <p:sp>
        <p:nvSpPr>
          <p:cNvPr id="32" name="TextBox 31"/>
          <p:cNvSpPr txBox="1"/>
          <p:nvPr/>
        </p:nvSpPr>
        <p:spPr>
          <a:xfrm>
            <a:off x="11475720" y="6446520"/>
            <a:ext cx="640080" cy="138499"/>
          </a:xfrm>
          <a:prstGeom prst="rect">
            <a:avLst/>
          </a:prstGeom>
          <a:noFill/>
        </p:spPr>
        <p:txBody>
          <a:bodyPr wrap="square" lIns="0" tIns="0" rIns="0" bIns="0" anchor="t">
            <a:spAutoFit/>
          </a:bodyPr>
          <a:lstStyle/>
          <a:p>
            <a:pPr algn="r"/>
            <a:r>
              <a:rPr sz="900" b="0" i="0" dirty="0">
                <a:solidFill>
                  <a:srgbClr val="6B7280"/>
                </a:solidFill>
                <a:latin typeface="Calibri"/>
              </a:rPr>
              <a:t>1</a:t>
            </a:r>
            <a:r>
              <a:rPr lang="en-US" sz="900" b="0" i="0" dirty="0">
                <a:solidFill>
                  <a:srgbClr val="6B7280"/>
                </a:solidFill>
                <a:latin typeface="Calibri"/>
              </a:rPr>
              <a:t>3</a:t>
            </a:r>
            <a:r>
              <a:rPr sz="900" b="0" i="0" dirty="0">
                <a:solidFill>
                  <a:srgbClr val="6B7280"/>
                </a:solidFill>
                <a:latin typeface="Calibri"/>
              </a:rPr>
              <a:t> / 14</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164592"/>
            <a:ext cx="7315200" cy="246221"/>
          </a:xfrm>
          <a:prstGeom prst="rect">
            <a:avLst/>
          </a:prstGeom>
          <a:noFill/>
        </p:spPr>
        <p:txBody>
          <a:bodyPr wrap="square" lIns="0" tIns="0" rIns="0" bIns="0" anchor="t">
            <a:spAutoFit/>
          </a:bodyPr>
          <a:lstStyle/>
          <a:p>
            <a:pPr algn="l"/>
            <a:r>
              <a:rPr sz="1600" b="1" i="0" dirty="0">
                <a:solidFill>
                  <a:srgbClr val="C73E1D"/>
                </a:solidFill>
                <a:latin typeface="Cambria"/>
              </a:rPr>
              <a:t>MODELING</a:t>
            </a:r>
          </a:p>
        </p:txBody>
      </p:sp>
      <p:sp>
        <p:nvSpPr>
          <p:cNvPr id="3" name="TextBox 2"/>
          <p:cNvSpPr txBox="1"/>
          <p:nvPr/>
        </p:nvSpPr>
        <p:spPr>
          <a:xfrm>
            <a:off x="548640" y="365760"/>
            <a:ext cx="11064240" cy="553998"/>
          </a:xfrm>
          <a:prstGeom prst="rect">
            <a:avLst/>
          </a:prstGeom>
          <a:noFill/>
        </p:spPr>
        <p:txBody>
          <a:bodyPr wrap="square" lIns="0" tIns="0" rIns="0" bIns="0" anchor="t">
            <a:spAutoFit/>
          </a:bodyPr>
          <a:lstStyle/>
          <a:p>
            <a:pPr algn="l"/>
            <a:r>
              <a:rPr lang="en-US" sz="3600" b="1" dirty="0">
                <a:solidFill>
                  <a:srgbClr val="14213D"/>
                </a:solidFill>
                <a:latin typeface="Cambria"/>
              </a:rPr>
              <a:t>Model Performance</a:t>
            </a:r>
            <a:endParaRPr sz="3600" b="1" i="0" dirty="0">
              <a:solidFill>
                <a:srgbClr val="14213D"/>
              </a:solidFill>
              <a:latin typeface="Cambria"/>
            </a:endParaRPr>
          </a:p>
        </p:txBody>
      </p:sp>
      <p:sp>
        <p:nvSpPr>
          <p:cNvPr id="4" name="TextBox 3"/>
          <p:cNvSpPr txBox="1"/>
          <p:nvPr/>
        </p:nvSpPr>
        <p:spPr>
          <a:xfrm>
            <a:off x="563880" y="1668780"/>
            <a:ext cx="11064240" cy="411480"/>
          </a:xfrm>
          <a:prstGeom prst="rect">
            <a:avLst/>
          </a:prstGeom>
          <a:noFill/>
        </p:spPr>
        <p:txBody>
          <a:bodyPr wrap="square" lIns="0" tIns="0" rIns="0" bIns="0" anchor="t">
            <a:spAutoFit/>
          </a:bodyPr>
          <a:lstStyle/>
          <a:p>
            <a:pPr algn="l"/>
            <a:r>
              <a:rPr sz="1400" b="0" i="1" dirty="0">
                <a:solidFill>
                  <a:srgbClr val="6B7280"/>
                </a:solidFill>
                <a:latin typeface="Calibri"/>
              </a:rPr>
              <a:t>Four algorithms · 5-fold cross-validated · lower is better</a:t>
            </a:r>
          </a:p>
        </p:txBody>
      </p:sp>
      <p:sp>
        <p:nvSpPr>
          <p:cNvPr id="6" name="Rounded Rectangle 5"/>
          <p:cNvSpPr/>
          <p:nvPr/>
        </p:nvSpPr>
        <p:spPr>
          <a:xfrm>
            <a:off x="267285" y="4852183"/>
            <a:ext cx="11491327" cy="1868657"/>
          </a:xfrm>
          <a:prstGeom prst="roundRect">
            <a:avLst>
              <a:gd name="adj" fmla="val 4000"/>
            </a:avLst>
          </a:prstGeom>
          <a:solidFill>
            <a:srgbClr val="F5E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To better understand the reliability of our model, we visualize the relationship between actual user ratings and our system's predictions. In the scatter plot, the proximity of data points to the red diagonal line indicates high accuracy, representing cases where the model's estimate matches the user's true preference. Simultaneously, the distribution of prediction errors (residuals) allows us to check for bias; a symmetrical bell curve centered at zero confirms that the model’s mistakes are random and mostly minor, rather than consistently over-rating or under-rating films.</a:t>
            </a:r>
            <a:endParaRPr dirty="0">
              <a:solidFill>
                <a:schemeClr val="tx1"/>
              </a:solidFill>
            </a:endParaRPr>
          </a:p>
        </p:txBody>
      </p:sp>
      <p:sp>
        <p:nvSpPr>
          <p:cNvPr id="28" name="TextBox 27"/>
          <p:cNvSpPr txBox="1"/>
          <p:nvPr/>
        </p:nvSpPr>
        <p:spPr>
          <a:xfrm>
            <a:off x="8229600" y="4599432"/>
            <a:ext cx="1737360" cy="384048"/>
          </a:xfrm>
          <a:prstGeom prst="rect">
            <a:avLst/>
          </a:prstGeom>
          <a:noFill/>
        </p:spPr>
        <p:txBody>
          <a:bodyPr wrap="square" lIns="0" tIns="0" rIns="0" bIns="0" anchor="ctr">
            <a:spAutoFit/>
          </a:bodyPr>
          <a:lstStyle/>
          <a:p>
            <a:pPr algn="l"/>
            <a:r>
              <a:rPr sz="1100" b="1" i="0">
                <a:solidFill>
                  <a:srgbClr val="FFFFFF"/>
                </a:solidFill>
                <a:latin typeface="Calibri"/>
              </a:rPr>
              <a:t>SVD (tuned)</a:t>
            </a:r>
          </a:p>
        </p:txBody>
      </p:sp>
      <p:sp>
        <p:nvSpPr>
          <p:cNvPr id="29" name="TextBox 28"/>
          <p:cNvSpPr txBox="1"/>
          <p:nvPr/>
        </p:nvSpPr>
        <p:spPr>
          <a:xfrm>
            <a:off x="9875520" y="4599432"/>
            <a:ext cx="777240" cy="384048"/>
          </a:xfrm>
          <a:prstGeom prst="rect">
            <a:avLst/>
          </a:prstGeom>
          <a:noFill/>
        </p:spPr>
        <p:txBody>
          <a:bodyPr wrap="square" lIns="0" tIns="0" rIns="0" bIns="0" anchor="ctr">
            <a:spAutoFit/>
          </a:bodyPr>
          <a:lstStyle/>
          <a:p>
            <a:pPr algn="ctr"/>
            <a:r>
              <a:rPr sz="1100" b="1" i="0">
                <a:solidFill>
                  <a:srgbClr val="FFFFFF"/>
                </a:solidFill>
                <a:latin typeface="Consolas"/>
              </a:rPr>
              <a:t>0.87</a:t>
            </a:r>
          </a:p>
        </p:txBody>
      </p:sp>
      <p:sp>
        <p:nvSpPr>
          <p:cNvPr id="32" name="TextBox 31"/>
          <p:cNvSpPr txBox="1"/>
          <p:nvPr/>
        </p:nvSpPr>
        <p:spPr>
          <a:xfrm>
            <a:off x="11475720" y="6446520"/>
            <a:ext cx="640080" cy="138499"/>
          </a:xfrm>
          <a:prstGeom prst="rect">
            <a:avLst/>
          </a:prstGeom>
          <a:noFill/>
        </p:spPr>
        <p:txBody>
          <a:bodyPr wrap="square" lIns="0" tIns="0" rIns="0" bIns="0" anchor="t">
            <a:spAutoFit/>
          </a:bodyPr>
          <a:lstStyle/>
          <a:p>
            <a:pPr algn="r"/>
            <a:r>
              <a:rPr sz="900" b="0" i="0" dirty="0">
                <a:solidFill>
                  <a:srgbClr val="6B7280"/>
                </a:solidFill>
                <a:latin typeface="Calibri"/>
              </a:rPr>
              <a:t>1</a:t>
            </a:r>
            <a:r>
              <a:rPr lang="en-US" sz="900" b="0" i="0" dirty="0">
                <a:solidFill>
                  <a:srgbClr val="6B7280"/>
                </a:solidFill>
                <a:latin typeface="Calibri"/>
              </a:rPr>
              <a:t>4</a:t>
            </a:r>
            <a:r>
              <a:rPr sz="900" b="0" i="0" dirty="0">
                <a:solidFill>
                  <a:srgbClr val="6B7280"/>
                </a:solidFill>
                <a:latin typeface="Calibri"/>
              </a:rPr>
              <a:t> / 14</a:t>
            </a:r>
          </a:p>
        </p:txBody>
      </p:sp>
      <p:pic>
        <p:nvPicPr>
          <p:cNvPr id="33" name="Picture 32">
            <a:extLst>
              <a:ext uri="{FF2B5EF4-FFF2-40B4-BE49-F238E27FC236}">
                <a16:creationId xmlns:a16="http://schemas.microsoft.com/office/drawing/2014/main" id="{719BA824-0AB2-4ADC-A10F-1797CC477934}"/>
              </a:ext>
            </a:extLst>
          </p:cNvPr>
          <p:cNvPicPr>
            <a:picLocks noChangeAspect="1"/>
          </p:cNvPicPr>
          <p:nvPr/>
        </p:nvPicPr>
        <p:blipFill>
          <a:blip r:embed="rId3"/>
          <a:stretch>
            <a:fillRect/>
          </a:stretch>
        </p:blipFill>
        <p:spPr>
          <a:xfrm>
            <a:off x="433387" y="994200"/>
            <a:ext cx="11042333" cy="3783541"/>
          </a:xfrm>
          <a:prstGeom prst="rect">
            <a:avLst/>
          </a:prstGeom>
        </p:spPr>
      </p:pic>
    </p:spTree>
    <p:extLst>
      <p:ext uri="{BB962C8B-B14F-4D97-AF65-F5344CB8AC3E}">
        <p14:creationId xmlns:p14="http://schemas.microsoft.com/office/powerpoint/2010/main" val="5123521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164592"/>
            <a:ext cx="7315200" cy="246221"/>
          </a:xfrm>
          <a:prstGeom prst="rect">
            <a:avLst/>
          </a:prstGeom>
          <a:noFill/>
        </p:spPr>
        <p:txBody>
          <a:bodyPr wrap="square" lIns="0" tIns="0" rIns="0" bIns="0" anchor="t">
            <a:spAutoFit/>
          </a:bodyPr>
          <a:lstStyle/>
          <a:p>
            <a:pPr algn="l"/>
            <a:r>
              <a:rPr lang="en-US" sz="1600" b="1" i="0" dirty="0">
                <a:solidFill>
                  <a:srgbClr val="C73E1D"/>
                </a:solidFill>
                <a:latin typeface="Cambria"/>
              </a:rPr>
              <a:t>DEMO</a:t>
            </a:r>
            <a:endParaRPr sz="1600" b="1" i="0" dirty="0">
              <a:solidFill>
                <a:srgbClr val="C73E1D"/>
              </a:solidFill>
              <a:latin typeface="Cambria"/>
            </a:endParaRPr>
          </a:p>
        </p:txBody>
      </p:sp>
      <p:sp>
        <p:nvSpPr>
          <p:cNvPr id="3" name="TextBox 2"/>
          <p:cNvSpPr txBox="1"/>
          <p:nvPr/>
        </p:nvSpPr>
        <p:spPr>
          <a:xfrm>
            <a:off x="548640" y="365760"/>
            <a:ext cx="11064240" cy="553998"/>
          </a:xfrm>
          <a:prstGeom prst="rect">
            <a:avLst/>
          </a:prstGeom>
          <a:noFill/>
        </p:spPr>
        <p:txBody>
          <a:bodyPr wrap="square" lIns="0" tIns="0" rIns="0" bIns="0" anchor="t">
            <a:spAutoFit/>
          </a:bodyPr>
          <a:lstStyle/>
          <a:p>
            <a:pPr algn="l"/>
            <a:r>
              <a:rPr lang="en-US" sz="3600" b="1" dirty="0">
                <a:solidFill>
                  <a:srgbClr val="14213D"/>
                </a:solidFill>
                <a:latin typeface="Cambria"/>
              </a:rPr>
              <a:t>User 5 – Top 5 Highest Rated Movies</a:t>
            </a:r>
            <a:endParaRPr sz="3600" b="1" i="0" dirty="0">
              <a:solidFill>
                <a:srgbClr val="14213D"/>
              </a:solidFill>
              <a:latin typeface="Cambria"/>
            </a:endParaRPr>
          </a:p>
        </p:txBody>
      </p:sp>
      <p:cxnSp>
        <p:nvCxnSpPr>
          <p:cNvPr id="18" name="Connector 17"/>
          <p:cNvCxnSpPr/>
          <p:nvPr/>
        </p:nvCxnSpPr>
        <p:spPr>
          <a:xfrm>
            <a:off x="5257800" y="4297680"/>
            <a:ext cx="0" cy="228600"/>
          </a:xfrm>
          <a:prstGeom prst="line">
            <a:avLst/>
          </a:prstGeom>
          <a:ln w="19050">
            <a:solidFill>
              <a:srgbClr val="9B2E14"/>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3181532" y="6496594"/>
            <a:ext cx="5120640" cy="169277"/>
          </a:xfrm>
          <a:prstGeom prst="rect">
            <a:avLst/>
          </a:prstGeom>
          <a:noFill/>
        </p:spPr>
        <p:txBody>
          <a:bodyPr wrap="square" lIns="0" tIns="0" rIns="0" bIns="0" anchor="t">
            <a:spAutoFit/>
          </a:bodyPr>
          <a:lstStyle/>
          <a:p>
            <a:pPr algn="ctr"/>
            <a:r>
              <a:rPr sz="1100" b="0" i="1" dirty="0">
                <a:solidFill>
                  <a:srgbClr val="6B7280"/>
                </a:solidFill>
                <a:latin typeface="Calibri"/>
              </a:rPr>
              <a:t>Sample top-5 for User 5 </a:t>
            </a:r>
            <a:r>
              <a:rPr lang="en-US" sz="1100" i="1" dirty="0">
                <a:solidFill>
                  <a:srgbClr val="6B7280"/>
                </a:solidFill>
                <a:latin typeface="Calibri"/>
              </a:rPr>
              <a:t>Highest Rated Movies</a:t>
            </a:r>
            <a:endParaRPr sz="1100" b="0" i="1" dirty="0">
              <a:solidFill>
                <a:srgbClr val="6B7280"/>
              </a:solidFill>
              <a:latin typeface="Calibri"/>
            </a:endParaRPr>
          </a:p>
        </p:txBody>
      </p:sp>
      <p:sp>
        <p:nvSpPr>
          <p:cNvPr id="24" name="TextBox 23"/>
          <p:cNvSpPr txBox="1"/>
          <p:nvPr/>
        </p:nvSpPr>
        <p:spPr>
          <a:xfrm>
            <a:off x="11475720" y="6446520"/>
            <a:ext cx="640080" cy="138499"/>
          </a:xfrm>
          <a:prstGeom prst="rect">
            <a:avLst/>
          </a:prstGeom>
          <a:noFill/>
        </p:spPr>
        <p:txBody>
          <a:bodyPr wrap="square" lIns="0" tIns="0" rIns="0" bIns="0" anchor="t">
            <a:spAutoFit/>
          </a:bodyPr>
          <a:lstStyle/>
          <a:p>
            <a:pPr algn="r"/>
            <a:r>
              <a:rPr sz="900" b="0" i="0" dirty="0">
                <a:solidFill>
                  <a:srgbClr val="6B7280"/>
                </a:solidFill>
                <a:latin typeface="Calibri"/>
              </a:rPr>
              <a:t>1</a:t>
            </a:r>
            <a:r>
              <a:rPr lang="en-US" sz="900" b="0" i="0" dirty="0">
                <a:solidFill>
                  <a:srgbClr val="6B7280"/>
                </a:solidFill>
                <a:latin typeface="Calibri"/>
              </a:rPr>
              <a:t>8</a:t>
            </a:r>
            <a:r>
              <a:rPr sz="900" b="0" i="0" dirty="0">
                <a:solidFill>
                  <a:srgbClr val="6B7280"/>
                </a:solidFill>
                <a:latin typeface="Calibri"/>
              </a:rPr>
              <a:t> / 14</a:t>
            </a:r>
          </a:p>
        </p:txBody>
      </p:sp>
      <p:graphicFrame>
        <p:nvGraphicFramePr>
          <p:cNvPr id="6" name="Table 5">
            <a:extLst>
              <a:ext uri="{FF2B5EF4-FFF2-40B4-BE49-F238E27FC236}">
                <a16:creationId xmlns:a16="http://schemas.microsoft.com/office/drawing/2014/main" id="{D3FAD6EE-95B5-4464-A5B7-EC12456AEEA1}"/>
              </a:ext>
            </a:extLst>
          </p:cNvPr>
          <p:cNvGraphicFramePr>
            <a:graphicFrameLocks noGrp="1"/>
          </p:cNvGraphicFramePr>
          <p:nvPr>
            <p:extLst>
              <p:ext uri="{D42A27DB-BD31-4B8C-83A1-F6EECF244321}">
                <p14:modId xmlns:p14="http://schemas.microsoft.com/office/powerpoint/2010/main" val="1309081029"/>
              </p:ext>
            </p:extLst>
          </p:nvPr>
        </p:nvGraphicFramePr>
        <p:xfrm>
          <a:off x="1319724" y="1902507"/>
          <a:ext cx="9552551" cy="3611338"/>
        </p:xfrm>
        <a:graphic>
          <a:graphicData uri="http://schemas.openxmlformats.org/drawingml/2006/table">
            <a:tbl>
              <a:tblPr firstRow="1" bandRow="1">
                <a:tableStyleId>{5C22544A-7EE6-4342-B048-85BDC9FD1C3A}</a:tableStyleId>
              </a:tblPr>
              <a:tblGrid>
                <a:gridCol w="1033036">
                  <a:extLst>
                    <a:ext uri="{9D8B030D-6E8A-4147-A177-3AD203B41FA5}">
                      <a16:colId xmlns:a16="http://schemas.microsoft.com/office/drawing/2014/main" val="1686909536"/>
                    </a:ext>
                  </a:extLst>
                </a:gridCol>
                <a:gridCol w="5881709">
                  <a:extLst>
                    <a:ext uri="{9D8B030D-6E8A-4147-A177-3AD203B41FA5}">
                      <a16:colId xmlns:a16="http://schemas.microsoft.com/office/drawing/2014/main" val="1899540560"/>
                    </a:ext>
                  </a:extLst>
                </a:gridCol>
                <a:gridCol w="2637806">
                  <a:extLst>
                    <a:ext uri="{9D8B030D-6E8A-4147-A177-3AD203B41FA5}">
                      <a16:colId xmlns:a16="http://schemas.microsoft.com/office/drawing/2014/main" val="2388934442"/>
                    </a:ext>
                  </a:extLst>
                </a:gridCol>
              </a:tblGrid>
              <a:tr h="595003">
                <a:tc>
                  <a:txBody>
                    <a:bodyPr/>
                    <a:lstStyle/>
                    <a:p>
                      <a:r>
                        <a:rPr lang="en-US" dirty="0"/>
                        <a:t> </a:t>
                      </a:r>
                      <a:endParaRPr lang="en-GB" dirty="0"/>
                    </a:p>
                  </a:txBody>
                  <a:tcPr/>
                </a:tc>
                <a:tc>
                  <a:txBody>
                    <a:bodyPr/>
                    <a:lstStyle/>
                    <a:p>
                      <a:r>
                        <a:rPr lang="en-US" dirty="0"/>
                        <a:t>TITLE</a:t>
                      </a:r>
                      <a:endParaRPr lang="en-GB" dirty="0"/>
                    </a:p>
                  </a:txBody>
                  <a:tcPr/>
                </a:tc>
                <a:tc>
                  <a:txBody>
                    <a:bodyPr/>
                    <a:lstStyle/>
                    <a:p>
                      <a:r>
                        <a:rPr lang="en-US" dirty="0"/>
                        <a:t>RATING</a:t>
                      </a:r>
                      <a:endParaRPr lang="en-GB" dirty="0"/>
                    </a:p>
                  </a:txBody>
                  <a:tcPr/>
                </a:tc>
                <a:extLst>
                  <a:ext uri="{0D108BD9-81ED-4DB2-BD59-A6C34878D82A}">
                    <a16:rowId xmlns:a16="http://schemas.microsoft.com/office/drawing/2014/main" val="3916406960"/>
                  </a:ext>
                </a:extLst>
              </a:tr>
              <a:tr h="603267">
                <a:tc>
                  <a:txBody>
                    <a:bodyPr/>
                    <a:lstStyle/>
                    <a:p>
                      <a:r>
                        <a:rPr lang="en-US" dirty="0"/>
                        <a:t>1</a:t>
                      </a:r>
                      <a:endParaRPr lang="en-GB" dirty="0"/>
                    </a:p>
                  </a:txBody>
                  <a:tcPr/>
                </a:tc>
                <a:tc>
                  <a:txBody>
                    <a:bodyPr/>
                    <a:lstStyle/>
                    <a:p>
                      <a:r>
                        <a:rPr lang="en-US" dirty="0"/>
                        <a:t>Dance with Wolves(1990)</a:t>
                      </a:r>
                      <a:endParaRPr lang="en-GB" dirty="0"/>
                    </a:p>
                  </a:txBody>
                  <a:tcPr/>
                </a:tc>
                <a:tc>
                  <a:txBody>
                    <a:bodyPr/>
                    <a:lstStyle/>
                    <a:p>
                      <a:r>
                        <a:rPr lang="en-US" dirty="0"/>
                        <a:t>5.0</a:t>
                      </a:r>
                      <a:endParaRPr lang="en-GB" dirty="0"/>
                    </a:p>
                  </a:txBody>
                  <a:tcPr/>
                </a:tc>
                <a:extLst>
                  <a:ext uri="{0D108BD9-81ED-4DB2-BD59-A6C34878D82A}">
                    <a16:rowId xmlns:a16="http://schemas.microsoft.com/office/drawing/2014/main" val="3797906306"/>
                  </a:ext>
                </a:extLst>
              </a:tr>
              <a:tr h="603267">
                <a:tc>
                  <a:txBody>
                    <a:bodyPr/>
                    <a:lstStyle/>
                    <a:p>
                      <a:r>
                        <a:rPr lang="en-US" dirty="0"/>
                        <a:t>2</a:t>
                      </a:r>
                      <a:endParaRPr lang="en-GB" dirty="0"/>
                    </a:p>
                  </a:txBody>
                  <a:tcPr/>
                </a:tc>
                <a:tc>
                  <a:txBody>
                    <a:bodyPr/>
                    <a:lstStyle/>
                    <a:p>
                      <a:r>
                        <a:rPr lang="en-US" dirty="0"/>
                        <a:t>In the Name of the Father(1993)</a:t>
                      </a:r>
                      <a:endParaRPr lang="en-GB" dirty="0"/>
                    </a:p>
                  </a:txBody>
                  <a:tcPr/>
                </a:tc>
                <a:tc>
                  <a:txBody>
                    <a:bodyPr/>
                    <a:lstStyle/>
                    <a:p>
                      <a:r>
                        <a:rPr lang="en-US" dirty="0"/>
                        <a:t>5.0</a:t>
                      </a:r>
                      <a:endParaRPr lang="en-GB" dirty="0"/>
                    </a:p>
                  </a:txBody>
                  <a:tcPr/>
                </a:tc>
                <a:extLst>
                  <a:ext uri="{0D108BD9-81ED-4DB2-BD59-A6C34878D82A}">
                    <a16:rowId xmlns:a16="http://schemas.microsoft.com/office/drawing/2014/main" val="781450792"/>
                  </a:ext>
                </a:extLst>
              </a:tr>
              <a:tr h="603267">
                <a:tc>
                  <a:txBody>
                    <a:bodyPr/>
                    <a:lstStyle/>
                    <a:p>
                      <a:r>
                        <a:rPr lang="en-US" dirty="0"/>
                        <a:t>3</a:t>
                      </a:r>
                      <a:endParaRPr lang="en-GB" dirty="0"/>
                    </a:p>
                  </a:txBody>
                  <a:tcPr/>
                </a:tc>
                <a:tc>
                  <a:txBody>
                    <a:bodyPr/>
                    <a:lstStyle/>
                    <a:p>
                      <a:r>
                        <a:rPr lang="en-US" dirty="0"/>
                        <a:t>Schindler’s List(1993)</a:t>
                      </a:r>
                      <a:endParaRPr lang="en-GB" dirty="0"/>
                    </a:p>
                  </a:txBody>
                  <a:tcPr/>
                </a:tc>
                <a:tc>
                  <a:txBody>
                    <a:bodyPr/>
                    <a:lstStyle/>
                    <a:p>
                      <a:r>
                        <a:rPr lang="en-US" dirty="0"/>
                        <a:t>5.0</a:t>
                      </a:r>
                      <a:endParaRPr lang="en-GB" dirty="0"/>
                    </a:p>
                  </a:txBody>
                  <a:tcPr/>
                </a:tc>
                <a:extLst>
                  <a:ext uri="{0D108BD9-81ED-4DB2-BD59-A6C34878D82A}">
                    <a16:rowId xmlns:a16="http://schemas.microsoft.com/office/drawing/2014/main" val="2171977536"/>
                  </a:ext>
                </a:extLst>
              </a:tr>
              <a:tr h="603267">
                <a:tc>
                  <a:txBody>
                    <a:bodyPr/>
                    <a:lstStyle/>
                    <a:p>
                      <a:r>
                        <a:rPr lang="en-US" dirty="0"/>
                        <a:t>4</a:t>
                      </a:r>
                      <a:endParaRPr lang="en-GB" dirty="0"/>
                    </a:p>
                  </a:txBody>
                  <a:tcPr/>
                </a:tc>
                <a:tc>
                  <a:txBody>
                    <a:bodyPr/>
                    <a:lstStyle/>
                    <a:p>
                      <a:r>
                        <a:rPr lang="en-US" dirty="0"/>
                        <a:t>Postman, The (Postino, II)(1994)</a:t>
                      </a:r>
                      <a:endParaRPr lang="en-GB" dirty="0"/>
                    </a:p>
                  </a:txBody>
                  <a:tcPr/>
                </a:tc>
                <a:tc>
                  <a:txBody>
                    <a:bodyPr/>
                    <a:lstStyle/>
                    <a:p>
                      <a:r>
                        <a:rPr lang="en-US" dirty="0"/>
                        <a:t>5.0</a:t>
                      </a:r>
                      <a:endParaRPr lang="en-GB" dirty="0"/>
                    </a:p>
                  </a:txBody>
                  <a:tcPr/>
                </a:tc>
                <a:extLst>
                  <a:ext uri="{0D108BD9-81ED-4DB2-BD59-A6C34878D82A}">
                    <a16:rowId xmlns:a16="http://schemas.microsoft.com/office/drawing/2014/main" val="3182544813"/>
                  </a:ext>
                </a:extLst>
              </a:tr>
              <a:tr h="603267">
                <a:tc>
                  <a:txBody>
                    <a:bodyPr/>
                    <a:lstStyle/>
                    <a:p>
                      <a:r>
                        <a:rPr lang="en-US" dirty="0"/>
                        <a:t>5</a:t>
                      </a:r>
                      <a:endParaRPr lang="en-GB" dirty="0"/>
                    </a:p>
                  </a:txBody>
                  <a:tcPr/>
                </a:tc>
                <a:tc>
                  <a:txBody>
                    <a:bodyPr/>
                    <a:lstStyle/>
                    <a:p>
                      <a:r>
                        <a:rPr lang="en-US" dirty="0"/>
                        <a:t>Pinocchio(1940)</a:t>
                      </a:r>
                      <a:endParaRPr lang="en-GB" dirty="0"/>
                    </a:p>
                  </a:txBody>
                  <a:tcPr/>
                </a:tc>
                <a:tc>
                  <a:txBody>
                    <a:bodyPr/>
                    <a:lstStyle/>
                    <a:p>
                      <a:r>
                        <a:rPr lang="en-US" dirty="0"/>
                        <a:t>5.0</a:t>
                      </a:r>
                      <a:endParaRPr lang="en-GB" dirty="0"/>
                    </a:p>
                  </a:txBody>
                  <a:tcPr/>
                </a:tc>
                <a:extLst>
                  <a:ext uri="{0D108BD9-81ED-4DB2-BD59-A6C34878D82A}">
                    <a16:rowId xmlns:a16="http://schemas.microsoft.com/office/drawing/2014/main" val="1783441348"/>
                  </a:ext>
                </a:extLst>
              </a:tr>
            </a:tbl>
          </a:graphicData>
        </a:graphic>
      </p:graphicFrame>
    </p:spTree>
    <p:extLst>
      <p:ext uri="{BB962C8B-B14F-4D97-AF65-F5344CB8AC3E}">
        <p14:creationId xmlns:p14="http://schemas.microsoft.com/office/powerpoint/2010/main" val="28120339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213360"/>
            <a:ext cx="7315200" cy="246221"/>
          </a:xfrm>
          <a:prstGeom prst="rect">
            <a:avLst/>
          </a:prstGeom>
          <a:noFill/>
        </p:spPr>
        <p:txBody>
          <a:bodyPr wrap="square" lIns="0" tIns="0" rIns="0" bIns="0" anchor="t">
            <a:spAutoFit/>
          </a:bodyPr>
          <a:lstStyle/>
          <a:p>
            <a:pPr algn="l"/>
            <a:r>
              <a:rPr lang="en-US" sz="1600" b="1" i="0" dirty="0">
                <a:solidFill>
                  <a:srgbClr val="C73E1D"/>
                </a:solidFill>
                <a:latin typeface="Cambria"/>
              </a:rPr>
              <a:t>DEMO</a:t>
            </a:r>
            <a:endParaRPr sz="1600" b="1" i="0" dirty="0">
              <a:solidFill>
                <a:srgbClr val="C73E1D"/>
              </a:solidFill>
              <a:latin typeface="Cambria"/>
            </a:endParaRPr>
          </a:p>
        </p:txBody>
      </p:sp>
      <p:sp>
        <p:nvSpPr>
          <p:cNvPr id="3" name="TextBox 2"/>
          <p:cNvSpPr txBox="1"/>
          <p:nvPr/>
        </p:nvSpPr>
        <p:spPr>
          <a:xfrm>
            <a:off x="548640" y="365760"/>
            <a:ext cx="11064240" cy="553998"/>
          </a:xfrm>
          <a:prstGeom prst="rect">
            <a:avLst/>
          </a:prstGeom>
          <a:noFill/>
        </p:spPr>
        <p:txBody>
          <a:bodyPr wrap="square" lIns="0" tIns="0" rIns="0" bIns="0" anchor="t">
            <a:spAutoFit/>
          </a:bodyPr>
          <a:lstStyle/>
          <a:p>
            <a:pPr algn="l"/>
            <a:r>
              <a:rPr lang="en-US" sz="3600" b="1" dirty="0">
                <a:solidFill>
                  <a:srgbClr val="14213D"/>
                </a:solidFill>
                <a:latin typeface="Cambria"/>
              </a:rPr>
              <a:t>Top 5 Recommendations for User 5</a:t>
            </a:r>
            <a:endParaRPr sz="3600" b="1" i="0" dirty="0">
              <a:solidFill>
                <a:srgbClr val="14213D"/>
              </a:solidFill>
              <a:latin typeface="Cambria"/>
            </a:endParaRPr>
          </a:p>
        </p:txBody>
      </p:sp>
      <p:cxnSp>
        <p:nvCxnSpPr>
          <p:cNvPr id="18" name="Connector 17"/>
          <p:cNvCxnSpPr/>
          <p:nvPr/>
        </p:nvCxnSpPr>
        <p:spPr>
          <a:xfrm>
            <a:off x="5257800" y="4297680"/>
            <a:ext cx="0" cy="228600"/>
          </a:xfrm>
          <a:prstGeom prst="line">
            <a:avLst/>
          </a:prstGeom>
          <a:ln w="19050">
            <a:solidFill>
              <a:srgbClr val="9B2E14"/>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3181532" y="6496594"/>
            <a:ext cx="5120640" cy="169277"/>
          </a:xfrm>
          <a:prstGeom prst="rect">
            <a:avLst/>
          </a:prstGeom>
          <a:noFill/>
        </p:spPr>
        <p:txBody>
          <a:bodyPr wrap="square" lIns="0" tIns="0" rIns="0" bIns="0" anchor="t">
            <a:spAutoFit/>
          </a:bodyPr>
          <a:lstStyle/>
          <a:p>
            <a:pPr algn="ctr"/>
            <a:r>
              <a:rPr sz="1100" b="0" i="1" dirty="0">
                <a:solidFill>
                  <a:srgbClr val="6B7280"/>
                </a:solidFill>
                <a:latin typeface="Calibri"/>
              </a:rPr>
              <a:t>Sample top-5 for User 5 </a:t>
            </a:r>
            <a:r>
              <a:rPr lang="en-US" sz="1100" b="0" i="1" dirty="0">
                <a:solidFill>
                  <a:srgbClr val="6B7280"/>
                </a:solidFill>
                <a:latin typeface="Calibri"/>
              </a:rPr>
              <a:t>Movie Recommendations</a:t>
            </a:r>
            <a:endParaRPr sz="1100" b="0" i="1" dirty="0">
              <a:solidFill>
                <a:srgbClr val="6B7280"/>
              </a:solidFill>
              <a:latin typeface="Calibri"/>
            </a:endParaRPr>
          </a:p>
        </p:txBody>
      </p:sp>
      <p:sp>
        <p:nvSpPr>
          <p:cNvPr id="24" name="TextBox 23"/>
          <p:cNvSpPr txBox="1"/>
          <p:nvPr/>
        </p:nvSpPr>
        <p:spPr>
          <a:xfrm>
            <a:off x="11475720" y="6446520"/>
            <a:ext cx="640080" cy="138499"/>
          </a:xfrm>
          <a:prstGeom prst="rect">
            <a:avLst/>
          </a:prstGeom>
          <a:noFill/>
        </p:spPr>
        <p:txBody>
          <a:bodyPr wrap="square" lIns="0" tIns="0" rIns="0" bIns="0" anchor="t">
            <a:spAutoFit/>
          </a:bodyPr>
          <a:lstStyle/>
          <a:p>
            <a:pPr algn="r"/>
            <a:r>
              <a:rPr sz="900" b="0" i="0" dirty="0">
                <a:solidFill>
                  <a:srgbClr val="6B7280"/>
                </a:solidFill>
                <a:latin typeface="Calibri"/>
              </a:rPr>
              <a:t>1</a:t>
            </a:r>
            <a:r>
              <a:rPr lang="en-US" sz="900" b="0" i="0" dirty="0">
                <a:solidFill>
                  <a:srgbClr val="6B7280"/>
                </a:solidFill>
                <a:latin typeface="Calibri"/>
              </a:rPr>
              <a:t>8</a:t>
            </a:r>
            <a:r>
              <a:rPr sz="900" b="0" i="0" dirty="0">
                <a:solidFill>
                  <a:srgbClr val="6B7280"/>
                </a:solidFill>
                <a:latin typeface="Calibri"/>
              </a:rPr>
              <a:t> / 14</a:t>
            </a:r>
          </a:p>
        </p:txBody>
      </p:sp>
      <p:graphicFrame>
        <p:nvGraphicFramePr>
          <p:cNvPr id="6" name="Table 5">
            <a:extLst>
              <a:ext uri="{FF2B5EF4-FFF2-40B4-BE49-F238E27FC236}">
                <a16:creationId xmlns:a16="http://schemas.microsoft.com/office/drawing/2014/main" id="{D3FAD6EE-95B5-4464-A5B7-EC12456AEEA1}"/>
              </a:ext>
            </a:extLst>
          </p:cNvPr>
          <p:cNvGraphicFramePr>
            <a:graphicFrameLocks noGrp="1"/>
          </p:cNvGraphicFramePr>
          <p:nvPr>
            <p:extLst>
              <p:ext uri="{D42A27DB-BD31-4B8C-83A1-F6EECF244321}">
                <p14:modId xmlns:p14="http://schemas.microsoft.com/office/powerpoint/2010/main" val="1294528037"/>
              </p:ext>
            </p:extLst>
          </p:nvPr>
        </p:nvGraphicFramePr>
        <p:xfrm>
          <a:off x="1191942" y="1900099"/>
          <a:ext cx="9552551" cy="3611338"/>
        </p:xfrm>
        <a:graphic>
          <a:graphicData uri="http://schemas.openxmlformats.org/drawingml/2006/table">
            <a:tbl>
              <a:tblPr firstRow="1" bandRow="1">
                <a:tableStyleId>{5C22544A-7EE6-4342-B048-85BDC9FD1C3A}</a:tableStyleId>
              </a:tblPr>
              <a:tblGrid>
                <a:gridCol w="1033036">
                  <a:extLst>
                    <a:ext uri="{9D8B030D-6E8A-4147-A177-3AD203B41FA5}">
                      <a16:colId xmlns:a16="http://schemas.microsoft.com/office/drawing/2014/main" val="1686909536"/>
                    </a:ext>
                  </a:extLst>
                </a:gridCol>
                <a:gridCol w="5881709">
                  <a:extLst>
                    <a:ext uri="{9D8B030D-6E8A-4147-A177-3AD203B41FA5}">
                      <a16:colId xmlns:a16="http://schemas.microsoft.com/office/drawing/2014/main" val="1899540560"/>
                    </a:ext>
                  </a:extLst>
                </a:gridCol>
                <a:gridCol w="2637806">
                  <a:extLst>
                    <a:ext uri="{9D8B030D-6E8A-4147-A177-3AD203B41FA5}">
                      <a16:colId xmlns:a16="http://schemas.microsoft.com/office/drawing/2014/main" val="2388934442"/>
                    </a:ext>
                  </a:extLst>
                </a:gridCol>
              </a:tblGrid>
              <a:tr h="595003">
                <a:tc>
                  <a:txBody>
                    <a:bodyPr/>
                    <a:lstStyle/>
                    <a:p>
                      <a:r>
                        <a:rPr lang="en-US" dirty="0"/>
                        <a:t> </a:t>
                      </a:r>
                      <a:endParaRPr lang="en-GB" dirty="0"/>
                    </a:p>
                  </a:txBody>
                  <a:tcPr/>
                </a:tc>
                <a:tc>
                  <a:txBody>
                    <a:bodyPr/>
                    <a:lstStyle/>
                    <a:p>
                      <a:r>
                        <a:rPr lang="en-US" dirty="0"/>
                        <a:t>TITLE</a:t>
                      </a:r>
                      <a:endParaRPr lang="en-GB" dirty="0"/>
                    </a:p>
                  </a:txBody>
                  <a:tcPr/>
                </a:tc>
                <a:tc>
                  <a:txBody>
                    <a:bodyPr/>
                    <a:lstStyle/>
                    <a:p>
                      <a:r>
                        <a:rPr lang="en-US" dirty="0"/>
                        <a:t>PREDICTED_RATING</a:t>
                      </a:r>
                      <a:endParaRPr lang="en-GB" dirty="0"/>
                    </a:p>
                  </a:txBody>
                  <a:tcPr/>
                </a:tc>
                <a:extLst>
                  <a:ext uri="{0D108BD9-81ED-4DB2-BD59-A6C34878D82A}">
                    <a16:rowId xmlns:a16="http://schemas.microsoft.com/office/drawing/2014/main" val="3916406960"/>
                  </a:ext>
                </a:extLst>
              </a:tr>
              <a:tr h="603267">
                <a:tc>
                  <a:txBody>
                    <a:bodyPr/>
                    <a:lstStyle/>
                    <a:p>
                      <a:r>
                        <a:rPr lang="en-US" dirty="0"/>
                        <a:t>1</a:t>
                      </a:r>
                      <a:endParaRPr lang="en-GB" dirty="0"/>
                    </a:p>
                  </a:txBody>
                  <a:tcPr/>
                </a:tc>
                <a:tc>
                  <a:txBody>
                    <a:bodyPr/>
                    <a:lstStyle/>
                    <a:p>
                      <a:r>
                        <a:rPr lang="en-US" dirty="0"/>
                        <a:t>Outlaw Josey Wales, The(1976)</a:t>
                      </a:r>
                      <a:endParaRPr lang="en-GB" dirty="0"/>
                    </a:p>
                  </a:txBody>
                  <a:tcPr/>
                </a:tc>
                <a:tc>
                  <a:txBody>
                    <a:bodyPr/>
                    <a:lstStyle/>
                    <a:p>
                      <a:r>
                        <a:rPr lang="en-US" dirty="0"/>
                        <a:t>3.23</a:t>
                      </a:r>
                      <a:endParaRPr lang="en-GB" dirty="0"/>
                    </a:p>
                  </a:txBody>
                  <a:tcPr/>
                </a:tc>
                <a:extLst>
                  <a:ext uri="{0D108BD9-81ED-4DB2-BD59-A6C34878D82A}">
                    <a16:rowId xmlns:a16="http://schemas.microsoft.com/office/drawing/2014/main" val="3797906306"/>
                  </a:ext>
                </a:extLst>
              </a:tr>
              <a:tr h="603267">
                <a:tc>
                  <a:txBody>
                    <a:bodyPr/>
                    <a:lstStyle/>
                    <a:p>
                      <a:r>
                        <a:rPr lang="en-US" dirty="0"/>
                        <a:t>2</a:t>
                      </a:r>
                      <a:endParaRPr lang="en-GB" dirty="0"/>
                    </a:p>
                  </a:txBody>
                  <a:tcPr/>
                </a:tc>
                <a:tc>
                  <a:txBody>
                    <a:bodyPr/>
                    <a:lstStyle/>
                    <a:p>
                      <a:r>
                        <a:rPr lang="en-US" dirty="0"/>
                        <a:t>Good, the Bad and the Ugly, The (Buono, il bru…)</a:t>
                      </a:r>
                      <a:endParaRPr lang="en-GB" dirty="0"/>
                    </a:p>
                  </a:txBody>
                  <a:tcPr/>
                </a:tc>
                <a:tc>
                  <a:txBody>
                    <a:bodyPr/>
                    <a:lstStyle/>
                    <a:p>
                      <a:r>
                        <a:rPr lang="en-US" dirty="0"/>
                        <a:t>3.21</a:t>
                      </a:r>
                      <a:endParaRPr lang="en-GB" dirty="0"/>
                    </a:p>
                  </a:txBody>
                  <a:tcPr/>
                </a:tc>
                <a:extLst>
                  <a:ext uri="{0D108BD9-81ED-4DB2-BD59-A6C34878D82A}">
                    <a16:rowId xmlns:a16="http://schemas.microsoft.com/office/drawing/2014/main" val="781450792"/>
                  </a:ext>
                </a:extLst>
              </a:tr>
              <a:tr h="603267">
                <a:tc>
                  <a:txBody>
                    <a:bodyPr/>
                    <a:lstStyle/>
                    <a:p>
                      <a:r>
                        <a:rPr lang="en-US" dirty="0"/>
                        <a:t>3</a:t>
                      </a:r>
                      <a:endParaRPr lang="en-GB" dirty="0"/>
                    </a:p>
                  </a:txBody>
                  <a:tcPr/>
                </a:tc>
                <a:tc>
                  <a:txBody>
                    <a:bodyPr/>
                    <a:lstStyle/>
                    <a:p>
                      <a:r>
                        <a:rPr lang="en-US" dirty="0"/>
                        <a:t>True Grit(1969)</a:t>
                      </a:r>
                      <a:endParaRPr lang="en-GB" dirty="0"/>
                    </a:p>
                  </a:txBody>
                  <a:tcPr/>
                </a:tc>
                <a:tc>
                  <a:txBody>
                    <a:bodyPr/>
                    <a:lstStyle/>
                    <a:p>
                      <a:r>
                        <a:rPr lang="en-US" dirty="0"/>
                        <a:t>3.20</a:t>
                      </a:r>
                      <a:endParaRPr lang="en-GB" dirty="0"/>
                    </a:p>
                  </a:txBody>
                  <a:tcPr/>
                </a:tc>
                <a:extLst>
                  <a:ext uri="{0D108BD9-81ED-4DB2-BD59-A6C34878D82A}">
                    <a16:rowId xmlns:a16="http://schemas.microsoft.com/office/drawing/2014/main" val="2171977536"/>
                  </a:ext>
                </a:extLst>
              </a:tr>
              <a:tr h="603267">
                <a:tc>
                  <a:txBody>
                    <a:bodyPr/>
                    <a:lstStyle/>
                    <a:p>
                      <a:r>
                        <a:rPr lang="en-US" dirty="0"/>
                        <a:t>4</a:t>
                      </a:r>
                      <a:endParaRPr lang="en-GB" dirty="0"/>
                    </a:p>
                  </a:txBody>
                  <a:tcPr/>
                </a:tc>
                <a:tc>
                  <a:txBody>
                    <a:bodyPr/>
                    <a:lstStyle/>
                    <a:p>
                      <a:r>
                        <a:rPr lang="en-US" dirty="0"/>
                        <a:t>For a Few Dollars More(Per qualche dollar in..)(1994)</a:t>
                      </a:r>
                      <a:endParaRPr lang="en-GB" dirty="0"/>
                    </a:p>
                  </a:txBody>
                  <a:tcPr/>
                </a:tc>
                <a:tc>
                  <a:txBody>
                    <a:bodyPr/>
                    <a:lstStyle/>
                    <a:p>
                      <a:r>
                        <a:rPr lang="en-US" dirty="0"/>
                        <a:t>3.19</a:t>
                      </a:r>
                      <a:endParaRPr lang="en-GB" dirty="0"/>
                    </a:p>
                  </a:txBody>
                  <a:tcPr/>
                </a:tc>
                <a:extLst>
                  <a:ext uri="{0D108BD9-81ED-4DB2-BD59-A6C34878D82A}">
                    <a16:rowId xmlns:a16="http://schemas.microsoft.com/office/drawing/2014/main" val="3182544813"/>
                  </a:ext>
                </a:extLst>
              </a:tr>
              <a:tr h="603267">
                <a:tc>
                  <a:txBody>
                    <a:bodyPr/>
                    <a:lstStyle/>
                    <a:p>
                      <a:r>
                        <a:rPr lang="en-US" dirty="0"/>
                        <a:t>5</a:t>
                      </a:r>
                      <a:endParaRPr lang="en-GB" dirty="0"/>
                    </a:p>
                  </a:txBody>
                  <a:tcPr/>
                </a:tc>
                <a:tc>
                  <a:txBody>
                    <a:bodyPr/>
                    <a:lstStyle/>
                    <a:p>
                      <a:r>
                        <a:rPr lang="en-US" dirty="0"/>
                        <a:t>Wild Bunch, The(1969)</a:t>
                      </a:r>
                      <a:endParaRPr lang="en-GB" dirty="0"/>
                    </a:p>
                  </a:txBody>
                  <a:tcPr/>
                </a:tc>
                <a:tc>
                  <a:txBody>
                    <a:bodyPr/>
                    <a:lstStyle/>
                    <a:p>
                      <a:r>
                        <a:rPr lang="en-US" dirty="0"/>
                        <a:t>3.18</a:t>
                      </a:r>
                      <a:endParaRPr lang="en-GB" dirty="0"/>
                    </a:p>
                  </a:txBody>
                  <a:tcPr/>
                </a:tc>
                <a:extLst>
                  <a:ext uri="{0D108BD9-81ED-4DB2-BD59-A6C34878D82A}">
                    <a16:rowId xmlns:a16="http://schemas.microsoft.com/office/drawing/2014/main" val="1783441348"/>
                  </a:ext>
                </a:extLst>
              </a:tr>
            </a:tbl>
          </a:graphicData>
        </a:graphic>
      </p:graphicFrame>
      <p:sp>
        <p:nvSpPr>
          <p:cNvPr id="8" name="TextBox 7">
            <a:extLst>
              <a:ext uri="{FF2B5EF4-FFF2-40B4-BE49-F238E27FC236}">
                <a16:creationId xmlns:a16="http://schemas.microsoft.com/office/drawing/2014/main" id="{5C40D18D-64E5-4F99-8355-349CB1159AB9}"/>
              </a:ext>
            </a:extLst>
          </p:cNvPr>
          <p:cNvSpPr txBox="1"/>
          <p:nvPr/>
        </p:nvSpPr>
        <p:spPr>
          <a:xfrm>
            <a:off x="701040" y="1046447"/>
            <a:ext cx="11064240" cy="246221"/>
          </a:xfrm>
          <a:prstGeom prst="rect">
            <a:avLst/>
          </a:prstGeom>
          <a:noFill/>
        </p:spPr>
        <p:txBody>
          <a:bodyPr wrap="square" lIns="0" tIns="0" rIns="0" bIns="0" anchor="t">
            <a:spAutoFit/>
          </a:bodyPr>
          <a:lstStyle/>
          <a:p>
            <a:pPr algn="l"/>
            <a:r>
              <a:rPr lang="en-US" sz="1600" i="0" dirty="0">
                <a:solidFill>
                  <a:srgbClr val="14213D"/>
                </a:solidFill>
                <a:latin typeface="Cambria"/>
              </a:rPr>
              <a:t>Demonstrating the system in action</a:t>
            </a:r>
            <a:endParaRPr sz="1600" i="0" dirty="0">
              <a:solidFill>
                <a:srgbClr val="14213D"/>
              </a:solidFill>
              <a:latin typeface="Cambria"/>
            </a:endParaRPr>
          </a:p>
        </p:txBody>
      </p:sp>
    </p:spTree>
    <p:extLst>
      <p:ext uri="{BB962C8B-B14F-4D97-AF65-F5344CB8AC3E}">
        <p14:creationId xmlns:p14="http://schemas.microsoft.com/office/powerpoint/2010/main" val="38969696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164592"/>
            <a:ext cx="7315200" cy="246221"/>
          </a:xfrm>
          <a:prstGeom prst="rect">
            <a:avLst/>
          </a:prstGeom>
          <a:noFill/>
        </p:spPr>
        <p:txBody>
          <a:bodyPr wrap="square" lIns="0" tIns="0" rIns="0" bIns="0" anchor="t">
            <a:spAutoFit/>
          </a:bodyPr>
          <a:lstStyle/>
          <a:p>
            <a:pPr algn="l"/>
            <a:r>
              <a:rPr lang="en-US" sz="1600" b="1" dirty="0">
                <a:solidFill>
                  <a:srgbClr val="C73E1D"/>
                </a:solidFill>
                <a:latin typeface="Cambria"/>
              </a:rPr>
              <a:t>RECOMMENDATIONS</a:t>
            </a:r>
            <a:endParaRPr sz="1600" b="1" i="0" dirty="0">
              <a:solidFill>
                <a:srgbClr val="C73E1D"/>
              </a:solidFill>
              <a:latin typeface="Cambria"/>
            </a:endParaRPr>
          </a:p>
        </p:txBody>
      </p:sp>
      <p:sp>
        <p:nvSpPr>
          <p:cNvPr id="3" name="TextBox 2"/>
          <p:cNvSpPr txBox="1"/>
          <p:nvPr/>
        </p:nvSpPr>
        <p:spPr>
          <a:xfrm>
            <a:off x="548640" y="365760"/>
            <a:ext cx="11064240" cy="1107996"/>
          </a:xfrm>
          <a:prstGeom prst="rect">
            <a:avLst/>
          </a:prstGeom>
          <a:noFill/>
        </p:spPr>
        <p:txBody>
          <a:bodyPr wrap="square" lIns="0" tIns="0" rIns="0" bIns="0" anchor="t">
            <a:spAutoFit/>
          </a:bodyPr>
          <a:lstStyle/>
          <a:p>
            <a:pPr algn="l"/>
            <a:r>
              <a:rPr lang="en-US" sz="3600" b="1" dirty="0">
                <a:solidFill>
                  <a:srgbClr val="14213D"/>
                </a:solidFill>
                <a:latin typeface="Cambria"/>
              </a:rPr>
              <a:t>A Sample of Top-5 Movie Recommendations for User 5</a:t>
            </a:r>
            <a:endParaRPr sz="3600" b="1" i="0" dirty="0">
              <a:solidFill>
                <a:srgbClr val="14213D"/>
              </a:solidFill>
              <a:latin typeface="Cambria"/>
            </a:endParaRPr>
          </a:p>
        </p:txBody>
      </p:sp>
      <p:cxnSp>
        <p:nvCxnSpPr>
          <p:cNvPr id="18" name="Connector 17"/>
          <p:cNvCxnSpPr/>
          <p:nvPr/>
        </p:nvCxnSpPr>
        <p:spPr>
          <a:xfrm>
            <a:off x="5257800" y="4297680"/>
            <a:ext cx="0" cy="228600"/>
          </a:xfrm>
          <a:prstGeom prst="line">
            <a:avLst/>
          </a:prstGeom>
          <a:ln w="19050">
            <a:solidFill>
              <a:srgbClr val="9B2E14"/>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3181532" y="6496594"/>
            <a:ext cx="5120640" cy="365760"/>
          </a:xfrm>
          <a:prstGeom prst="rect">
            <a:avLst/>
          </a:prstGeom>
          <a:noFill/>
        </p:spPr>
        <p:txBody>
          <a:bodyPr wrap="square" lIns="0" tIns="0" rIns="0" bIns="0" anchor="t">
            <a:spAutoFit/>
          </a:bodyPr>
          <a:lstStyle/>
          <a:p>
            <a:pPr algn="ctr"/>
            <a:r>
              <a:rPr sz="1100" b="0" i="1" dirty="0">
                <a:solidFill>
                  <a:srgbClr val="6B7280"/>
                </a:solidFill>
                <a:latin typeface="Calibri"/>
              </a:rPr>
              <a:t>Sample top-5 for User 5 (predicted ratings)</a:t>
            </a:r>
          </a:p>
        </p:txBody>
      </p:sp>
      <p:sp>
        <p:nvSpPr>
          <p:cNvPr id="24" name="TextBox 23"/>
          <p:cNvSpPr txBox="1"/>
          <p:nvPr/>
        </p:nvSpPr>
        <p:spPr>
          <a:xfrm>
            <a:off x="11475720" y="6446520"/>
            <a:ext cx="640080" cy="138499"/>
          </a:xfrm>
          <a:prstGeom prst="rect">
            <a:avLst/>
          </a:prstGeom>
          <a:noFill/>
        </p:spPr>
        <p:txBody>
          <a:bodyPr wrap="square" lIns="0" tIns="0" rIns="0" bIns="0" anchor="t">
            <a:spAutoFit/>
          </a:bodyPr>
          <a:lstStyle/>
          <a:p>
            <a:pPr algn="r"/>
            <a:r>
              <a:rPr sz="900" b="0" i="0" dirty="0">
                <a:solidFill>
                  <a:srgbClr val="6B7280"/>
                </a:solidFill>
                <a:latin typeface="Calibri"/>
              </a:rPr>
              <a:t>1</a:t>
            </a:r>
            <a:r>
              <a:rPr lang="en-US" sz="900" b="0" i="0" dirty="0">
                <a:solidFill>
                  <a:srgbClr val="6B7280"/>
                </a:solidFill>
                <a:latin typeface="Calibri"/>
              </a:rPr>
              <a:t>7</a:t>
            </a:r>
            <a:r>
              <a:rPr sz="900" b="0" i="0" dirty="0">
                <a:solidFill>
                  <a:srgbClr val="6B7280"/>
                </a:solidFill>
                <a:latin typeface="Calibri"/>
              </a:rPr>
              <a:t> / 14</a:t>
            </a:r>
          </a:p>
        </p:txBody>
      </p:sp>
      <p:pic>
        <p:nvPicPr>
          <p:cNvPr id="23" name="Picture 22">
            <a:extLst>
              <a:ext uri="{FF2B5EF4-FFF2-40B4-BE49-F238E27FC236}">
                <a16:creationId xmlns:a16="http://schemas.microsoft.com/office/drawing/2014/main" id="{9E452566-EFE7-47F5-8377-461F92352EB5}"/>
              </a:ext>
            </a:extLst>
          </p:cNvPr>
          <p:cNvPicPr>
            <a:picLocks noChangeAspect="1"/>
          </p:cNvPicPr>
          <p:nvPr/>
        </p:nvPicPr>
        <p:blipFill>
          <a:blip r:embed="rId2"/>
          <a:stretch>
            <a:fillRect/>
          </a:stretch>
        </p:blipFill>
        <p:spPr>
          <a:xfrm>
            <a:off x="1385887" y="1571625"/>
            <a:ext cx="9420225" cy="4435280"/>
          </a:xfrm>
          <a:prstGeom prst="rect">
            <a:avLst/>
          </a:prstGeom>
        </p:spPr>
      </p:pic>
    </p:spTree>
    <p:extLst>
      <p:ext uri="{BB962C8B-B14F-4D97-AF65-F5344CB8AC3E}">
        <p14:creationId xmlns:p14="http://schemas.microsoft.com/office/powerpoint/2010/main" val="11116055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164592"/>
            <a:ext cx="7315200" cy="246221"/>
          </a:xfrm>
          <a:prstGeom prst="rect">
            <a:avLst/>
          </a:prstGeom>
          <a:noFill/>
        </p:spPr>
        <p:txBody>
          <a:bodyPr wrap="square" lIns="0" tIns="0" rIns="0" bIns="0" anchor="t">
            <a:spAutoFit/>
          </a:bodyPr>
          <a:lstStyle/>
          <a:p>
            <a:pPr algn="l"/>
            <a:r>
              <a:rPr lang="en-US" sz="1600" b="1" dirty="0">
                <a:solidFill>
                  <a:srgbClr val="C73E1D"/>
                </a:solidFill>
                <a:latin typeface="Cambria"/>
              </a:rPr>
              <a:t>HYPER PARAMETER TUNNING</a:t>
            </a:r>
            <a:endParaRPr sz="1600" b="1" i="0" dirty="0">
              <a:solidFill>
                <a:srgbClr val="C73E1D"/>
              </a:solidFill>
              <a:latin typeface="Cambria"/>
            </a:endParaRPr>
          </a:p>
        </p:txBody>
      </p:sp>
      <p:sp>
        <p:nvSpPr>
          <p:cNvPr id="3" name="TextBox 2"/>
          <p:cNvSpPr txBox="1"/>
          <p:nvPr/>
        </p:nvSpPr>
        <p:spPr>
          <a:xfrm>
            <a:off x="548640" y="721511"/>
            <a:ext cx="11064240" cy="553998"/>
          </a:xfrm>
          <a:prstGeom prst="rect">
            <a:avLst/>
          </a:prstGeom>
          <a:noFill/>
        </p:spPr>
        <p:txBody>
          <a:bodyPr wrap="square" lIns="0" tIns="0" rIns="0" bIns="0" anchor="t">
            <a:spAutoFit/>
          </a:bodyPr>
          <a:lstStyle/>
          <a:p>
            <a:pPr algn="l"/>
            <a:r>
              <a:rPr lang="en-US" sz="3600" b="1" dirty="0">
                <a:solidFill>
                  <a:srgbClr val="14213D"/>
                </a:solidFill>
                <a:latin typeface="Cambria"/>
              </a:rPr>
              <a:t>Cold – Start handling using (tags.csv)</a:t>
            </a:r>
            <a:endParaRPr sz="3600" b="1" i="0" dirty="0">
              <a:solidFill>
                <a:srgbClr val="14213D"/>
              </a:solidFill>
              <a:latin typeface="Cambria"/>
            </a:endParaRPr>
          </a:p>
        </p:txBody>
      </p:sp>
      <p:sp>
        <p:nvSpPr>
          <p:cNvPr id="31" name="TextBox 30"/>
          <p:cNvSpPr txBox="1"/>
          <p:nvPr/>
        </p:nvSpPr>
        <p:spPr>
          <a:xfrm>
            <a:off x="6400800" y="2423160"/>
            <a:ext cx="5074920" cy="502920"/>
          </a:xfrm>
          <a:prstGeom prst="rect">
            <a:avLst/>
          </a:prstGeom>
          <a:noFill/>
        </p:spPr>
        <p:txBody>
          <a:bodyPr wrap="square" lIns="0" tIns="0" rIns="0" bIns="0" anchor="t">
            <a:spAutoFit/>
          </a:bodyPr>
          <a:lstStyle/>
          <a:p>
            <a:pPr algn="l"/>
            <a:r>
              <a:rPr sz="2000" b="1" i="0">
                <a:solidFill>
                  <a:srgbClr val="FFFFFF"/>
                </a:solidFill>
                <a:latin typeface="Cambria"/>
              </a:rPr>
              <a:t>Why we filter before training</a:t>
            </a:r>
          </a:p>
        </p:txBody>
      </p:sp>
      <p:sp>
        <p:nvSpPr>
          <p:cNvPr id="38" name="TextBox 37"/>
          <p:cNvSpPr txBox="1"/>
          <p:nvPr/>
        </p:nvSpPr>
        <p:spPr>
          <a:xfrm>
            <a:off x="9372600" y="3794760"/>
            <a:ext cx="1920240" cy="553998"/>
          </a:xfrm>
          <a:prstGeom prst="rect">
            <a:avLst/>
          </a:prstGeom>
          <a:noFill/>
        </p:spPr>
        <p:txBody>
          <a:bodyPr wrap="square" lIns="0" tIns="0" rIns="0" bIns="0" anchor="t">
            <a:spAutoFit/>
          </a:bodyPr>
          <a:lstStyle/>
          <a:p>
            <a:pPr algn="l"/>
            <a:r>
              <a:rPr sz="3600" b="1" i="0" dirty="0">
                <a:solidFill>
                  <a:srgbClr val="FFFFFF"/>
                </a:solidFill>
                <a:latin typeface="Cambria"/>
              </a:rPr>
              <a:t>~2200</a:t>
            </a:r>
          </a:p>
        </p:txBody>
      </p:sp>
      <p:sp>
        <p:nvSpPr>
          <p:cNvPr id="41" name="TextBox 40"/>
          <p:cNvSpPr txBox="1"/>
          <p:nvPr/>
        </p:nvSpPr>
        <p:spPr>
          <a:xfrm>
            <a:off x="11475720" y="6446520"/>
            <a:ext cx="640080" cy="138499"/>
          </a:xfrm>
          <a:prstGeom prst="rect">
            <a:avLst/>
          </a:prstGeom>
          <a:noFill/>
        </p:spPr>
        <p:txBody>
          <a:bodyPr wrap="square" lIns="0" tIns="0" rIns="0" bIns="0" anchor="t">
            <a:spAutoFit/>
          </a:bodyPr>
          <a:lstStyle/>
          <a:p>
            <a:pPr algn="r"/>
            <a:r>
              <a:rPr sz="900" b="0" i="0" dirty="0">
                <a:solidFill>
                  <a:srgbClr val="6B7280"/>
                </a:solidFill>
                <a:latin typeface="Calibri"/>
              </a:rPr>
              <a:t>1</a:t>
            </a:r>
            <a:r>
              <a:rPr lang="en-US" sz="900" b="0" i="0" dirty="0">
                <a:solidFill>
                  <a:srgbClr val="6B7280"/>
                </a:solidFill>
                <a:latin typeface="Calibri"/>
              </a:rPr>
              <a:t>5</a:t>
            </a:r>
            <a:r>
              <a:rPr sz="900" b="0" i="0" dirty="0">
                <a:solidFill>
                  <a:srgbClr val="6B7280"/>
                </a:solidFill>
                <a:latin typeface="Calibri"/>
              </a:rPr>
              <a:t> / 14</a:t>
            </a:r>
          </a:p>
        </p:txBody>
      </p:sp>
      <p:sp>
        <p:nvSpPr>
          <p:cNvPr id="42" name="Rectangle 41">
            <a:extLst>
              <a:ext uri="{FF2B5EF4-FFF2-40B4-BE49-F238E27FC236}">
                <a16:creationId xmlns:a16="http://schemas.microsoft.com/office/drawing/2014/main" id="{7CE06F78-D7E5-452B-AE9D-657A3708F17F}"/>
              </a:ext>
            </a:extLst>
          </p:cNvPr>
          <p:cNvSpPr/>
          <p:nvPr/>
        </p:nvSpPr>
        <p:spPr>
          <a:xfrm>
            <a:off x="478302" y="1415932"/>
            <a:ext cx="11254154" cy="4801314"/>
          </a:xfrm>
          <a:prstGeom prst="rect">
            <a:avLst/>
          </a:prstGeom>
        </p:spPr>
        <p:txBody>
          <a:bodyPr wrap="square">
            <a:spAutoFit/>
          </a:bodyPr>
          <a:lstStyle/>
          <a:p>
            <a:endParaRPr lang="en-US" dirty="0"/>
          </a:p>
          <a:p>
            <a:endParaRPr lang="en-US" dirty="0"/>
          </a:p>
          <a:p>
            <a:r>
              <a:rPr lang="en-US" dirty="0"/>
              <a:t>Collaborative filtering requires a user to have rated at least a few movies before it can make recommendations. A brand new user has no ratings — so the SVD model cannot help them.</a:t>
            </a:r>
          </a:p>
          <a:p>
            <a:endParaRPr lang="en-US" dirty="0"/>
          </a:p>
          <a:p>
            <a:r>
              <a:rPr lang="en-US" b="1" dirty="0"/>
              <a:t>The Solution — Two-Level Fallback:</a:t>
            </a:r>
          </a:p>
          <a:p>
            <a:endParaRPr lang="en-US" b="1" dirty="0"/>
          </a:p>
          <a:p>
            <a:r>
              <a:rPr lang="en-US" b="1" dirty="0"/>
              <a:t>Level 1: </a:t>
            </a:r>
          </a:p>
          <a:p>
            <a:endParaRPr lang="en-US" dirty="0"/>
          </a:p>
          <a:p>
            <a:r>
              <a:rPr lang="en-US" dirty="0"/>
              <a:t>Ask the new user for keyword preferences → match to movie tags → recommend matching movies  </a:t>
            </a:r>
          </a:p>
          <a:p>
            <a:endParaRPr lang="en-US" dirty="0"/>
          </a:p>
          <a:p>
            <a:endParaRPr lang="en-US" dirty="0"/>
          </a:p>
          <a:p>
            <a:r>
              <a:rPr lang="en-US" b="1" dirty="0"/>
              <a:t>Level 2: </a:t>
            </a:r>
          </a:p>
          <a:p>
            <a:endParaRPr lang="en-US" dirty="0"/>
          </a:p>
          <a:p>
            <a:r>
              <a:rPr lang="en-US" dirty="0"/>
              <a:t>If no tags match → recommend most popular movies in their preferred genre</a:t>
            </a:r>
          </a:p>
          <a:p>
            <a:endParaRPr lang="en-US" dirty="0"/>
          </a:p>
          <a:p>
            <a:r>
              <a:rPr lang="en-US" dirty="0"/>
              <a:t>This is the hybrid approach the project rubric suggests for handling the cold-start problem.</a:t>
            </a:r>
            <a:endParaRPr lang="en-GB" dirty="0"/>
          </a:p>
        </p:txBody>
      </p:sp>
    </p:spTree>
    <p:extLst>
      <p:ext uri="{BB962C8B-B14F-4D97-AF65-F5344CB8AC3E}">
        <p14:creationId xmlns:p14="http://schemas.microsoft.com/office/powerpoint/2010/main" val="2124783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164592"/>
            <a:ext cx="7315200" cy="246221"/>
          </a:xfrm>
          <a:prstGeom prst="rect">
            <a:avLst/>
          </a:prstGeom>
          <a:noFill/>
        </p:spPr>
        <p:txBody>
          <a:bodyPr wrap="square" lIns="0" tIns="0" rIns="0" bIns="0" anchor="t">
            <a:spAutoFit/>
          </a:bodyPr>
          <a:lstStyle/>
          <a:p>
            <a:pPr algn="l"/>
            <a:r>
              <a:rPr lang="en-US" sz="1600" b="1" dirty="0">
                <a:solidFill>
                  <a:srgbClr val="C73E1D"/>
                </a:solidFill>
                <a:latin typeface="Cambria"/>
              </a:rPr>
              <a:t>RECOMMENDATIONS</a:t>
            </a:r>
            <a:endParaRPr sz="1600" b="1" i="0" dirty="0">
              <a:solidFill>
                <a:srgbClr val="C73E1D"/>
              </a:solidFill>
              <a:latin typeface="Cambria"/>
            </a:endParaRPr>
          </a:p>
        </p:txBody>
      </p:sp>
      <p:sp>
        <p:nvSpPr>
          <p:cNvPr id="3" name="TextBox 2"/>
          <p:cNvSpPr txBox="1"/>
          <p:nvPr/>
        </p:nvSpPr>
        <p:spPr>
          <a:xfrm>
            <a:off x="548640" y="365760"/>
            <a:ext cx="11064240" cy="1107996"/>
          </a:xfrm>
          <a:prstGeom prst="rect">
            <a:avLst/>
          </a:prstGeom>
          <a:noFill/>
        </p:spPr>
        <p:txBody>
          <a:bodyPr wrap="square" lIns="0" tIns="0" rIns="0" bIns="0" anchor="t">
            <a:spAutoFit/>
          </a:bodyPr>
          <a:lstStyle/>
          <a:p>
            <a:pPr algn="l"/>
            <a:r>
              <a:rPr lang="en-US" sz="3600" b="1" i="0" dirty="0">
                <a:solidFill>
                  <a:srgbClr val="14213D"/>
                </a:solidFill>
                <a:latin typeface="Cambria"/>
              </a:rPr>
              <a:t>Recommended movies to a new user based on their keyword preferences</a:t>
            </a:r>
            <a:endParaRPr sz="3600" b="1" i="0" dirty="0">
              <a:solidFill>
                <a:srgbClr val="14213D"/>
              </a:solidFill>
              <a:latin typeface="Cambria"/>
            </a:endParaRPr>
          </a:p>
        </p:txBody>
      </p:sp>
      <p:cxnSp>
        <p:nvCxnSpPr>
          <p:cNvPr id="18" name="Connector 17"/>
          <p:cNvCxnSpPr/>
          <p:nvPr/>
        </p:nvCxnSpPr>
        <p:spPr>
          <a:xfrm>
            <a:off x="5257800" y="4297680"/>
            <a:ext cx="0" cy="228600"/>
          </a:xfrm>
          <a:prstGeom prst="line">
            <a:avLst/>
          </a:prstGeom>
          <a:ln w="19050">
            <a:solidFill>
              <a:srgbClr val="9B2E14"/>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3181532" y="6496594"/>
            <a:ext cx="5120640" cy="365760"/>
          </a:xfrm>
          <a:prstGeom prst="rect">
            <a:avLst/>
          </a:prstGeom>
          <a:noFill/>
        </p:spPr>
        <p:txBody>
          <a:bodyPr wrap="square" lIns="0" tIns="0" rIns="0" bIns="0" anchor="t">
            <a:spAutoFit/>
          </a:bodyPr>
          <a:lstStyle/>
          <a:p>
            <a:pPr algn="ctr"/>
            <a:r>
              <a:rPr sz="1100" b="0" i="1" dirty="0">
                <a:solidFill>
                  <a:srgbClr val="6B7280"/>
                </a:solidFill>
                <a:latin typeface="Calibri"/>
              </a:rPr>
              <a:t>Sample top-5 for User 5 (predicted ratings)</a:t>
            </a:r>
          </a:p>
        </p:txBody>
      </p:sp>
      <p:sp>
        <p:nvSpPr>
          <p:cNvPr id="24" name="TextBox 23"/>
          <p:cNvSpPr txBox="1"/>
          <p:nvPr/>
        </p:nvSpPr>
        <p:spPr>
          <a:xfrm>
            <a:off x="11475720" y="6446520"/>
            <a:ext cx="640080" cy="138499"/>
          </a:xfrm>
          <a:prstGeom prst="rect">
            <a:avLst/>
          </a:prstGeom>
          <a:noFill/>
        </p:spPr>
        <p:txBody>
          <a:bodyPr wrap="square" lIns="0" tIns="0" rIns="0" bIns="0" anchor="t">
            <a:spAutoFit/>
          </a:bodyPr>
          <a:lstStyle/>
          <a:p>
            <a:pPr algn="r"/>
            <a:r>
              <a:rPr sz="900" b="0" i="0" dirty="0">
                <a:solidFill>
                  <a:srgbClr val="6B7280"/>
                </a:solidFill>
                <a:latin typeface="Calibri"/>
              </a:rPr>
              <a:t>1</a:t>
            </a:r>
            <a:r>
              <a:rPr lang="en-US" sz="900" b="0" i="0" dirty="0">
                <a:solidFill>
                  <a:srgbClr val="6B7280"/>
                </a:solidFill>
                <a:latin typeface="Calibri"/>
              </a:rPr>
              <a:t>8</a:t>
            </a:r>
            <a:r>
              <a:rPr sz="900" b="0" i="0" dirty="0">
                <a:solidFill>
                  <a:srgbClr val="6B7280"/>
                </a:solidFill>
                <a:latin typeface="Calibri"/>
              </a:rPr>
              <a:t> / 14</a:t>
            </a:r>
          </a:p>
        </p:txBody>
      </p:sp>
      <p:sp>
        <p:nvSpPr>
          <p:cNvPr id="4" name="Rectangle 3">
            <a:extLst>
              <a:ext uri="{FF2B5EF4-FFF2-40B4-BE49-F238E27FC236}">
                <a16:creationId xmlns:a16="http://schemas.microsoft.com/office/drawing/2014/main" id="{3ECE8FB6-7854-4EAB-ADD4-1C0FE6A62893}"/>
              </a:ext>
            </a:extLst>
          </p:cNvPr>
          <p:cNvSpPr/>
          <p:nvPr/>
        </p:nvSpPr>
        <p:spPr>
          <a:xfrm>
            <a:off x="548640" y="1812581"/>
            <a:ext cx="6096000" cy="923330"/>
          </a:xfrm>
          <a:prstGeom prst="rect">
            <a:avLst/>
          </a:prstGeom>
        </p:spPr>
        <p:txBody>
          <a:bodyPr>
            <a:spAutoFit/>
          </a:bodyPr>
          <a:lstStyle/>
          <a:p>
            <a:r>
              <a:rPr lang="en-US" b="1" dirty="0"/>
              <a:t>New user likes: ['funny', 'clever', 'witty’]</a:t>
            </a:r>
          </a:p>
          <a:p>
            <a:endParaRPr lang="en-US" b="1" dirty="0"/>
          </a:p>
          <a:p>
            <a:r>
              <a:rPr lang="en-US" b="1" dirty="0"/>
              <a:t>Recommendations based on tags:</a:t>
            </a:r>
            <a:endParaRPr lang="en-GB" b="1" dirty="0"/>
          </a:p>
        </p:txBody>
      </p:sp>
      <p:graphicFrame>
        <p:nvGraphicFramePr>
          <p:cNvPr id="6" name="Table 5">
            <a:extLst>
              <a:ext uri="{FF2B5EF4-FFF2-40B4-BE49-F238E27FC236}">
                <a16:creationId xmlns:a16="http://schemas.microsoft.com/office/drawing/2014/main" id="{D3FAD6EE-95B5-4464-A5B7-EC12456AEEA1}"/>
              </a:ext>
            </a:extLst>
          </p:cNvPr>
          <p:cNvGraphicFramePr>
            <a:graphicFrameLocks noGrp="1"/>
          </p:cNvGraphicFramePr>
          <p:nvPr/>
        </p:nvGraphicFramePr>
        <p:xfrm>
          <a:off x="548640" y="3074735"/>
          <a:ext cx="11064240" cy="2930104"/>
        </p:xfrm>
        <a:graphic>
          <a:graphicData uri="http://schemas.openxmlformats.org/drawingml/2006/table">
            <a:tbl>
              <a:tblPr firstRow="1" bandRow="1">
                <a:tableStyleId>{5C22544A-7EE6-4342-B048-85BDC9FD1C3A}</a:tableStyleId>
              </a:tblPr>
              <a:tblGrid>
                <a:gridCol w="661182">
                  <a:extLst>
                    <a:ext uri="{9D8B030D-6E8A-4147-A177-3AD203B41FA5}">
                      <a16:colId xmlns:a16="http://schemas.microsoft.com/office/drawing/2014/main" val="1686909536"/>
                    </a:ext>
                  </a:extLst>
                </a:gridCol>
                <a:gridCol w="3764514">
                  <a:extLst>
                    <a:ext uri="{9D8B030D-6E8A-4147-A177-3AD203B41FA5}">
                      <a16:colId xmlns:a16="http://schemas.microsoft.com/office/drawing/2014/main" val="1899540560"/>
                    </a:ext>
                  </a:extLst>
                </a:gridCol>
                <a:gridCol w="3679010">
                  <a:extLst>
                    <a:ext uri="{9D8B030D-6E8A-4147-A177-3AD203B41FA5}">
                      <a16:colId xmlns:a16="http://schemas.microsoft.com/office/drawing/2014/main" val="1402553594"/>
                    </a:ext>
                  </a:extLst>
                </a:gridCol>
                <a:gridCol w="1271239">
                  <a:extLst>
                    <a:ext uri="{9D8B030D-6E8A-4147-A177-3AD203B41FA5}">
                      <a16:colId xmlns:a16="http://schemas.microsoft.com/office/drawing/2014/main" val="2588486344"/>
                    </a:ext>
                  </a:extLst>
                </a:gridCol>
                <a:gridCol w="1688295">
                  <a:extLst>
                    <a:ext uri="{9D8B030D-6E8A-4147-A177-3AD203B41FA5}">
                      <a16:colId xmlns:a16="http://schemas.microsoft.com/office/drawing/2014/main" val="2388934442"/>
                    </a:ext>
                  </a:extLst>
                </a:gridCol>
              </a:tblGrid>
              <a:tr h="452972">
                <a:tc>
                  <a:txBody>
                    <a:bodyPr/>
                    <a:lstStyle/>
                    <a:p>
                      <a:r>
                        <a:rPr lang="en-US" dirty="0"/>
                        <a:t> </a:t>
                      </a:r>
                      <a:endParaRPr lang="en-GB" dirty="0"/>
                    </a:p>
                  </a:txBody>
                  <a:tcPr/>
                </a:tc>
                <a:tc>
                  <a:txBody>
                    <a:bodyPr/>
                    <a:lstStyle/>
                    <a:p>
                      <a:r>
                        <a:rPr lang="en-US" dirty="0"/>
                        <a:t>TITLE</a:t>
                      </a:r>
                      <a:endParaRPr lang="en-GB" dirty="0"/>
                    </a:p>
                  </a:txBody>
                  <a:tcPr/>
                </a:tc>
                <a:tc>
                  <a:txBody>
                    <a:bodyPr/>
                    <a:lstStyle/>
                    <a:p>
                      <a:r>
                        <a:rPr lang="en-US" dirty="0"/>
                        <a:t>GENRE</a:t>
                      </a:r>
                      <a:endParaRPr lang="en-GB" dirty="0"/>
                    </a:p>
                  </a:txBody>
                  <a:tcPr/>
                </a:tc>
                <a:tc>
                  <a:txBody>
                    <a:bodyPr/>
                    <a:lstStyle/>
                    <a:p>
                      <a:r>
                        <a:rPr lang="en-US" dirty="0"/>
                        <a:t>MATCHES</a:t>
                      </a:r>
                      <a:endParaRPr lang="en-GB" dirty="0"/>
                    </a:p>
                  </a:txBody>
                  <a:tcPr/>
                </a:tc>
                <a:tc>
                  <a:txBody>
                    <a:bodyPr/>
                    <a:lstStyle/>
                    <a:p>
                      <a:r>
                        <a:rPr lang="en-US" dirty="0"/>
                        <a:t>AVR. RATING</a:t>
                      </a:r>
                      <a:endParaRPr lang="en-GB" dirty="0"/>
                    </a:p>
                  </a:txBody>
                  <a:tcPr/>
                </a:tc>
                <a:extLst>
                  <a:ext uri="{0D108BD9-81ED-4DB2-BD59-A6C34878D82A}">
                    <a16:rowId xmlns:a16="http://schemas.microsoft.com/office/drawing/2014/main" val="3916406960"/>
                  </a:ext>
                </a:extLst>
              </a:tr>
              <a:tr h="459263">
                <a:tc>
                  <a:txBody>
                    <a:bodyPr/>
                    <a:lstStyle/>
                    <a:p>
                      <a:r>
                        <a:rPr lang="en-US" dirty="0"/>
                        <a:t>1</a:t>
                      </a:r>
                      <a:endParaRPr lang="en-GB" dirty="0"/>
                    </a:p>
                  </a:txBody>
                  <a:tcPr/>
                </a:tc>
                <a:tc>
                  <a:txBody>
                    <a:bodyPr/>
                    <a:lstStyle/>
                    <a:p>
                      <a:r>
                        <a:rPr lang="en-US" dirty="0"/>
                        <a:t>Pulp Fiction(1994)</a:t>
                      </a:r>
                      <a:endParaRPr lang="en-GB" dirty="0"/>
                    </a:p>
                  </a:txBody>
                  <a:tcPr/>
                </a:tc>
                <a:tc>
                  <a:txBody>
                    <a:bodyPr/>
                    <a:lstStyle/>
                    <a:p>
                      <a:r>
                        <a:rPr lang="en-US" dirty="0"/>
                        <a:t>Comedy|Crime|Drama|Thriller</a:t>
                      </a:r>
                      <a:endParaRPr lang="en-GB" dirty="0"/>
                    </a:p>
                  </a:txBody>
                  <a:tcPr/>
                </a:tc>
                <a:tc>
                  <a:txBody>
                    <a:bodyPr/>
                    <a:lstStyle/>
                    <a:p>
                      <a:r>
                        <a:rPr lang="en-US" dirty="0"/>
                        <a:t>2</a:t>
                      </a:r>
                      <a:endParaRPr lang="en-GB" dirty="0"/>
                    </a:p>
                  </a:txBody>
                  <a:tcPr/>
                </a:tc>
                <a:tc>
                  <a:txBody>
                    <a:bodyPr/>
                    <a:lstStyle/>
                    <a:p>
                      <a:r>
                        <a:rPr lang="en-US" dirty="0"/>
                        <a:t>4.20</a:t>
                      </a:r>
                      <a:endParaRPr lang="en-GB" dirty="0"/>
                    </a:p>
                  </a:txBody>
                  <a:tcPr/>
                </a:tc>
                <a:extLst>
                  <a:ext uri="{0D108BD9-81ED-4DB2-BD59-A6C34878D82A}">
                    <a16:rowId xmlns:a16="http://schemas.microsoft.com/office/drawing/2014/main" val="3797906306"/>
                  </a:ext>
                </a:extLst>
              </a:tr>
              <a:tr h="459263">
                <a:tc>
                  <a:txBody>
                    <a:bodyPr/>
                    <a:lstStyle/>
                    <a:p>
                      <a:r>
                        <a:rPr lang="en-US" dirty="0"/>
                        <a:t>2</a:t>
                      </a:r>
                      <a:endParaRPr lang="en-GB" dirty="0"/>
                    </a:p>
                  </a:txBody>
                  <a:tcPr/>
                </a:tc>
                <a:tc>
                  <a:txBody>
                    <a:bodyPr/>
                    <a:lstStyle/>
                    <a:p>
                      <a:r>
                        <a:rPr lang="en-US" dirty="0"/>
                        <a:t>Kiss Kiss Bang Bang(2005)</a:t>
                      </a:r>
                      <a:endParaRPr lang="en-GB" dirty="0"/>
                    </a:p>
                  </a:txBody>
                  <a:tcPr/>
                </a:tc>
                <a:tc>
                  <a:txBody>
                    <a:bodyPr/>
                    <a:lstStyle/>
                    <a:p>
                      <a:r>
                        <a:rPr lang="en-US" dirty="0"/>
                        <a:t>Comedy|Crime|Mystery|Thriller</a:t>
                      </a:r>
                      <a:endParaRPr lang="en-GB" dirty="0"/>
                    </a:p>
                  </a:txBody>
                  <a:tcPr/>
                </a:tc>
                <a:tc>
                  <a:txBody>
                    <a:bodyPr/>
                    <a:lstStyle/>
                    <a:p>
                      <a:r>
                        <a:rPr lang="en-US" dirty="0"/>
                        <a:t>2</a:t>
                      </a:r>
                      <a:endParaRPr lang="en-GB" dirty="0"/>
                    </a:p>
                  </a:txBody>
                  <a:tcPr/>
                </a:tc>
                <a:tc>
                  <a:txBody>
                    <a:bodyPr/>
                    <a:lstStyle/>
                    <a:p>
                      <a:r>
                        <a:rPr lang="en-US" dirty="0"/>
                        <a:t>4.07</a:t>
                      </a:r>
                      <a:endParaRPr lang="en-GB" dirty="0"/>
                    </a:p>
                  </a:txBody>
                  <a:tcPr/>
                </a:tc>
                <a:extLst>
                  <a:ext uri="{0D108BD9-81ED-4DB2-BD59-A6C34878D82A}">
                    <a16:rowId xmlns:a16="http://schemas.microsoft.com/office/drawing/2014/main" val="781450792"/>
                  </a:ext>
                </a:extLst>
              </a:tr>
              <a:tr h="459263">
                <a:tc>
                  <a:txBody>
                    <a:bodyPr/>
                    <a:lstStyle/>
                    <a:p>
                      <a:r>
                        <a:rPr lang="en-US" dirty="0"/>
                        <a:t>3</a:t>
                      </a:r>
                      <a:endParaRPr lang="en-GB" dirty="0"/>
                    </a:p>
                  </a:txBody>
                  <a:tcPr/>
                </a:tc>
                <a:tc>
                  <a:txBody>
                    <a:bodyPr/>
                    <a:lstStyle/>
                    <a:p>
                      <a:r>
                        <a:rPr lang="en-US" dirty="0"/>
                        <a:t>Big Short, The(2015)</a:t>
                      </a:r>
                      <a:endParaRPr lang="en-GB" dirty="0"/>
                    </a:p>
                  </a:txBody>
                  <a:tcPr/>
                </a:tc>
                <a:tc>
                  <a:txBody>
                    <a:bodyPr/>
                    <a:lstStyle/>
                    <a:p>
                      <a:r>
                        <a:rPr lang="en-US" dirty="0"/>
                        <a:t>Drama</a:t>
                      </a:r>
                      <a:endParaRPr lang="en-GB" dirty="0"/>
                    </a:p>
                  </a:txBody>
                  <a:tcPr/>
                </a:tc>
                <a:tc>
                  <a:txBody>
                    <a:bodyPr/>
                    <a:lstStyle/>
                    <a:p>
                      <a:r>
                        <a:rPr lang="en-US" dirty="0"/>
                        <a:t>2</a:t>
                      </a:r>
                      <a:endParaRPr lang="en-GB" dirty="0"/>
                    </a:p>
                  </a:txBody>
                  <a:tcPr/>
                </a:tc>
                <a:tc>
                  <a:txBody>
                    <a:bodyPr/>
                    <a:lstStyle/>
                    <a:p>
                      <a:r>
                        <a:rPr lang="en-US" dirty="0"/>
                        <a:t>3.96</a:t>
                      </a:r>
                      <a:endParaRPr lang="en-GB" dirty="0"/>
                    </a:p>
                  </a:txBody>
                  <a:tcPr/>
                </a:tc>
                <a:extLst>
                  <a:ext uri="{0D108BD9-81ED-4DB2-BD59-A6C34878D82A}">
                    <a16:rowId xmlns:a16="http://schemas.microsoft.com/office/drawing/2014/main" val="2171977536"/>
                  </a:ext>
                </a:extLst>
              </a:tr>
              <a:tr h="459263">
                <a:tc>
                  <a:txBody>
                    <a:bodyPr/>
                    <a:lstStyle/>
                    <a:p>
                      <a:r>
                        <a:rPr lang="en-US" dirty="0"/>
                        <a:t>4</a:t>
                      </a:r>
                      <a:endParaRPr lang="en-GB" dirty="0"/>
                    </a:p>
                  </a:txBody>
                  <a:tcPr/>
                </a:tc>
                <a:tc>
                  <a:txBody>
                    <a:bodyPr/>
                    <a:lstStyle/>
                    <a:p>
                      <a:r>
                        <a:rPr lang="en-US" dirty="0"/>
                        <a:t>Fight Club(1999)</a:t>
                      </a:r>
                      <a:endParaRPr lang="en-GB" dirty="0"/>
                    </a:p>
                  </a:txBody>
                  <a:tcPr/>
                </a:tc>
                <a:tc>
                  <a:txBody>
                    <a:bodyPr/>
                    <a:lstStyle/>
                    <a:p>
                      <a:r>
                        <a:rPr lang="en-US" dirty="0"/>
                        <a:t>Action|Crime|Drama|Thriller</a:t>
                      </a:r>
                      <a:endParaRPr lang="en-GB" dirty="0"/>
                    </a:p>
                  </a:txBody>
                  <a:tcPr/>
                </a:tc>
                <a:tc>
                  <a:txBody>
                    <a:bodyPr/>
                    <a:lstStyle/>
                    <a:p>
                      <a:r>
                        <a:rPr lang="en-US" dirty="0"/>
                        <a:t>1</a:t>
                      </a:r>
                      <a:endParaRPr lang="en-GB" dirty="0"/>
                    </a:p>
                  </a:txBody>
                  <a:tcPr/>
                </a:tc>
                <a:tc>
                  <a:txBody>
                    <a:bodyPr/>
                    <a:lstStyle/>
                    <a:p>
                      <a:r>
                        <a:rPr lang="en-US" dirty="0"/>
                        <a:t>4.27</a:t>
                      </a:r>
                      <a:endParaRPr lang="en-GB" dirty="0"/>
                    </a:p>
                  </a:txBody>
                  <a:tcPr/>
                </a:tc>
                <a:extLst>
                  <a:ext uri="{0D108BD9-81ED-4DB2-BD59-A6C34878D82A}">
                    <a16:rowId xmlns:a16="http://schemas.microsoft.com/office/drawing/2014/main" val="3182544813"/>
                  </a:ext>
                </a:extLst>
              </a:tr>
              <a:tr h="459263">
                <a:tc>
                  <a:txBody>
                    <a:bodyPr/>
                    <a:lstStyle/>
                    <a:p>
                      <a:r>
                        <a:rPr lang="en-US" dirty="0"/>
                        <a:t>5</a:t>
                      </a:r>
                      <a:endParaRPr lang="en-GB" dirty="0"/>
                    </a:p>
                  </a:txBody>
                  <a:tcPr/>
                </a:tc>
                <a:tc>
                  <a:txBody>
                    <a:bodyPr/>
                    <a:lstStyle/>
                    <a:p>
                      <a:r>
                        <a:rPr lang="en-US" dirty="0"/>
                        <a:t>Inception(2010)</a:t>
                      </a:r>
                      <a:endParaRPr lang="en-GB" dirty="0"/>
                    </a:p>
                  </a:txBody>
                  <a:tcPr/>
                </a:tc>
                <a:tc>
                  <a:txBody>
                    <a:bodyPr/>
                    <a:lstStyle/>
                    <a:p>
                      <a:r>
                        <a:rPr lang="en-US" dirty="0"/>
                        <a:t>Action|Crime|Drama|Mystery|Sci-Fi|Thriller|MAX</a:t>
                      </a:r>
                      <a:endParaRPr lang="en-GB" dirty="0"/>
                    </a:p>
                  </a:txBody>
                  <a:tcPr/>
                </a:tc>
                <a:tc>
                  <a:txBody>
                    <a:bodyPr/>
                    <a:lstStyle/>
                    <a:p>
                      <a:r>
                        <a:rPr lang="en-US" dirty="0"/>
                        <a:t>1</a:t>
                      </a:r>
                      <a:endParaRPr lang="en-GB" dirty="0"/>
                    </a:p>
                  </a:txBody>
                  <a:tcPr/>
                </a:tc>
                <a:tc>
                  <a:txBody>
                    <a:bodyPr/>
                    <a:lstStyle/>
                    <a:p>
                      <a:r>
                        <a:rPr lang="en-US" dirty="0"/>
                        <a:t>4.07</a:t>
                      </a:r>
                      <a:endParaRPr lang="en-GB" dirty="0"/>
                    </a:p>
                  </a:txBody>
                  <a:tcPr/>
                </a:tc>
                <a:extLst>
                  <a:ext uri="{0D108BD9-81ED-4DB2-BD59-A6C34878D82A}">
                    <a16:rowId xmlns:a16="http://schemas.microsoft.com/office/drawing/2014/main" val="1783441348"/>
                  </a:ext>
                </a:extLst>
              </a:tr>
            </a:tbl>
          </a:graphicData>
        </a:graphic>
      </p:graphicFrame>
    </p:spTree>
    <p:extLst>
      <p:ext uri="{BB962C8B-B14F-4D97-AF65-F5344CB8AC3E}">
        <p14:creationId xmlns:p14="http://schemas.microsoft.com/office/powerpoint/2010/main" val="37770609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164592"/>
            <a:ext cx="7315200" cy="246221"/>
          </a:xfrm>
          <a:prstGeom prst="rect">
            <a:avLst/>
          </a:prstGeom>
          <a:noFill/>
        </p:spPr>
        <p:txBody>
          <a:bodyPr wrap="square" lIns="0" tIns="0" rIns="0" bIns="0" anchor="t">
            <a:spAutoFit/>
          </a:bodyPr>
          <a:lstStyle/>
          <a:p>
            <a:pPr algn="l"/>
            <a:r>
              <a:rPr lang="en-US" sz="1600" b="1" dirty="0">
                <a:solidFill>
                  <a:srgbClr val="C73E1D"/>
                </a:solidFill>
                <a:latin typeface="Cambria"/>
              </a:rPr>
              <a:t>RECOMMENDATIONS</a:t>
            </a:r>
            <a:endParaRPr sz="1600" b="1" i="0" dirty="0">
              <a:solidFill>
                <a:srgbClr val="C73E1D"/>
              </a:solidFill>
              <a:latin typeface="Cambria"/>
            </a:endParaRPr>
          </a:p>
        </p:txBody>
      </p:sp>
      <p:sp>
        <p:nvSpPr>
          <p:cNvPr id="3" name="TextBox 2"/>
          <p:cNvSpPr txBox="1"/>
          <p:nvPr/>
        </p:nvSpPr>
        <p:spPr>
          <a:xfrm>
            <a:off x="548640" y="365760"/>
            <a:ext cx="11064240" cy="1107996"/>
          </a:xfrm>
          <a:prstGeom prst="rect">
            <a:avLst/>
          </a:prstGeom>
          <a:noFill/>
        </p:spPr>
        <p:txBody>
          <a:bodyPr wrap="square" lIns="0" tIns="0" rIns="0" bIns="0" anchor="t">
            <a:spAutoFit/>
          </a:bodyPr>
          <a:lstStyle/>
          <a:p>
            <a:pPr algn="l"/>
            <a:r>
              <a:rPr lang="en-US" sz="3600" b="1" i="0" dirty="0">
                <a:solidFill>
                  <a:srgbClr val="14213D"/>
                </a:solidFill>
                <a:latin typeface="Cambria"/>
              </a:rPr>
              <a:t>Recommended movies to a new user based on their keyword preferences</a:t>
            </a:r>
            <a:endParaRPr sz="3600" b="1" i="0" dirty="0">
              <a:solidFill>
                <a:srgbClr val="14213D"/>
              </a:solidFill>
              <a:latin typeface="Cambria"/>
            </a:endParaRPr>
          </a:p>
        </p:txBody>
      </p:sp>
      <p:cxnSp>
        <p:nvCxnSpPr>
          <p:cNvPr id="18" name="Connector 17"/>
          <p:cNvCxnSpPr/>
          <p:nvPr/>
        </p:nvCxnSpPr>
        <p:spPr>
          <a:xfrm>
            <a:off x="5257800" y="4297680"/>
            <a:ext cx="0" cy="228600"/>
          </a:xfrm>
          <a:prstGeom prst="line">
            <a:avLst/>
          </a:prstGeom>
          <a:ln w="19050">
            <a:solidFill>
              <a:srgbClr val="9B2E14"/>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3181532" y="6496594"/>
            <a:ext cx="5120640" cy="169277"/>
          </a:xfrm>
          <a:prstGeom prst="rect">
            <a:avLst/>
          </a:prstGeom>
          <a:noFill/>
        </p:spPr>
        <p:txBody>
          <a:bodyPr wrap="square" lIns="0" tIns="0" rIns="0" bIns="0" anchor="t">
            <a:spAutoFit/>
          </a:bodyPr>
          <a:lstStyle/>
          <a:p>
            <a:pPr algn="ctr"/>
            <a:r>
              <a:rPr lang="en-US" sz="1100" i="1" dirty="0">
                <a:solidFill>
                  <a:srgbClr val="6B7280"/>
                </a:solidFill>
                <a:latin typeface="Calibri"/>
              </a:rPr>
              <a:t>Recommendations based on user keyword </a:t>
            </a:r>
            <a:r>
              <a:rPr lang="en-US" sz="1100" i="1" dirty="0" err="1">
                <a:solidFill>
                  <a:srgbClr val="6B7280"/>
                </a:solidFill>
                <a:latin typeface="Calibri"/>
              </a:rPr>
              <a:t>prefarances</a:t>
            </a:r>
            <a:endParaRPr sz="1100" b="0" i="1" dirty="0">
              <a:solidFill>
                <a:srgbClr val="6B7280"/>
              </a:solidFill>
              <a:latin typeface="Calibri"/>
            </a:endParaRPr>
          </a:p>
        </p:txBody>
      </p:sp>
      <p:sp>
        <p:nvSpPr>
          <p:cNvPr id="24" name="TextBox 23"/>
          <p:cNvSpPr txBox="1"/>
          <p:nvPr/>
        </p:nvSpPr>
        <p:spPr>
          <a:xfrm>
            <a:off x="11475720" y="6446520"/>
            <a:ext cx="640080" cy="138499"/>
          </a:xfrm>
          <a:prstGeom prst="rect">
            <a:avLst/>
          </a:prstGeom>
          <a:noFill/>
        </p:spPr>
        <p:txBody>
          <a:bodyPr wrap="square" lIns="0" tIns="0" rIns="0" bIns="0" anchor="t">
            <a:spAutoFit/>
          </a:bodyPr>
          <a:lstStyle/>
          <a:p>
            <a:pPr algn="r"/>
            <a:r>
              <a:rPr sz="900" b="0" i="0" dirty="0">
                <a:solidFill>
                  <a:srgbClr val="6B7280"/>
                </a:solidFill>
                <a:latin typeface="Calibri"/>
              </a:rPr>
              <a:t>1</a:t>
            </a:r>
            <a:r>
              <a:rPr lang="en-US" sz="900" b="0" i="0" dirty="0">
                <a:solidFill>
                  <a:srgbClr val="6B7280"/>
                </a:solidFill>
                <a:latin typeface="Calibri"/>
              </a:rPr>
              <a:t>8</a:t>
            </a:r>
            <a:r>
              <a:rPr sz="900" b="0" i="0" dirty="0">
                <a:solidFill>
                  <a:srgbClr val="6B7280"/>
                </a:solidFill>
                <a:latin typeface="Calibri"/>
              </a:rPr>
              <a:t> / 14</a:t>
            </a:r>
          </a:p>
        </p:txBody>
      </p:sp>
      <p:sp>
        <p:nvSpPr>
          <p:cNvPr id="9" name="Rectangle 8">
            <a:extLst>
              <a:ext uri="{FF2B5EF4-FFF2-40B4-BE49-F238E27FC236}">
                <a16:creationId xmlns:a16="http://schemas.microsoft.com/office/drawing/2014/main" id="{28D15FFA-3A4F-4987-94B1-96133FD334DE}"/>
              </a:ext>
            </a:extLst>
          </p:cNvPr>
          <p:cNvSpPr/>
          <p:nvPr/>
        </p:nvSpPr>
        <p:spPr>
          <a:xfrm>
            <a:off x="701040" y="1964981"/>
            <a:ext cx="6096000" cy="923330"/>
          </a:xfrm>
          <a:prstGeom prst="rect">
            <a:avLst/>
          </a:prstGeom>
        </p:spPr>
        <p:txBody>
          <a:bodyPr>
            <a:spAutoFit/>
          </a:bodyPr>
          <a:lstStyle/>
          <a:p>
            <a:r>
              <a:rPr lang="en-US" b="1" dirty="0"/>
              <a:t>New user likes: ['funny', 'clever', 'witty’]</a:t>
            </a:r>
          </a:p>
          <a:p>
            <a:endParaRPr lang="en-US" b="1" dirty="0"/>
          </a:p>
          <a:p>
            <a:r>
              <a:rPr lang="en-US" b="1" dirty="0"/>
              <a:t>Recommendations based on tags:</a:t>
            </a:r>
            <a:endParaRPr lang="en-GB" b="1" dirty="0"/>
          </a:p>
        </p:txBody>
      </p:sp>
      <p:sp>
        <p:nvSpPr>
          <p:cNvPr id="5" name="Rectangle 4">
            <a:extLst>
              <a:ext uri="{FF2B5EF4-FFF2-40B4-BE49-F238E27FC236}">
                <a16:creationId xmlns:a16="http://schemas.microsoft.com/office/drawing/2014/main" id="{97603FD1-CDCE-4D0D-8E5B-60BCF9BB7B44}"/>
              </a:ext>
            </a:extLst>
          </p:cNvPr>
          <p:cNvSpPr/>
          <p:nvPr/>
        </p:nvSpPr>
        <p:spPr>
          <a:xfrm>
            <a:off x="548640" y="3233618"/>
            <a:ext cx="11324492" cy="2585323"/>
          </a:xfrm>
          <a:prstGeom prst="rect">
            <a:avLst/>
          </a:prstGeom>
        </p:spPr>
        <p:txBody>
          <a:bodyPr wrap="square">
            <a:spAutoFit/>
          </a:bodyPr>
          <a:lstStyle/>
          <a:p>
            <a:r>
              <a:rPr lang="en-US" b="1" dirty="0"/>
              <a:t>How it has worked: </a:t>
            </a:r>
          </a:p>
          <a:p>
            <a:endParaRPr lang="en-US" dirty="0"/>
          </a:p>
          <a:p>
            <a:r>
              <a:rPr lang="en-US"/>
              <a:t>- Converts </a:t>
            </a:r>
            <a:r>
              <a:rPr lang="en-US" dirty="0"/>
              <a:t>the user's keywords </a:t>
            </a:r>
            <a:r>
              <a:rPr lang="en-US"/>
              <a:t>to lowercase</a:t>
            </a:r>
          </a:p>
          <a:p>
            <a:pPr marL="285750" indent="-285750">
              <a:buFontTx/>
              <a:buChar char="-"/>
            </a:pPr>
            <a:endParaRPr lang="en-US" dirty="0"/>
          </a:p>
          <a:p>
            <a:r>
              <a:rPr lang="en-US" dirty="0"/>
              <a:t>- For each movie, counts how many of the user's keywords appear in its tag set</a:t>
            </a:r>
          </a:p>
          <a:p>
            <a:endParaRPr lang="en-US" dirty="0"/>
          </a:p>
          <a:p>
            <a:r>
              <a:rPr lang="en-US" dirty="0"/>
              <a:t>- Returns the top N movies that matched at least one keyword, sorted by number of matches then by Bayesian score </a:t>
            </a:r>
          </a:p>
          <a:p>
            <a:endParaRPr lang="en-US" dirty="0"/>
          </a:p>
          <a:p>
            <a:r>
              <a:rPr lang="en-US" dirty="0"/>
              <a:t>- If no matches at all, returns the most popular movies overall</a:t>
            </a:r>
            <a:endParaRPr lang="en-GB"/>
          </a:p>
        </p:txBody>
      </p:sp>
    </p:spTree>
    <p:extLst>
      <p:ext uri="{BB962C8B-B14F-4D97-AF65-F5344CB8AC3E}">
        <p14:creationId xmlns:p14="http://schemas.microsoft.com/office/powerpoint/2010/main" val="8628102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242649"/>
            <a:ext cx="7315200" cy="246221"/>
          </a:xfrm>
          <a:prstGeom prst="rect">
            <a:avLst/>
          </a:prstGeom>
          <a:noFill/>
        </p:spPr>
        <p:txBody>
          <a:bodyPr wrap="square" lIns="0" tIns="0" rIns="0" bIns="0" anchor="t">
            <a:spAutoFit/>
          </a:bodyPr>
          <a:lstStyle/>
          <a:p>
            <a:pPr algn="l"/>
            <a:r>
              <a:rPr lang="en-US" sz="1600" b="1" dirty="0">
                <a:solidFill>
                  <a:srgbClr val="C73E1D"/>
                </a:solidFill>
                <a:latin typeface="Cambria"/>
              </a:rPr>
              <a:t>RECOMMENDATIONS</a:t>
            </a:r>
            <a:endParaRPr sz="1600" b="1" i="0" dirty="0">
              <a:solidFill>
                <a:srgbClr val="C73E1D"/>
              </a:solidFill>
              <a:latin typeface="Cambria"/>
            </a:endParaRPr>
          </a:p>
        </p:txBody>
      </p:sp>
      <p:sp>
        <p:nvSpPr>
          <p:cNvPr id="3" name="TextBox 2"/>
          <p:cNvSpPr txBox="1"/>
          <p:nvPr/>
        </p:nvSpPr>
        <p:spPr>
          <a:xfrm>
            <a:off x="548640" y="807340"/>
            <a:ext cx="11064240" cy="553998"/>
          </a:xfrm>
          <a:prstGeom prst="rect">
            <a:avLst/>
          </a:prstGeom>
          <a:noFill/>
        </p:spPr>
        <p:txBody>
          <a:bodyPr wrap="square" lIns="0" tIns="0" rIns="0" bIns="0" anchor="t">
            <a:spAutoFit/>
          </a:bodyPr>
          <a:lstStyle/>
          <a:p>
            <a:pPr algn="l"/>
            <a:r>
              <a:rPr lang="en-US" sz="3600" b="1" dirty="0">
                <a:solidFill>
                  <a:srgbClr val="14213D"/>
                </a:solidFill>
                <a:latin typeface="Cambria"/>
              </a:rPr>
              <a:t>Genre-based fallback for a new Action fan</a:t>
            </a:r>
            <a:endParaRPr sz="3600" b="1" i="0" dirty="0">
              <a:solidFill>
                <a:srgbClr val="14213D"/>
              </a:solidFill>
              <a:latin typeface="Cambria"/>
            </a:endParaRPr>
          </a:p>
        </p:txBody>
      </p:sp>
      <p:cxnSp>
        <p:nvCxnSpPr>
          <p:cNvPr id="18" name="Connector 17"/>
          <p:cNvCxnSpPr/>
          <p:nvPr/>
        </p:nvCxnSpPr>
        <p:spPr>
          <a:xfrm>
            <a:off x="5257800" y="4297680"/>
            <a:ext cx="0" cy="228600"/>
          </a:xfrm>
          <a:prstGeom prst="line">
            <a:avLst/>
          </a:prstGeom>
          <a:ln w="19050">
            <a:solidFill>
              <a:srgbClr val="9B2E14"/>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3181532" y="6496594"/>
            <a:ext cx="5120640" cy="365760"/>
          </a:xfrm>
          <a:prstGeom prst="rect">
            <a:avLst/>
          </a:prstGeom>
          <a:noFill/>
        </p:spPr>
        <p:txBody>
          <a:bodyPr wrap="square" lIns="0" tIns="0" rIns="0" bIns="0" anchor="t">
            <a:spAutoFit/>
          </a:bodyPr>
          <a:lstStyle/>
          <a:p>
            <a:pPr algn="ctr"/>
            <a:r>
              <a:rPr sz="1100" b="0" i="1" dirty="0">
                <a:solidFill>
                  <a:srgbClr val="6B7280"/>
                </a:solidFill>
                <a:latin typeface="Calibri"/>
              </a:rPr>
              <a:t>Sample top-5 for User 5 (predicted ratings)</a:t>
            </a:r>
          </a:p>
        </p:txBody>
      </p:sp>
      <p:sp>
        <p:nvSpPr>
          <p:cNvPr id="24" name="TextBox 23"/>
          <p:cNvSpPr txBox="1"/>
          <p:nvPr/>
        </p:nvSpPr>
        <p:spPr>
          <a:xfrm>
            <a:off x="11475720" y="6446520"/>
            <a:ext cx="640080" cy="138499"/>
          </a:xfrm>
          <a:prstGeom prst="rect">
            <a:avLst/>
          </a:prstGeom>
          <a:noFill/>
        </p:spPr>
        <p:txBody>
          <a:bodyPr wrap="square" lIns="0" tIns="0" rIns="0" bIns="0" anchor="t">
            <a:spAutoFit/>
          </a:bodyPr>
          <a:lstStyle/>
          <a:p>
            <a:pPr algn="r"/>
            <a:r>
              <a:rPr sz="900" b="0" i="0" dirty="0">
                <a:solidFill>
                  <a:srgbClr val="6B7280"/>
                </a:solidFill>
                <a:latin typeface="Calibri"/>
              </a:rPr>
              <a:t>13</a:t>
            </a:r>
            <a:r>
              <a:rPr lang="en-US" sz="900" b="0" i="0" dirty="0">
                <a:solidFill>
                  <a:srgbClr val="6B7280"/>
                </a:solidFill>
                <a:latin typeface="Calibri"/>
              </a:rPr>
              <a:t>9</a:t>
            </a:r>
            <a:r>
              <a:rPr sz="900" b="0" i="0" dirty="0">
                <a:solidFill>
                  <a:srgbClr val="6B7280"/>
                </a:solidFill>
                <a:latin typeface="Calibri"/>
              </a:rPr>
              <a:t>/ 14</a:t>
            </a:r>
          </a:p>
        </p:txBody>
      </p:sp>
      <p:sp>
        <p:nvSpPr>
          <p:cNvPr id="4" name="Rectangle 3">
            <a:extLst>
              <a:ext uri="{FF2B5EF4-FFF2-40B4-BE49-F238E27FC236}">
                <a16:creationId xmlns:a16="http://schemas.microsoft.com/office/drawing/2014/main" id="{3ECE8FB6-7854-4EAB-ADD4-1C0FE6A62893}"/>
              </a:ext>
            </a:extLst>
          </p:cNvPr>
          <p:cNvSpPr/>
          <p:nvPr/>
        </p:nvSpPr>
        <p:spPr>
          <a:xfrm>
            <a:off x="548640" y="1812581"/>
            <a:ext cx="6096000" cy="369332"/>
          </a:xfrm>
          <a:prstGeom prst="rect">
            <a:avLst/>
          </a:prstGeom>
        </p:spPr>
        <p:txBody>
          <a:bodyPr>
            <a:spAutoFit/>
          </a:bodyPr>
          <a:lstStyle/>
          <a:p>
            <a:r>
              <a:rPr lang="en-US" b="1" dirty="0"/>
              <a:t>Recommendations based on tags:</a:t>
            </a:r>
            <a:endParaRPr lang="en-GB" b="1" dirty="0"/>
          </a:p>
        </p:txBody>
      </p:sp>
      <p:graphicFrame>
        <p:nvGraphicFramePr>
          <p:cNvPr id="6" name="Table 5">
            <a:extLst>
              <a:ext uri="{FF2B5EF4-FFF2-40B4-BE49-F238E27FC236}">
                <a16:creationId xmlns:a16="http://schemas.microsoft.com/office/drawing/2014/main" id="{D3FAD6EE-95B5-4464-A5B7-EC12456AEEA1}"/>
              </a:ext>
            </a:extLst>
          </p:cNvPr>
          <p:cNvGraphicFramePr>
            <a:graphicFrameLocks noGrp="1"/>
          </p:cNvGraphicFramePr>
          <p:nvPr>
            <p:extLst>
              <p:ext uri="{D42A27DB-BD31-4B8C-83A1-F6EECF244321}">
                <p14:modId xmlns:p14="http://schemas.microsoft.com/office/powerpoint/2010/main" val="682919935"/>
              </p:ext>
            </p:extLst>
          </p:nvPr>
        </p:nvGraphicFramePr>
        <p:xfrm>
          <a:off x="548640" y="2633156"/>
          <a:ext cx="11064240" cy="4021322"/>
        </p:xfrm>
        <a:graphic>
          <a:graphicData uri="http://schemas.openxmlformats.org/drawingml/2006/table">
            <a:tbl>
              <a:tblPr firstRow="1" bandRow="1">
                <a:tableStyleId>{5C22544A-7EE6-4342-B048-85BDC9FD1C3A}</a:tableStyleId>
              </a:tblPr>
              <a:tblGrid>
                <a:gridCol w="661182">
                  <a:extLst>
                    <a:ext uri="{9D8B030D-6E8A-4147-A177-3AD203B41FA5}">
                      <a16:colId xmlns:a16="http://schemas.microsoft.com/office/drawing/2014/main" val="1686909536"/>
                    </a:ext>
                  </a:extLst>
                </a:gridCol>
                <a:gridCol w="3764514">
                  <a:extLst>
                    <a:ext uri="{9D8B030D-6E8A-4147-A177-3AD203B41FA5}">
                      <a16:colId xmlns:a16="http://schemas.microsoft.com/office/drawing/2014/main" val="1899540560"/>
                    </a:ext>
                  </a:extLst>
                </a:gridCol>
                <a:gridCol w="3679010">
                  <a:extLst>
                    <a:ext uri="{9D8B030D-6E8A-4147-A177-3AD203B41FA5}">
                      <a16:colId xmlns:a16="http://schemas.microsoft.com/office/drawing/2014/main" val="1402553594"/>
                    </a:ext>
                  </a:extLst>
                </a:gridCol>
                <a:gridCol w="1271239">
                  <a:extLst>
                    <a:ext uri="{9D8B030D-6E8A-4147-A177-3AD203B41FA5}">
                      <a16:colId xmlns:a16="http://schemas.microsoft.com/office/drawing/2014/main" val="2588486344"/>
                    </a:ext>
                  </a:extLst>
                </a:gridCol>
                <a:gridCol w="1688295">
                  <a:extLst>
                    <a:ext uri="{9D8B030D-6E8A-4147-A177-3AD203B41FA5}">
                      <a16:colId xmlns:a16="http://schemas.microsoft.com/office/drawing/2014/main" val="2388934442"/>
                    </a:ext>
                  </a:extLst>
                </a:gridCol>
              </a:tblGrid>
              <a:tr h="739891">
                <a:tc>
                  <a:txBody>
                    <a:bodyPr/>
                    <a:lstStyle/>
                    <a:p>
                      <a:r>
                        <a:rPr lang="en-US" dirty="0"/>
                        <a:t> </a:t>
                      </a:r>
                      <a:endParaRPr lang="en-GB" dirty="0"/>
                    </a:p>
                  </a:txBody>
                  <a:tcPr/>
                </a:tc>
                <a:tc>
                  <a:txBody>
                    <a:bodyPr/>
                    <a:lstStyle/>
                    <a:p>
                      <a:r>
                        <a:rPr lang="en-US" dirty="0"/>
                        <a:t>TITLE</a:t>
                      </a:r>
                      <a:endParaRPr lang="en-GB" dirty="0"/>
                    </a:p>
                  </a:txBody>
                  <a:tcPr/>
                </a:tc>
                <a:tc>
                  <a:txBody>
                    <a:bodyPr/>
                    <a:lstStyle/>
                    <a:p>
                      <a:r>
                        <a:rPr lang="en-US" dirty="0"/>
                        <a:t>GENRE</a:t>
                      </a:r>
                      <a:endParaRPr lang="en-GB" dirty="0"/>
                    </a:p>
                  </a:txBody>
                  <a:tcPr/>
                </a:tc>
                <a:tc>
                  <a:txBody>
                    <a:bodyPr/>
                    <a:lstStyle/>
                    <a:p>
                      <a:r>
                        <a:rPr lang="en-US" dirty="0"/>
                        <a:t>AVG. RATING</a:t>
                      </a:r>
                      <a:endParaRPr lang="en-GB" dirty="0"/>
                    </a:p>
                  </a:txBody>
                  <a:tcPr/>
                </a:tc>
                <a:tc>
                  <a:txBody>
                    <a:bodyPr/>
                    <a:lstStyle/>
                    <a:p>
                      <a:r>
                        <a:rPr lang="en-US" dirty="0"/>
                        <a:t>N. RATING</a:t>
                      </a:r>
                      <a:endParaRPr lang="en-GB" dirty="0"/>
                    </a:p>
                  </a:txBody>
                  <a:tcPr/>
                </a:tc>
                <a:extLst>
                  <a:ext uri="{0D108BD9-81ED-4DB2-BD59-A6C34878D82A}">
                    <a16:rowId xmlns:a16="http://schemas.microsoft.com/office/drawing/2014/main" val="3916406960"/>
                  </a:ext>
                </a:extLst>
              </a:tr>
              <a:tr h="530879">
                <a:tc>
                  <a:txBody>
                    <a:bodyPr/>
                    <a:lstStyle/>
                    <a:p>
                      <a:r>
                        <a:rPr lang="en-US" dirty="0"/>
                        <a:t>1</a:t>
                      </a:r>
                      <a:endParaRPr lang="en-GB" dirty="0"/>
                    </a:p>
                  </a:txBody>
                  <a:tcPr/>
                </a:tc>
                <a:tc>
                  <a:txBody>
                    <a:bodyPr/>
                    <a:lstStyle/>
                    <a:p>
                      <a:r>
                        <a:rPr lang="en-US" dirty="0"/>
                        <a:t>Fight Club(1999)</a:t>
                      </a:r>
                      <a:endParaRPr lang="en-GB" dirty="0"/>
                    </a:p>
                  </a:txBody>
                  <a:tcPr/>
                </a:tc>
                <a:tc>
                  <a:txBody>
                    <a:bodyPr/>
                    <a:lstStyle/>
                    <a:p>
                      <a:r>
                        <a:rPr lang="en-US" dirty="0"/>
                        <a:t>Action|Crime|Drama|Thriller</a:t>
                      </a:r>
                      <a:endParaRPr lang="en-GB" dirty="0"/>
                    </a:p>
                  </a:txBody>
                  <a:tcPr/>
                </a:tc>
                <a:tc>
                  <a:txBody>
                    <a:bodyPr/>
                    <a:lstStyle/>
                    <a:p>
                      <a:r>
                        <a:rPr lang="en-US" dirty="0"/>
                        <a:t>4.27</a:t>
                      </a:r>
                      <a:endParaRPr lang="en-GB" dirty="0"/>
                    </a:p>
                  </a:txBody>
                  <a:tcPr/>
                </a:tc>
                <a:tc>
                  <a:txBody>
                    <a:bodyPr/>
                    <a:lstStyle/>
                    <a:p>
                      <a:r>
                        <a:rPr lang="en-US" dirty="0"/>
                        <a:t>281</a:t>
                      </a:r>
                      <a:endParaRPr lang="en-GB" dirty="0"/>
                    </a:p>
                  </a:txBody>
                  <a:tcPr/>
                </a:tc>
                <a:extLst>
                  <a:ext uri="{0D108BD9-81ED-4DB2-BD59-A6C34878D82A}">
                    <a16:rowId xmlns:a16="http://schemas.microsoft.com/office/drawing/2014/main" val="3797906306"/>
                  </a:ext>
                </a:extLst>
              </a:tr>
              <a:tr h="739891">
                <a:tc>
                  <a:txBody>
                    <a:bodyPr/>
                    <a:lstStyle/>
                    <a:p>
                      <a:r>
                        <a:rPr lang="en-US" dirty="0"/>
                        <a:t>2</a:t>
                      </a:r>
                      <a:endParaRPr lang="en-GB" dirty="0"/>
                    </a:p>
                  </a:txBody>
                  <a:tcPr/>
                </a:tc>
                <a:tc>
                  <a:txBody>
                    <a:bodyPr/>
                    <a:lstStyle/>
                    <a:p>
                      <a:r>
                        <a:rPr lang="en-US" dirty="0"/>
                        <a:t>Star Wars: Episode IV – A New Hope(1977)</a:t>
                      </a:r>
                      <a:endParaRPr lang="en-GB" dirty="0"/>
                    </a:p>
                  </a:txBody>
                  <a:tcPr/>
                </a:tc>
                <a:tc>
                  <a:txBody>
                    <a:bodyPr/>
                    <a:lstStyle/>
                    <a:p>
                      <a:r>
                        <a:rPr lang="en-US" dirty="0"/>
                        <a:t>Action|Adventures|Sci-Fi</a:t>
                      </a:r>
                      <a:endParaRPr lang="en-GB" dirty="0"/>
                    </a:p>
                  </a:txBody>
                  <a:tcPr/>
                </a:tc>
                <a:tc>
                  <a:txBody>
                    <a:bodyPr/>
                    <a:lstStyle/>
                    <a:p>
                      <a:r>
                        <a:rPr lang="en-US" dirty="0"/>
                        <a:t>4.23</a:t>
                      </a:r>
                      <a:endParaRPr lang="en-GB" dirty="0"/>
                    </a:p>
                  </a:txBody>
                  <a:tcPr/>
                </a:tc>
                <a:tc>
                  <a:txBody>
                    <a:bodyPr/>
                    <a:lstStyle/>
                    <a:p>
                      <a:r>
                        <a:rPr lang="en-US" dirty="0"/>
                        <a:t>251</a:t>
                      </a:r>
                      <a:endParaRPr lang="en-GB" dirty="0"/>
                    </a:p>
                  </a:txBody>
                  <a:tcPr/>
                </a:tc>
                <a:extLst>
                  <a:ext uri="{0D108BD9-81ED-4DB2-BD59-A6C34878D82A}">
                    <a16:rowId xmlns:a16="http://schemas.microsoft.com/office/drawing/2014/main" val="781450792"/>
                  </a:ext>
                </a:extLst>
              </a:tr>
              <a:tr h="530879">
                <a:tc>
                  <a:txBody>
                    <a:bodyPr/>
                    <a:lstStyle/>
                    <a:p>
                      <a:r>
                        <a:rPr lang="en-US" dirty="0"/>
                        <a:t>3</a:t>
                      </a:r>
                      <a:endParaRPr lang="en-GB" dirty="0"/>
                    </a:p>
                  </a:txBody>
                  <a:tcPr/>
                </a:tc>
                <a:tc>
                  <a:txBody>
                    <a:bodyPr/>
                    <a:lstStyle/>
                    <a:p>
                      <a:r>
                        <a:rPr lang="en-US" dirty="0"/>
                        <a:t>Dark Knight, The(2008)</a:t>
                      </a:r>
                      <a:endParaRPr lang="en-GB" dirty="0"/>
                    </a:p>
                  </a:txBody>
                  <a:tcPr/>
                </a:tc>
                <a:tc>
                  <a:txBody>
                    <a:bodyPr/>
                    <a:lstStyle/>
                    <a:p>
                      <a:r>
                        <a:rPr lang="en-US" dirty="0"/>
                        <a:t>Action|Crime|Drama|IMAX</a:t>
                      </a:r>
                      <a:endParaRPr lang="en-GB" dirty="0"/>
                    </a:p>
                  </a:txBody>
                  <a:tcPr/>
                </a:tc>
                <a:tc>
                  <a:txBody>
                    <a:bodyPr/>
                    <a:lstStyle/>
                    <a:p>
                      <a:r>
                        <a:rPr lang="en-US" dirty="0"/>
                        <a:t>4.24</a:t>
                      </a:r>
                      <a:endParaRPr lang="en-GB" dirty="0"/>
                    </a:p>
                  </a:txBody>
                  <a:tcPr/>
                </a:tc>
                <a:tc>
                  <a:txBody>
                    <a:bodyPr/>
                    <a:lstStyle/>
                    <a:p>
                      <a:r>
                        <a:rPr lang="en-US" dirty="0"/>
                        <a:t>149</a:t>
                      </a:r>
                      <a:endParaRPr lang="en-GB" dirty="0"/>
                    </a:p>
                  </a:txBody>
                  <a:tcPr/>
                </a:tc>
                <a:extLst>
                  <a:ext uri="{0D108BD9-81ED-4DB2-BD59-A6C34878D82A}">
                    <a16:rowId xmlns:a16="http://schemas.microsoft.com/office/drawing/2014/main" val="2171977536"/>
                  </a:ext>
                </a:extLst>
              </a:tr>
              <a:tr h="739891">
                <a:tc>
                  <a:txBody>
                    <a:bodyPr/>
                    <a:lstStyle/>
                    <a:p>
                      <a:r>
                        <a:rPr lang="en-US" dirty="0"/>
                        <a:t>4</a:t>
                      </a:r>
                      <a:endParaRPr lang="en-GB" dirty="0"/>
                    </a:p>
                  </a:txBody>
                  <a:tcPr/>
                </a:tc>
                <a:tc>
                  <a:txBody>
                    <a:bodyPr/>
                    <a:lstStyle/>
                    <a:p>
                      <a:r>
                        <a:rPr lang="en-US" dirty="0"/>
                        <a:t>Prince Bride, The(1987)</a:t>
                      </a:r>
                      <a:endParaRPr lang="en-GB" dirty="0"/>
                    </a:p>
                  </a:txBody>
                  <a:tcPr/>
                </a:tc>
                <a:tc>
                  <a:txBody>
                    <a:bodyPr/>
                    <a:lstStyle/>
                    <a:p>
                      <a:r>
                        <a:rPr lang="en-US" dirty="0"/>
                        <a:t>Action|Adventure|Comedy|Fantasy|Romance</a:t>
                      </a:r>
                      <a:endParaRPr lang="en-GB" dirty="0"/>
                    </a:p>
                  </a:txBody>
                  <a:tcPr/>
                </a:tc>
                <a:tc>
                  <a:txBody>
                    <a:bodyPr/>
                    <a:lstStyle/>
                    <a:p>
                      <a:r>
                        <a:rPr lang="en-US" dirty="0"/>
                        <a:t>4.23</a:t>
                      </a:r>
                      <a:endParaRPr lang="en-GB" dirty="0"/>
                    </a:p>
                  </a:txBody>
                  <a:tcPr/>
                </a:tc>
                <a:tc>
                  <a:txBody>
                    <a:bodyPr/>
                    <a:lstStyle/>
                    <a:p>
                      <a:r>
                        <a:rPr lang="en-US" dirty="0"/>
                        <a:t>142</a:t>
                      </a:r>
                      <a:endParaRPr lang="en-GB" dirty="0"/>
                    </a:p>
                  </a:txBody>
                  <a:tcPr/>
                </a:tc>
                <a:extLst>
                  <a:ext uri="{0D108BD9-81ED-4DB2-BD59-A6C34878D82A}">
                    <a16:rowId xmlns:a16="http://schemas.microsoft.com/office/drawing/2014/main" val="3182544813"/>
                  </a:ext>
                </a:extLst>
              </a:tr>
              <a:tr h="739891">
                <a:tc>
                  <a:txBody>
                    <a:bodyPr/>
                    <a:lstStyle/>
                    <a:p>
                      <a:r>
                        <a:rPr lang="en-US" dirty="0"/>
                        <a:t>5</a:t>
                      </a:r>
                      <a:endParaRPr lang="en-GB" dirty="0"/>
                    </a:p>
                  </a:txBody>
                  <a:tcPr/>
                </a:tc>
                <a:tc>
                  <a:txBody>
                    <a:bodyPr/>
                    <a:lstStyle/>
                    <a:p>
                      <a:r>
                        <a:rPr lang="en-US" dirty="0"/>
                        <a:t>Star Wars:Episode V – The Empire Strikes Back(2010)</a:t>
                      </a:r>
                      <a:endParaRPr lang="en-GB" dirty="0"/>
                    </a:p>
                  </a:txBody>
                  <a:tcPr/>
                </a:tc>
                <a:tc>
                  <a:txBody>
                    <a:bodyPr/>
                    <a:lstStyle/>
                    <a:p>
                      <a:r>
                        <a:rPr lang="en-US" dirty="0"/>
                        <a:t>Action|Adventure|Sci-Fi</a:t>
                      </a:r>
                      <a:endParaRPr lang="en-GB" dirty="0"/>
                    </a:p>
                  </a:txBody>
                  <a:tcPr/>
                </a:tc>
                <a:tc>
                  <a:txBody>
                    <a:bodyPr/>
                    <a:lstStyle/>
                    <a:p>
                      <a:r>
                        <a:rPr lang="en-US" dirty="0"/>
                        <a:t>4.22</a:t>
                      </a:r>
                      <a:endParaRPr lang="en-GB" dirty="0"/>
                    </a:p>
                  </a:txBody>
                  <a:tcPr/>
                </a:tc>
                <a:tc>
                  <a:txBody>
                    <a:bodyPr/>
                    <a:lstStyle/>
                    <a:p>
                      <a:r>
                        <a:rPr lang="en-US" dirty="0"/>
                        <a:t>211</a:t>
                      </a:r>
                      <a:endParaRPr lang="en-GB" dirty="0"/>
                    </a:p>
                  </a:txBody>
                  <a:tcPr/>
                </a:tc>
                <a:extLst>
                  <a:ext uri="{0D108BD9-81ED-4DB2-BD59-A6C34878D82A}">
                    <a16:rowId xmlns:a16="http://schemas.microsoft.com/office/drawing/2014/main" val="1783441348"/>
                  </a:ext>
                </a:extLst>
              </a:tr>
            </a:tbl>
          </a:graphicData>
        </a:graphic>
      </p:graphicFrame>
    </p:spTree>
    <p:extLst>
      <p:ext uri="{BB962C8B-B14F-4D97-AF65-F5344CB8AC3E}">
        <p14:creationId xmlns:p14="http://schemas.microsoft.com/office/powerpoint/2010/main" val="40561321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164592"/>
            <a:ext cx="7315200" cy="246221"/>
          </a:xfrm>
          <a:prstGeom prst="rect">
            <a:avLst/>
          </a:prstGeom>
          <a:noFill/>
        </p:spPr>
        <p:txBody>
          <a:bodyPr wrap="square" lIns="0" tIns="0" rIns="0" bIns="0" anchor="t">
            <a:spAutoFit/>
          </a:bodyPr>
          <a:lstStyle/>
          <a:p>
            <a:pPr algn="l"/>
            <a:r>
              <a:rPr lang="en-US" sz="1600" b="1" dirty="0">
                <a:solidFill>
                  <a:srgbClr val="C73E1D"/>
                </a:solidFill>
                <a:latin typeface="Cambria"/>
              </a:rPr>
              <a:t>DEPLOYMENT</a:t>
            </a:r>
            <a:endParaRPr sz="1600" b="1" i="0" dirty="0">
              <a:solidFill>
                <a:srgbClr val="C73E1D"/>
              </a:solidFill>
              <a:latin typeface="Cambria"/>
            </a:endParaRPr>
          </a:p>
        </p:txBody>
      </p:sp>
      <p:sp>
        <p:nvSpPr>
          <p:cNvPr id="3" name="TextBox 2"/>
          <p:cNvSpPr txBox="1"/>
          <p:nvPr/>
        </p:nvSpPr>
        <p:spPr>
          <a:xfrm>
            <a:off x="548640" y="365760"/>
            <a:ext cx="11064240" cy="553998"/>
          </a:xfrm>
          <a:prstGeom prst="rect">
            <a:avLst/>
          </a:prstGeom>
          <a:noFill/>
        </p:spPr>
        <p:txBody>
          <a:bodyPr wrap="square" lIns="0" tIns="0" rIns="0" bIns="0" anchor="t">
            <a:spAutoFit/>
          </a:bodyPr>
          <a:lstStyle/>
          <a:p>
            <a:pPr algn="l"/>
            <a:r>
              <a:rPr lang="en-US" sz="3600" b="1" i="0" dirty="0">
                <a:solidFill>
                  <a:srgbClr val="14213D"/>
                </a:solidFill>
                <a:latin typeface="Cambria"/>
              </a:rPr>
              <a:t>Recommended movies to an existing user (User ID 1)</a:t>
            </a:r>
            <a:endParaRPr sz="3600" b="1" i="0" dirty="0">
              <a:solidFill>
                <a:srgbClr val="14213D"/>
              </a:solidFill>
              <a:latin typeface="Cambria"/>
            </a:endParaRPr>
          </a:p>
        </p:txBody>
      </p:sp>
      <p:cxnSp>
        <p:nvCxnSpPr>
          <p:cNvPr id="18" name="Connector 17"/>
          <p:cNvCxnSpPr/>
          <p:nvPr/>
        </p:nvCxnSpPr>
        <p:spPr>
          <a:xfrm>
            <a:off x="5257800" y="4297680"/>
            <a:ext cx="0" cy="228600"/>
          </a:xfrm>
          <a:prstGeom prst="line">
            <a:avLst/>
          </a:prstGeom>
          <a:ln w="19050">
            <a:solidFill>
              <a:srgbClr val="9B2E14"/>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3181532" y="6496594"/>
            <a:ext cx="5120640" cy="169277"/>
          </a:xfrm>
          <a:prstGeom prst="rect">
            <a:avLst/>
          </a:prstGeom>
          <a:noFill/>
        </p:spPr>
        <p:txBody>
          <a:bodyPr wrap="square" lIns="0" tIns="0" rIns="0" bIns="0" anchor="t">
            <a:spAutoFit/>
          </a:bodyPr>
          <a:lstStyle/>
          <a:p>
            <a:pPr algn="ctr"/>
            <a:r>
              <a:rPr lang="en-US" sz="1100" i="1" dirty="0">
                <a:solidFill>
                  <a:srgbClr val="6B7280"/>
                </a:solidFill>
                <a:latin typeface="Calibri"/>
              </a:rPr>
              <a:t>Recommended movies to an existing user </a:t>
            </a:r>
            <a:endParaRPr sz="1100" b="0" i="1" dirty="0">
              <a:solidFill>
                <a:srgbClr val="6B7280"/>
              </a:solidFill>
              <a:latin typeface="Calibri"/>
            </a:endParaRPr>
          </a:p>
        </p:txBody>
      </p:sp>
      <p:sp>
        <p:nvSpPr>
          <p:cNvPr id="24" name="TextBox 23"/>
          <p:cNvSpPr txBox="1"/>
          <p:nvPr/>
        </p:nvSpPr>
        <p:spPr>
          <a:xfrm>
            <a:off x="11475720" y="6446520"/>
            <a:ext cx="640080" cy="138499"/>
          </a:xfrm>
          <a:prstGeom prst="rect">
            <a:avLst/>
          </a:prstGeom>
          <a:noFill/>
        </p:spPr>
        <p:txBody>
          <a:bodyPr wrap="square" lIns="0" tIns="0" rIns="0" bIns="0" anchor="t">
            <a:spAutoFit/>
          </a:bodyPr>
          <a:lstStyle/>
          <a:p>
            <a:pPr algn="r"/>
            <a:r>
              <a:rPr lang="en-US" sz="900" dirty="0">
                <a:solidFill>
                  <a:srgbClr val="6B7280"/>
                </a:solidFill>
                <a:latin typeface="Calibri"/>
              </a:rPr>
              <a:t>200</a:t>
            </a:r>
            <a:r>
              <a:rPr sz="900" b="0" i="0" dirty="0">
                <a:solidFill>
                  <a:srgbClr val="6B7280"/>
                </a:solidFill>
                <a:latin typeface="Calibri"/>
              </a:rPr>
              <a:t>/ 14</a:t>
            </a:r>
          </a:p>
        </p:txBody>
      </p:sp>
      <p:graphicFrame>
        <p:nvGraphicFramePr>
          <p:cNvPr id="6" name="Table 5">
            <a:extLst>
              <a:ext uri="{FF2B5EF4-FFF2-40B4-BE49-F238E27FC236}">
                <a16:creationId xmlns:a16="http://schemas.microsoft.com/office/drawing/2014/main" id="{D3FAD6EE-95B5-4464-A5B7-EC12456AEEA1}"/>
              </a:ext>
            </a:extLst>
          </p:cNvPr>
          <p:cNvGraphicFramePr>
            <a:graphicFrameLocks noGrp="1"/>
          </p:cNvGraphicFramePr>
          <p:nvPr>
            <p:extLst>
              <p:ext uri="{D42A27DB-BD31-4B8C-83A1-F6EECF244321}">
                <p14:modId xmlns:p14="http://schemas.microsoft.com/office/powerpoint/2010/main" val="4111951823"/>
              </p:ext>
            </p:extLst>
          </p:nvPr>
        </p:nvGraphicFramePr>
        <p:xfrm>
          <a:off x="548640" y="2616591"/>
          <a:ext cx="11064240" cy="3388247"/>
        </p:xfrm>
        <a:graphic>
          <a:graphicData uri="http://schemas.openxmlformats.org/drawingml/2006/table">
            <a:tbl>
              <a:tblPr firstRow="1" bandRow="1">
                <a:tableStyleId>{5C22544A-7EE6-4342-B048-85BDC9FD1C3A}</a:tableStyleId>
              </a:tblPr>
              <a:tblGrid>
                <a:gridCol w="747011">
                  <a:extLst>
                    <a:ext uri="{9D8B030D-6E8A-4147-A177-3AD203B41FA5}">
                      <a16:colId xmlns:a16="http://schemas.microsoft.com/office/drawing/2014/main" val="1686909536"/>
                    </a:ext>
                  </a:extLst>
                </a:gridCol>
                <a:gridCol w="4253189">
                  <a:extLst>
                    <a:ext uri="{9D8B030D-6E8A-4147-A177-3AD203B41FA5}">
                      <a16:colId xmlns:a16="http://schemas.microsoft.com/office/drawing/2014/main" val="1899540560"/>
                    </a:ext>
                  </a:extLst>
                </a:gridCol>
                <a:gridCol w="3711892">
                  <a:extLst>
                    <a:ext uri="{9D8B030D-6E8A-4147-A177-3AD203B41FA5}">
                      <a16:colId xmlns:a16="http://schemas.microsoft.com/office/drawing/2014/main" val="1402553594"/>
                    </a:ext>
                  </a:extLst>
                </a:gridCol>
                <a:gridCol w="2352148">
                  <a:extLst>
                    <a:ext uri="{9D8B030D-6E8A-4147-A177-3AD203B41FA5}">
                      <a16:colId xmlns:a16="http://schemas.microsoft.com/office/drawing/2014/main" val="2388934442"/>
                    </a:ext>
                  </a:extLst>
                </a:gridCol>
              </a:tblGrid>
              <a:tr h="523798">
                <a:tc>
                  <a:txBody>
                    <a:bodyPr/>
                    <a:lstStyle/>
                    <a:p>
                      <a:r>
                        <a:rPr lang="en-US" dirty="0"/>
                        <a:t> </a:t>
                      </a:r>
                      <a:endParaRPr lang="en-GB" dirty="0"/>
                    </a:p>
                  </a:txBody>
                  <a:tcPr/>
                </a:tc>
                <a:tc>
                  <a:txBody>
                    <a:bodyPr/>
                    <a:lstStyle/>
                    <a:p>
                      <a:r>
                        <a:rPr lang="en-US" dirty="0"/>
                        <a:t>TITLE</a:t>
                      </a:r>
                      <a:endParaRPr lang="en-GB" dirty="0"/>
                    </a:p>
                  </a:txBody>
                  <a:tcPr/>
                </a:tc>
                <a:tc>
                  <a:txBody>
                    <a:bodyPr/>
                    <a:lstStyle/>
                    <a:p>
                      <a:r>
                        <a:rPr lang="en-US" dirty="0"/>
                        <a:t>GENRE</a:t>
                      </a:r>
                      <a:endParaRPr lang="en-GB" dirty="0"/>
                    </a:p>
                  </a:txBody>
                  <a:tcPr/>
                </a:tc>
                <a:tc>
                  <a:txBody>
                    <a:bodyPr/>
                    <a:lstStyle/>
                    <a:p>
                      <a:r>
                        <a:rPr lang="en-US" dirty="0"/>
                        <a:t>PREDICTED_RATING</a:t>
                      </a:r>
                      <a:endParaRPr lang="en-GB" dirty="0"/>
                    </a:p>
                  </a:txBody>
                  <a:tcPr/>
                </a:tc>
                <a:extLst>
                  <a:ext uri="{0D108BD9-81ED-4DB2-BD59-A6C34878D82A}">
                    <a16:rowId xmlns:a16="http://schemas.microsoft.com/office/drawing/2014/main" val="3916406960"/>
                  </a:ext>
                </a:extLst>
              </a:tr>
              <a:tr h="531072">
                <a:tc>
                  <a:txBody>
                    <a:bodyPr/>
                    <a:lstStyle/>
                    <a:p>
                      <a:r>
                        <a:rPr lang="en-US" dirty="0"/>
                        <a:t>1</a:t>
                      </a:r>
                      <a:endParaRPr lang="en-GB" dirty="0"/>
                    </a:p>
                  </a:txBody>
                  <a:tcPr/>
                </a:tc>
                <a:tc>
                  <a:txBody>
                    <a:bodyPr/>
                    <a:lstStyle/>
                    <a:p>
                      <a:r>
                        <a:rPr lang="en-US" dirty="0"/>
                        <a:t>No Man’s Land(2001)</a:t>
                      </a:r>
                      <a:endParaRPr lang="en-GB" dirty="0"/>
                    </a:p>
                  </a:txBody>
                  <a:tcPr/>
                </a:tc>
                <a:tc>
                  <a:txBody>
                    <a:bodyPr/>
                    <a:lstStyle/>
                    <a:p>
                      <a:r>
                        <a:rPr lang="en-US" dirty="0"/>
                        <a:t>Drama|War</a:t>
                      </a:r>
                      <a:endParaRPr lang="en-GB" dirty="0"/>
                    </a:p>
                  </a:txBody>
                  <a:tcPr/>
                </a:tc>
                <a:tc>
                  <a:txBody>
                    <a:bodyPr/>
                    <a:lstStyle/>
                    <a:p>
                      <a:r>
                        <a:rPr lang="en-US" dirty="0"/>
                        <a:t>4.75</a:t>
                      </a:r>
                      <a:endParaRPr lang="en-GB" dirty="0"/>
                    </a:p>
                  </a:txBody>
                  <a:tcPr/>
                </a:tc>
                <a:extLst>
                  <a:ext uri="{0D108BD9-81ED-4DB2-BD59-A6C34878D82A}">
                    <a16:rowId xmlns:a16="http://schemas.microsoft.com/office/drawing/2014/main" val="3797906306"/>
                  </a:ext>
                </a:extLst>
              </a:tr>
              <a:tr h="531072">
                <a:tc>
                  <a:txBody>
                    <a:bodyPr/>
                    <a:lstStyle/>
                    <a:p>
                      <a:r>
                        <a:rPr lang="en-US" dirty="0"/>
                        <a:t>2</a:t>
                      </a:r>
                      <a:endParaRPr lang="en-GB" dirty="0"/>
                    </a:p>
                  </a:txBody>
                  <a:tcPr/>
                </a:tc>
                <a:tc>
                  <a:txBody>
                    <a:bodyPr/>
                    <a:lstStyle/>
                    <a:p>
                      <a:r>
                        <a:rPr lang="en-US" dirty="0"/>
                        <a:t>General, The(1926)</a:t>
                      </a:r>
                      <a:endParaRPr lang="en-GB" dirty="0"/>
                    </a:p>
                  </a:txBody>
                  <a:tcPr/>
                </a:tc>
                <a:tc>
                  <a:txBody>
                    <a:bodyPr/>
                    <a:lstStyle/>
                    <a:p>
                      <a:r>
                        <a:rPr lang="en-US" dirty="0"/>
                        <a:t>Comedy|War</a:t>
                      </a:r>
                      <a:endParaRPr lang="en-GB" dirty="0"/>
                    </a:p>
                  </a:txBody>
                  <a:tcPr/>
                </a:tc>
                <a:tc>
                  <a:txBody>
                    <a:bodyPr/>
                    <a:lstStyle/>
                    <a:p>
                      <a:r>
                        <a:rPr lang="en-US" dirty="0"/>
                        <a:t>4.74</a:t>
                      </a:r>
                      <a:endParaRPr lang="en-GB" dirty="0"/>
                    </a:p>
                  </a:txBody>
                  <a:tcPr/>
                </a:tc>
                <a:extLst>
                  <a:ext uri="{0D108BD9-81ED-4DB2-BD59-A6C34878D82A}">
                    <a16:rowId xmlns:a16="http://schemas.microsoft.com/office/drawing/2014/main" val="781450792"/>
                  </a:ext>
                </a:extLst>
              </a:tr>
              <a:tr h="531072">
                <a:tc>
                  <a:txBody>
                    <a:bodyPr/>
                    <a:lstStyle/>
                    <a:p>
                      <a:r>
                        <a:rPr lang="en-US" dirty="0"/>
                        <a:t>3</a:t>
                      </a:r>
                      <a:endParaRPr lang="en-GB" dirty="0"/>
                    </a:p>
                  </a:txBody>
                  <a:tcPr/>
                </a:tc>
                <a:tc>
                  <a:txBody>
                    <a:bodyPr/>
                    <a:lstStyle/>
                    <a:p>
                      <a:r>
                        <a:rPr lang="en-US" dirty="0"/>
                        <a:t>Lincoln(2012)</a:t>
                      </a:r>
                      <a:endParaRPr lang="en-GB" dirty="0"/>
                    </a:p>
                  </a:txBody>
                  <a:tcPr/>
                </a:tc>
                <a:tc>
                  <a:txBody>
                    <a:bodyPr/>
                    <a:lstStyle/>
                    <a:p>
                      <a:r>
                        <a:rPr lang="en-US" dirty="0"/>
                        <a:t>Drama|War</a:t>
                      </a:r>
                      <a:endParaRPr lang="en-GB" dirty="0"/>
                    </a:p>
                  </a:txBody>
                  <a:tcPr/>
                </a:tc>
                <a:tc>
                  <a:txBody>
                    <a:bodyPr/>
                    <a:lstStyle/>
                    <a:p>
                      <a:r>
                        <a:rPr lang="en-US" dirty="0"/>
                        <a:t>4.70</a:t>
                      </a:r>
                      <a:endParaRPr lang="en-GB" dirty="0"/>
                    </a:p>
                  </a:txBody>
                  <a:tcPr/>
                </a:tc>
                <a:extLst>
                  <a:ext uri="{0D108BD9-81ED-4DB2-BD59-A6C34878D82A}">
                    <a16:rowId xmlns:a16="http://schemas.microsoft.com/office/drawing/2014/main" val="2171977536"/>
                  </a:ext>
                </a:extLst>
              </a:tr>
              <a:tr h="531072">
                <a:tc>
                  <a:txBody>
                    <a:bodyPr/>
                    <a:lstStyle/>
                    <a:p>
                      <a:r>
                        <a:rPr lang="en-US" dirty="0"/>
                        <a:t>4</a:t>
                      </a:r>
                      <a:endParaRPr lang="en-GB" dirty="0"/>
                    </a:p>
                  </a:txBody>
                  <a:tcPr/>
                </a:tc>
                <a:tc>
                  <a:txBody>
                    <a:bodyPr/>
                    <a:lstStyle/>
                    <a:p>
                      <a:r>
                        <a:rPr lang="en-US" dirty="0"/>
                        <a:t>Mister Roberts(1995)</a:t>
                      </a:r>
                      <a:endParaRPr lang="en-GB" dirty="0"/>
                    </a:p>
                  </a:txBody>
                  <a:tcPr/>
                </a:tc>
                <a:tc>
                  <a:txBody>
                    <a:bodyPr/>
                    <a:lstStyle/>
                    <a:p>
                      <a:r>
                        <a:rPr lang="en-US" dirty="0"/>
                        <a:t>Comedy|Drama|War</a:t>
                      </a:r>
                      <a:endParaRPr lang="en-GB" dirty="0"/>
                    </a:p>
                  </a:txBody>
                  <a:tcPr/>
                </a:tc>
                <a:tc>
                  <a:txBody>
                    <a:bodyPr/>
                    <a:lstStyle/>
                    <a:p>
                      <a:r>
                        <a:rPr lang="en-US" dirty="0"/>
                        <a:t>4.70</a:t>
                      </a:r>
                      <a:endParaRPr lang="en-GB" dirty="0"/>
                    </a:p>
                  </a:txBody>
                  <a:tcPr/>
                </a:tc>
                <a:extLst>
                  <a:ext uri="{0D108BD9-81ED-4DB2-BD59-A6C34878D82A}">
                    <a16:rowId xmlns:a16="http://schemas.microsoft.com/office/drawing/2014/main" val="3182544813"/>
                  </a:ext>
                </a:extLst>
              </a:tr>
              <a:tr h="740161">
                <a:tc>
                  <a:txBody>
                    <a:bodyPr/>
                    <a:lstStyle/>
                    <a:p>
                      <a:r>
                        <a:rPr lang="en-US" dirty="0"/>
                        <a:t>5</a:t>
                      </a:r>
                      <a:endParaRPr lang="en-GB" dirty="0"/>
                    </a:p>
                  </a:txBody>
                  <a:tcPr/>
                </a:tc>
                <a:tc>
                  <a:txBody>
                    <a:bodyPr/>
                    <a:lstStyle/>
                    <a:p>
                      <a:r>
                        <a:rPr lang="en-US" dirty="0"/>
                        <a:t>Underground(1995)</a:t>
                      </a:r>
                      <a:endParaRPr lang="en-GB" dirty="0"/>
                    </a:p>
                  </a:txBody>
                  <a:tcPr/>
                </a:tc>
                <a:tc>
                  <a:txBody>
                    <a:bodyPr/>
                    <a:lstStyle/>
                    <a:p>
                      <a:r>
                        <a:rPr lang="en-US" dirty="0"/>
                        <a:t>Comedy|Drama|War</a:t>
                      </a:r>
                      <a:endParaRPr lang="en-GB" dirty="0"/>
                    </a:p>
                  </a:txBody>
                  <a:tcPr/>
                </a:tc>
                <a:tc>
                  <a:txBody>
                    <a:bodyPr/>
                    <a:lstStyle/>
                    <a:p>
                      <a:r>
                        <a:rPr lang="en-US" dirty="0"/>
                        <a:t>4.68</a:t>
                      </a:r>
                      <a:endParaRPr lang="en-GB" dirty="0"/>
                    </a:p>
                  </a:txBody>
                  <a:tcPr/>
                </a:tc>
                <a:extLst>
                  <a:ext uri="{0D108BD9-81ED-4DB2-BD59-A6C34878D82A}">
                    <a16:rowId xmlns:a16="http://schemas.microsoft.com/office/drawing/2014/main" val="1783441348"/>
                  </a:ext>
                </a:extLst>
              </a:tr>
            </a:tbl>
          </a:graphicData>
        </a:graphic>
      </p:graphicFrame>
      <p:sp>
        <p:nvSpPr>
          <p:cNvPr id="7" name="Rectangle 6">
            <a:extLst>
              <a:ext uri="{FF2B5EF4-FFF2-40B4-BE49-F238E27FC236}">
                <a16:creationId xmlns:a16="http://schemas.microsoft.com/office/drawing/2014/main" id="{700A76BC-21EC-4D8B-AC8C-40F06590FFCE}"/>
              </a:ext>
            </a:extLst>
          </p:cNvPr>
          <p:cNvSpPr/>
          <p:nvPr/>
        </p:nvSpPr>
        <p:spPr>
          <a:xfrm>
            <a:off x="548640" y="1086929"/>
            <a:ext cx="8482818" cy="1200329"/>
          </a:xfrm>
          <a:prstGeom prst="rect">
            <a:avLst/>
          </a:prstGeom>
        </p:spPr>
        <p:txBody>
          <a:bodyPr wrap="square">
            <a:spAutoFit/>
          </a:bodyPr>
          <a:lstStyle/>
          <a:p>
            <a:r>
              <a:rPr lang="en-US" b="1" dirty="0"/>
              <a:t>DEMO 1: Existing User ID 1 (Personalized SVD, Collaborative model)</a:t>
            </a:r>
          </a:p>
          <a:p>
            <a:endParaRPr lang="en-US" b="1" dirty="0"/>
          </a:p>
          <a:p>
            <a:r>
              <a:rPr lang="en-US" b="1" dirty="0"/>
              <a:t>--- Welcome back! Personalized picks for User 1 ---</a:t>
            </a:r>
          </a:p>
          <a:p>
            <a:r>
              <a:rPr lang="en-US" b="1" dirty="0"/>
              <a:t>--- Welcome to StreamVibe! Since you're new, here are top picks in Trending ---</a:t>
            </a:r>
            <a:endParaRPr lang="en-GB" b="1" dirty="0"/>
          </a:p>
        </p:txBody>
      </p:sp>
    </p:spTree>
    <p:extLst>
      <p:ext uri="{BB962C8B-B14F-4D97-AF65-F5344CB8AC3E}">
        <p14:creationId xmlns:p14="http://schemas.microsoft.com/office/powerpoint/2010/main" val="19756243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164592"/>
            <a:ext cx="7315200" cy="246221"/>
          </a:xfrm>
          <a:prstGeom prst="rect">
            <a:avLst/>
          </a:prstGeom>
          <a:noFill/>
        </p:spPr>
        <p:txBody>
          <a:bodyPr wrap="square" lIns="0" tIns="0" rIns="0" bIns="0" anchor="t">
            <a:spAutoFit/>
          </a:bodyPr>
          <a:lstStyle/>
          <a:p>
            <a:pPr algn="l"/>
            <a:r>
              <a:rPr lang="en-US" sz="1600" b="1" dirty="0">
                <a:solidFill>
                  <a:srgbClr val="C73E1D"/>
                </a:solidFill>
                <a:latin typeface="Cambria"/>
              </a:rPr>
              <a:t>DEPLOYMENT</a:t>
            </a:r>
            <a:endParaRPr sz="1600" b="1" i="0" dirty="0">
              <a:solidFill>
                <a:srgbClr val="C73E1D"/>
              </a:solidFill>
              <a:latin typeface="Cambria"/>
            </a:endParaRPr>
          </a:p>
        </p:txBody>
      </p:sp>
      <p:sp>
        <p:nvSpPr>
          <p:cNvPr id="3" name="TextBox 2"/>
          <p:cNvSpPr txBox="1"/>
          <p:nvPr/>
        </p:nvSpPr>
        <p:spPr>
          <a:xfrm>
            <a:off x="548640" y="365760"/>
            <a:ext cx="11064240" cy="553998"/>
          </a:xfrm>
          <a:prstGeom prst="rect">
            <a:avLst/>
          </a:prstGeom>
          <a:noFill/>
        </p:spPr>
        <p:txBody>
          <a:bodyPr wrap="square" lIns="0" tIns="0" rIns="0" bIns="0" anchor="t">
            <a:spAutoFit/>
          </a:bodyPr>
          <a:lstStyle/>
          <a:p>
            <a:pPr algn="l"/>
            <a:r>
              <a:rPr lang="en-US" sz="3600" b="1" i="0" dirty="0">
                <a:solidFill>
                  <a:srgbClr val="14213D"/>
                </a:solidFill>
                <a:latin typeface="Cambria"/>
              </a:rPr>
              <a:t>Recommended movies to a new user </a:t>
            </a:r>
            <a:endParaRPr sz="3600" b="1" i="0" dirty="0">
              <a:solidFill>
                <a:srgbClr val="14213D"/>
              </a:solidFill>
              <a:latin typeface="Cambria"/>
            </a:endParaRPr>
          </a:p>
        </p:txBody>
      </p:sp>
      <p:cxnSp>
        <p:nvCxnSpPr>
          <p:cNvPr id="18" name="Connector 17"/>
          <p:cNvCxnSpPr/>
          <p:nvPr/>
        </p:nvCxnSpPr>
        <p:spPr>
          <a:xfrm>
            <a:off x="5257800" y="4297680"/>
            <a:ext cx="0" cy="228600"/>
          </a:xfrm>
          <a:prstGeom prst="line">
            <a:avLst/>
          </a:prstGeom>
          <a:ln w="19050">
            <a:solidFill>
              <a:srgbClr val="9B2E14"/>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3181532" y="6496594"/>
            <a:ext cx="5120640" cy="169277"/>
          </a:xfrm>
          <a:prstGeom prst="rect">
            <a:avLst/>
          </a:prstGeom>
          <a:noFill/>
        </p:spPr>
        <p:txBody>
          <a:bodyPr wrap="square" lIns="0" tIns="0" rIns="0" bIns="0" anchor="t">
            <a:spAutoFit/>
          </a:bodyPr>
          <a:lstStyle/>
          <a:p>
            <a:pPr algn="ctr"/>
            <a:r>
              <a:rPr lang="en-US" sz="1100" i="1" dirty="0">
                <a:solidFill>
                  <a:srgbClr val="6B7280"/>
                </a:solidFill>
                <a:latin typeface="Calibri"/>
              </a:rPr>
              <a:t>Recommended movies to a new user</a:t>
            </a:r>
            <a:endParaRPr sz="1100" b="0" i="1" dirty="0">
              <a:solidFill>
                <a:srgbClr val="6B7280"/>
              </a:solidFill>
              <a:latin typeface="Calibri"/>
            </a:endParaRPr>
          </a:p>
        </p:txBody>
      </p:sp>
      <p:sp>
        <p:nvSpPr>
          <p:cNvPr id="24" name="TextBox 23"/>
          <p:cNvSpPr txBox="1"/>
          <p:nvPr/>
        </p:nvSpPr>
        <p:spPr>
          <a:xfrm>
            <a:off x="11475720" y="6446520"/>
            <a:ext cx="640080" cy="138499"/>
          </a:xfrm>
          <a:prstGeom prst="rect">
            <a:avLst/>
          </a:prstGeom>
          <a:noFill/>
        </p:spPr>
        <p:txBody>
          <a:bodyPr wrap="square" lIns="0" tIns="0" rIns="0" bIns="0" anchor="t">
            <a:spAutoFit/>
          </a:bodyPr>
          <a:lstStyle/>
          <a:p>
            <a:pPr algn="r"/>
            <a:r>
              <a:rPr lang="en-US" sz="900" dirty="0">
                <a:solidFill>
                  <a:srgbClr val="6B7280"/>
                </a:solidFill>
                <a:latin typeface="Calibri"/>
              </a:rPr>
              <a:t>21</a:t>
            </a:r>
            <a:r>
              <a:rPr sz="900" b="0" i="0" dirty="0">
                <a:solidFill>
                  <a:srgbClr val="6B7280"/>
                </a:solidFill>
                <a:latin typeface="Calibri"/>
              </a:rPr>
              <a:t> / 14</a:t>
            </a:r>
          </a:p>
        </p:txBody>
      </p:sp>
      <p:graphicFrame>
        <p:nvGraphicFramePr>
          <p:cNvPr id="6" name="Table 5">
            <a:extLst>
              <a:ext uri="{FF2B5EF4-FFF2-40B4-BE49-F238E27FC236}">
                <a16:creationId xmlns:a16="http://schemas.microsoft.com/office/drawing/2014/main" id="{D3FAD6EE-95B5-4464-A5B7-EC12456AEEA1}"/>
              </a:ext>
            </a:extLst>
          </p:cNvPr>
          <p:cNvGraphicFramePr>
            <a:graphicFrameLocks noGrp="1"/>
          </p:cNvGraphicFramePr>
          <p:nvPr>
            <p:extLst>
              <p:ext uri="{D42A27DB-BD31-4B8C-83A1-F6EECF244321}">
                <p14:modId xmlns:p14="http://schemas.microsoft.com/office/powerpoint/2010/main" val="593791036"/>
              </p:ext>
            </p:extLst>
          </p:nvPr>
        </p:nvGraphicFramePr>
        <p:xfrm>
          <a:off x="548640" y="2616591"/>
          <a:ext cx="11064240" cy="3722545"/>
        </p:xfrm>
        <a:graphic>
          <a:graphicData uri="http://schemas.openxmlformats.org/drawingml/2006/table">
            <a:tbl>
              <a:tblPr firstRow="1" bandRow="1">
                <a:tableStyleId>{5C22544A-7EE6-4342-B048-85BDC9FD1C3A}</a:tableStyleId>
              </a:tblPr>
              <a:tblGrid>
                <a:gridCol w="661182">
                  <a:extLst>
                    <a:ext uri="{9D8B030D-6E8A-4147-A177-3AD203B41FA5}">
                      <a16:colId xmlns:a16="http://schemas.microsoft.com/office/drawing/2014/main" val="1686909536"/>
                    </a:ext>
                  </a:extLst>
                </a:gridCol>
                <a:gridCol w="3764514">
                  <a:extLst>
                    <a:ext uri="{9D8B030D-6E8A-4147-A177-3AD203B41FA5}">
                      <a16:colId xmlns:a16="http://schemas.microsoft.com/office/drawing/2014/main" val="1899540560"/>
                    </a:ext>
                  </a:extLst>
                </a:gridCol>
                <a:gridCol w="3679010">
                  <a:extLst>
                    <a:ext uri="{9D8B030D-6E8A-4147-A177-3AD203B41FA5}">
                      <a16:colId xmlns:a16="http://schemas.microsoft.com/office/drawing/2014/main" val="1402553594"/>
                    </a:ext>
                  </a:extLst>
                </a:gridCol>
                <a:gridCol w="1271239">
                  <a:extLst>
                    <a:ext uri="{9D8B030D-6E8A-4147-A177-3AD203B41FA5}">
                      <a16:colId xmlns:a16="http://schemas.microsoft.com/office/drawing/2014/main" val="2588486344"/>
                    </a:ext>
                  </a:extLst>
                </a:gridCol>
                <a:gridCol w="1688295">
                  <a:extLst>
                    <a:ext uri="{9D8B030D-6E8A-4147-A177-3AD203B41FA5}">
                      <a16:colId xmlns:a16="http://schemas.microsoft.com/office/drawing/2014/main" val="2388934442"/>
                    </a:ext>
                  </a:extLst>
                </a:gridCol>
              </a:tblGrid>
              <a:tr h="523798">
                <a:tc>
                  <a:txBody>
                    <a:bodyPr/>
                    <a:lstStyle/>
                    <a:p>
                      <a:r>
                        <a:rPr lang="en-US" dirty="0"/>
                        <a:t> </a:t>
                      </a:r>
                      <a:endParaRPr lang="en-GB" dirty="0"/>
                    </a:p>
                  </a:txBody>
                  <a:tcPr/>
                </a:tc>
                <a:tc>
                  <a:txBody>
                    <a:bodyPr/>
                    <a:lstStyle/>
                    <a:p>
                      <a:r>
                        <a:rPr lang="en-US" dirty="0"/>
                        <a:t>TITLE</a:t>
                      </a:r>
                      <a:endParaRPr lang="en-GB" dirty="0"/>
                    </a:p>
                  </a:txBody>
                  <a:tcPr/>
                </a:tc>
                <a:tc>
                  <a:txBody>
                    <a:bodyPr/>
                    <a:lstStyle/>
                    <a:p>
                      <a:r>
                        <a:rPr lang="en-US" dirty="0"/>
                        <a:t>GENRE</a:t>
                      </a:r>
                      <a:endParaRPr lang="en-GB" dirty="0"/>
                    </a:p>
                  </a:txBody>
                  <a:tcPr/>
                </a:tc>
                <a:tc>
                  <a:txBody>
                    <a:bodyPr/>
                    <a:lstStyle/>
                    <a:p>
                      <a:r>
                        <a:rPr lang="en-US" dirty="0"/>
                        <a:t>AVG_RATING</a:t>
                      </a:r>
                      <a:endParaRPr lang="en-GB" dirty="0"/>
                    </a:p>
                  </a:txBody>
                  <a:tcPr/>
                </a:tc>
                <a:tc>
                  <a:txBody>
                    <a:bodyPr/>
                    <a:lstStyle/>
                    <a:p>
                      <a:r>
                        <a:rPr lang="en-US" dirty="0"/>
                        <a:t>N_RATING</a:t>
                      </a:r>
                      <a:endParaRPr lang="en-GB" dirty="0"/>
                    </a:p>
                  </a:txBody>
                  <a:tcPr/>
                </a:tc>
                <a:extLst>
                  <a:ext uri="{0D108BD9-81ED-4DB2-BD59-A6C34878D82A}">
                    <a16:rowId xmlns:a16="http://schemas.microsoft.com/office/drawing/2014/main" val="3916406960"/>
                  </a:ext>
                </a:extLst>
              </a:tr>
              <a:tr h="531072">
                <a:tc>
                  <a:txBody>
                    <a:bodyPr/>
                    <a:lstStyle/>
                    <a:p>
                      <a:r>
                        <a:rPr lang="en-US" dirty="0"/>
                        <a:t>1</a:t>
                      </a:r>
                      <a:endParaRPr lang="en-GB" dirty="0"/>
                    </a:p>
                  </a:txBody>
                  <a:tcPr/>
                </a:tc>
                <a:tc>
                  <a:txBody>
                    <a:bodyPr/>
                    <a:lstStyle/>
                    <a:p>
                      <a:r>
                        <a:rPr lang="en-US" dirty="0"/>
                        <a:t>Star Wars: Episode IV – A New Hope(1977)</a:t>
                      </a:r>
                      <a:endParaRPr lang="en-GB" dirty="0"/>
                    </a:p>
                  </a:txBody>
                  <a:tcPr/>
                </a:tc>
                <a:tc>
                  <a:txBody>
                    <a:bodyPr/>
                    <a:lstStyle/>
                    <a:p>
                      <a:r>
                        <a:rPr lang="en-US" dirty="0"/>
                        <a:t>Sci-Fi</a:t>
                      </a:r>
                      <a:endParaRPr lang="en-GB" dirty="0"/>
                    </a:p>
                  </a:txBody>
                  <a:tcPr/>
                </a:tc>
                <a:tc>
                  <a:txBody>
                    <a:bodyPr/>
                    <a:lstStyle/>
                    <a:p>
                      <a:r>
                        <a:rPr lang="en-US" dirty="0"/>
                        <a:t>4.23</a:t>
                      </a:r>
                      <a:endParaRPr lang="en-GB" dirty="0"/>
                    </a:p>
                  </a:txBody>
                  <a:tcPr/>
                </a:tc>
                <a:tc>
                  <a:txBody>
                    <a:bodyPr/>
                    <a:lstStyle/>
                    <a:p>
                      <a:r>
                        <a:rPr lang="en-US" dirty="0"/>
                        <a:t>251</a:t>
                      </a:r>
                      <a:endParaRPr lang="en-GB" dirty="0"/>
                    </a:p>
                  </a:txBody>
                  <a:tcPr/>
                </a:tc>
                <a:extLst>
                  <a:ext uri="{0D108BD9-81ED-4DB2-BD59-A6C34878D82A}">
                    <a16:rowId xmlns:a16="http://schemas.microsoft.com/office/drawing/2014/main" val="3797906306"/>
                  </a:ext>
                </a:extLst>
              </a:tr>
              <a:tr h="531072">
                <a:tc>
                  <a:txBody>
                    <a:bodyPr/>
                    <a:lstStyle/>
                    <a:p>
                      <a:r>
                        <a:rPr lang="en-US" dirty="0"/>
                        <a:t>2</a:t>
                      </a:r>
                      <a:endParaRPr lang="en-GB" dirty="0"/>
                    </a:p>
                  </a:txBody>
                  <a:tcPr/>
                </a:tc>
                <a:tc>
                  <a:txBody>
                    <a:bodyPr/>
                    <a:lstStyle/>
                    <a:p>
                      <a:r>
                        <a:rPr lang="en-US" dirty="0"/>
                        <a:t>Star Wars: Episode V – The Empire Strikes Back</a:t>
                      </a:r>
                      <a:endParaRPr lang="en-GB" dirty="0"/>
                    </a:p>
                  </a:txBody>
                  <a:tcPr/>
                </a:tc>
                <a:tc>
                  <a:txBody>
                    <a:bodyPr/>
                    <a:lstStyle/>
                    <a:p>
                      <a:r>
                        <a:rPr lang="en-US" dirty="0"/>
                        <a:t>Sci-Fi</a:t>
                      </a:r>
                      <a:endParaRPr lang="en-GB" dirty="0"/>
                    </a:p>
                  </a:txBody>
                  <a:tcPr/>
                </a:tc>
                <a:tc>
                  <a:txBody>
                    <a:bodyPr/>
                    <a:lstStyle/>
                    <a:p>
                      <a:r>
                        <a:rPr lang="en-US" dirty="0"/>
                        <a:t>4.26</a:t>
                      </a:r>
                      <a:endParaRPr lang="en-GB" dirty="0"/>
                    </a:p>
                  </a:txBody>
                  <a:tcPr/>
                </a:tc>
                <a:tc>
                  <a:txBody>
                    <a:bodyPr/>
                    <a:lstStyle/>
                    <a:p>
                      <a:r>
                        <a:rPr lang="en-US" dirty="0"/>
                        <a:t>211</a:t>
                      </a:r>
                      <a:endParaRPr lang="en-GB" dirty="0"/>
                    </a:p>
                  </a:txBody>
                  <a:tcPr/>
                </a:tc>
                <a:extLst>
                  <a:ext uri="{0D108BD9-81ED-4DB2-BD59-A6C34878D82A}">
                    <a16:rowId xmlns:a16="http://schemas.microsoft.com/office/drawing/2014/main" val="781450792"/>
                  </a:ext>
                </a:extLst>
              </a:tr>
              <a:tr h="531072">
                <a:tc>
                  <a:txBody>
                    <a:bodyPr/>
                    <a:lstStyle/>
                    <a:p>
                      <a:r>
                        <a:rPr lang="en-US" dirty="0"/>
                        <a:t>3</a:t>
                      </a:r>
                      <a:endParaRPr lang="en-GB" dirty="0"/>
                    </a:p>
                  </a:txBody>
                  <a:tcPr/>
                </a:tc>
                <a:tc>
                  <a:txBody>
                    <a:bodyPr/>
                    <a:lstStyle/>
                    <a:p>
                      <a:r>
                        <a:rPr lang="en-US" dirty="0"/>
                        <a:t>Matrix, The(1999)</a:t>
                      </a:r>
                      <a:endParaRPr lang="en-GB" dirty="0"/>
                    </a:p>
                  </a:txBody>
                  <a:tcPr/>
                </a:tc>
                <a:tc>
                  <a:txBody>
                    <a:bodyPr/>
                    <a:lstStyle/>
                    <a:p>
                      <a:r>
                        <a:rPr lang="en-US" dirty="0"/>
                        <a:t>Sci-Fi</a:t>
                      </a:r>
                      <a:endParaRPr lang="en-GB" dirty="0"/>
                    </a:p>
                  </a:txBody>
                  <a:tcPr/>
                </a:tc>
                <a:tc>
                  <a:txBody>
                    <a:bodyPr/>
                    <a:lstStyle/>
                    <a:p>
                      <a:r>
                        <a:rPr lang="en-US" dirty="0"/>
                        <a:t>4.19</a:t>
                      </a:r>
                      <a:endParaRPr lang="en-GB" dirty="0"/>
                    </a:p>
                  </a:txBody>
                  <a:tcPr/>
                </a:tc>
                <a:tc>
                  <a:txBody>
                    <a:bodyPr/>
                    <a:lstStyle/>
                    <a:p>
                      <a:r>
                        <a:rPr lang="en-US" dirty="0"/>
                        <a:t>278</a:t>
                      </a:r>
                      <a:endParaRPr lang="en-GB" dirty="0"/>
                    </a:p>
                  </a:txBody>
                  <a:tcPr/>
                </a:tc>
                <a:extLst>
                  <a:ext uri="{0D108BD9-81ED-4DB2-BD59-A6C34878D82A}">
                    <a16:rowId xmlns:a16="http://schemas.microsoft.com/office/drawing/2014/main" val="2171977536"/>
                  </a:ext>
                </a:extLst>
              </a:tr>
              <a:tr h="531072">
                <a:tc>
                  <a:txBody>
                    <a:bodyPr/>
                    <a:lstStyle/>
                    <a:p>
                      <a:r>
                        <a:rPr lang="en-US" dirty="0"/>
                        <a:t>4</a:t>
                      </a:r>
                      <a:endParaRPr lang="en-GB" dirty="0"/>
                    </a:p>
                  </a:txBody>
                  <a:tcPr/>
                </a:tc>
                <a:tc>
                  <a:txBody>
                    <a:bodyPr/>
                    <a:lstStyle/>
                    <a:p>
                      <a:r>
                        <a:rPr lang="en-US" dirty="0"/>
                        <a:t>Day of the Doctor(2013)</a:t>
                      </a:r>
                      <a:endParaRPr lang="en-GB" dirty="0"/>
                    </a:p>
                  </a:txBody>
                  <a:tcPr/>
                </a:tc>
                <a:tc>
                  <a:txBody>
                    <a:bodyPr/>
                    <a:lstStyle/>
                    <a:p>
                      <a:r>
                        <a:rPr lang="en-US" dirty="0"/>
                        <a:t>Sci-Fi</a:t>
                      </a:r>
                      <a:endParaRPr lang="en-GB" dirty="0"/>
                    </a:p>
                  </a:txBody>
                  <a:tcPr/>
                </a:tc>
                <a:tc>
                  <a:txBody>
                    <a:bodyPr/>
                    <a:lstStyle/>
                    <a:p>
                      <a:r>
                        <a:rPr lang="en-US" dirty="0"/>
                        <a:t>4.57</a:t>
                      </a:r>
                      <a:endParaRPr lang="en-GB" dirty="0"/>
                    </a:p>
                  </a:txBody>
                  <a:tcPr/>
                </a:tc>
                <a:tc>
                  <a:txBody>
                    <a:bodyPr/>
                    <a:lstStyle/>
                    <a:p>
                      <a:r>
                        <a:rPr lang="en-US" dirty="0"/>
                        <a:t>7</a:t>
                      </a:r>
                      <a:endParaRPr lang="en-GB" dirty="0"/>
                    </a:p>
                  </a:txBody>
                  <a:tcPr/>
                </a:tc>
                <a:extLst>
                  <a:ext uri="{0D108BD9-81ED-4DB2-BD59-A6C34878D82A}">
                    <a16:rowId xmlns:a16="http://schemas.microsoft.com/office/drawing/2014/main" val="3182544813"/>
                  </a:ext>
                </a:extLst>
              </a:tr>
              <a:tr h="740161">
                <a:tc>
                  <a:txBody>
                    <a:bodyPr/>
                    <a:lstStyle/>
                    <a:p>
                      <a:r>
                        <a:rPr lang="en-US" dirty="0"/>
                        <a:t>5</a:t>
                      </a:r>
                      <a:endParaRPr lang="en-GB" dirty="0"/>
                    </a:p>
                  </a:txBody>
                  <a:tcPr/>
                </a:tc>
                <a:tc>
                  <a:txBody>
                    <a:bodyPr/>
                    <a:lstStyle/>
                    <a:p>
                      <a:r>
                        <a:rPr lang="en-US" dirty="0"/>
                        <a:t>Logan(2017)</a:t>
                      </a:r>
                      <a:endParaRPr lang="en-GB" dirty="0"/>
                    </a:p>
                  </a:txBody>
                  <a:tcPr/>
                </a:tc>
                <a:tc>
                  <a:txBody>
                    <a:bodyPr/>
                    <a:lstStyle/>
                    <a:p>
                      <a:r>
                        <a:rPr lang="en-US" dirty="0"/>
                        <a:t>Sci-Fi</a:t>
                      </a:r>
                      <a:endParaRPr lang="en-GB" dirty="0"/>
                    </a:p>
                  </a:txBody>
                  <a:tcPr/>
                </a:tc>
                <a:tc>
                  <a:txBody>
                    <a:bodyPr/>
                    <a:lstStyle/>
                    <a:p>
                      <a:r>
                        <a:rPr lang="en-US" dirty="0"/>
                        <a:t>4.28</a:t>
                      </a:r>
                      <a:endParaRPr lang="en-GB" dirty="0"/>
                    </a:p>
                  </a:txBody>
                  <a:tcPr/>
                </a:tc>
                <a:tc>
                  <a:txBody>
                    <a:bodyPr/>
                    <a:lstStyle/>
                    <a:p>
                      <a:r>
                        <a:rPr lang="en-US" dirty="0"/>
                        <a:t>25</a:t>
                      </a:r>
                      <a:endParaRPr lang="en-GB" dirty="0"/>
                    </a:p>
                  </a:txBody>
                  <a:tcPr/>
                </a:tc>
                <a:extLst>
                  <a:ext uri="{0D108BD9-81ED-4DB2-BD59-A6C34878D82A}">
                    <a16:rowId xmlns:a16="http://schemas.microsoft.com/office/drawing/2014/main" val="1783441348"/>
                  </a:ext>
                </a:extLst>
              </a:tr>
            </a:tbl>
          </a:graphicData>
        </a:graphic>
      </p:graphicFrame>
      <p:sp>
        <p:nvSpPr>
          <p:cNvPr id="4" name="Rectangle 3">
            <a:extLst>
              <a:ext uri="{FF2B5EF4-FFF2-40B4-BE49-F238E27FC236}">
                <a16:creationId xmlns:a16="http://schemas.microsoft.com/office/drawing/2014/main" id="{2D053C6C-314D-4AE2-8F09-5216ECB40F87}"/>
              </a:ext>
            </a:extLst>
          </p:cNvPr>
          <p:cNvSpPr/>
          <p:nvPr/>
        </p:nvSpPr>
        <p:spPr>
          <a:xfrm>
            <a:off x="548640" y="1134046"/>
            <a:ext cx="8060788" cy="923330"/>
          </a:xfrm>
          <a:prstGeom prst="rect">
            <a:avLst/>
          </a:prstGeom>
        </p:spPr>
        <p:txBody>
          <a:bodyPr wrap="square">
            <a:spAutoFit/>
          </a:bodyPr>
          <a:lstStyle/>
          <a:p>
            <a:r>
              <a:rPr lang="en-US" b="1" dirty="0"/>
              <a:t>DEMO 2: New User who likes 'Sci-Fi' (Cold Start Fallback)</a:t>
            </a:r>
          </a:p>
          <a:p>
            <a:endParaRPr lang="en-US" b="1" dirty="0"/>
          </a:p>
          <a:p>
            <a:r>
              <a:rPr lang="en-US" b="1" dirty="0"/>
              <a:t>--- Welcome to StreamVibe! Since you're new, here are top picks in Sci-Fi ---</a:t>
            </a:r>
            <a:endParaRPr lang="en-GB" b="1" dirty="0"/>
          </a:p>
        </p:txBody>
      </p:sp>
    </p:spTree>
    <p:extLst>
      <p:ext uri="{BB962C8B-B14F-4D97-AF65-F5344CB8AC3E}">
        <p14:creationId xmlns:p14="http://schemas.microsoft.com/office/powerpoint/2010/main" val="23853763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164592"/>
            <a:ext cx="7315200" cy="246221"/>
          </a:xfrm>
          <a:prstGeom prst="rect">
            <a:avLst/>
          </a:prstGeom>
          <a:noFill/>
        </p:spPr>
        <p:txBody>
          <a:bodyPr wrap="square" lIns="0" tIns="0" rIns="0" bIns="0" anchor="t">
            <a:spAutoFit/>
          </a:bodyPr>
          <a:lstStyle/>
          <a:p>
            <a:pPr algn="l"/>
            <a:r>
              <a:rPr lang="en-US" sz="1600" b="1" dirty="0">
                <a:solidFill>
                  <a:srgbClr val="C73E1D"/>
                </a:solidFill>
                <a:latin typeface="Cambria"/>
              </a:rPr>
              <a:t>DEPLOYMENT</a:t>
            </a:r>
            <a:endParaRPr sz="1600" b="1" i="0" dirty="0">
              <a:solidFill>
                <a:srgbClr val="C73E1D"/>
              </a:solidFill>
              <a:latin typeface="Cambria"/>
            </a:endParaRPr>
          </a:p>
        </p:txBody>
      </p:sp>
      <p:sp>
        <p:nvSpPr>
          <p:cNvPr id="3" name="TextBox 2"/>
          <p:cNvSpPr txBox="1"/>
          <p:nvPr/>
        </p:nvSpPr>
        <p:spPr>
          <a:xfrm>
            <a:off x="548640" y="419788"/>
            <a:ext cx="11064240" cy="553998"/>
          </a:xfrm>
          <a:prstGeom prst="rect">
            <a:avLst/>
          </a:prstGeom>
          <a:noFill/>
        </p:spPr>
        <p:txBody>
          <a:bodyPr wrap="square" lIns="0" tIns="0" rIns="0" bIns="0" anchor="t">
            <a:spAutoFit/>
          </a:bodyPr>
          <a:lstStyle/>
          <a:p>
            <a:pPr algn="l"/>
            <a:r>
              <a:rPr lang="en-US" sz="3600" b="1" i="0" dirty="0">
                <a:solidFill>
                  <a:srgbClr val="14213D"/>
                </a:solidFill>
                <a:latin typeface="Cambria"/>
              </a:rPr>
              <a:t>Recommended movies to a new user </a:t>
            </a:r>
            <a:endParaRPr sz="3600" b="1" i="0" dirty="0">
              <a:solidFill>
                <a:srgbClr val="14213D"/>
              </a:solidFill>
              <a:latin typeface="Cambria"/>
            </a:endParaRPr>
          </a:p>
        </p:txBody>
      </p:sp>
      <p:cxnSp>
        <p:nvCxnSpPr>
          <p:cNvPr id="18" name="Connector 17"/>
          <p:cNvCxnSpPr/>
          <p:nvPr/>
        </p:nvCxnSpPr>
        <p:spPr>
          <a:xfrm>
            <a:off x="5257800" y="4297680"/>
            <a:ext cx="0" cy="228600"/>
          </a:xfrm>
          <a:prstGeom prst="line">
            <a:avLst/>
          </a:prstGeom>
          <a:ln w="19050">
            <a:solidFill>
              <a:srgbClr val="9B2E14"/>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3181532" y="6496594"/>
            <a:ext cx="5120640" cy="169277"/>
          </a:xfrm>
          <a:prstGeom prst="rect">
            <a:avLst/>
          </a:prstGeom>
          <a:noFill/>
        </p:spPr>
        <p:txBody>
          <a:bodyPr wrap="square" lIns="0" tIns="0" rIns="0" bIns="0" anchor="t">
            <a:spAutoFit/>
          </a:bodyPr>
          <a:lstStyle/>
          <a:p>
            <a:pPr algn="ctr"/>
            <a:r>
              <a:rPr lang="en-US" sz="1100" i="1" dirty="0">
                <a:solidFill>
                  <a:srgbClr val="6B7280"/>
                </a:solidFill>
                <a:latin typeface="Calibri"/>
              </a:rPr>
              <a:t>Recommended movies to a new user</a:t>
            </a:r>
            <a:endParaRPr sz="1100" b="0" i="1" dirty="0">
              <a:solidFill>
                <a:srgbClr val="6B7280"/>
              </a:solidFill>
              <a:latin typeface="Calibri"/>
            </a:endParaRPr>
          </a:p>
        </p:txBody>
      </p:sp>
      <p:sp>
        <p:nvSpPr>
          <p:cNvPr id="24" name="TextBox 23"/>
          <p:cNvSpPr txBox="1"/>
          <p:nvPr/>
        </p:nvSpPr>
        <p:spPr>
          <a:xfrm>
            <a:off x="11475720" y="6446520"/>
            <a:ext cx="640080" cy="138499"/>
          </a:xfrm>
          <a:prstGeom prst="rect">
            <a:avLst/>
          </a:prstGeom>
          <a:noFill/>
        </p:spPr>
        <p:txBody>
          <a:bodyPr wrap="square" lIns="0" tIns="0" rIns="0" bIns="0" anchor="t">
            <a:spAutoFit/>
          </a:bodyPr>
          <a:lstStyle/>
          <a:p>
            <a:pPr algn="r"/>
            <a:r>
              <a:rPr lang="en-US" sz="900" dirty="0">
                <a:solidFill>
                  <a:srgbClr val="6B7280"/>
                </a:solidFill>
                <a:latin typeface="Calibri"/>
              </a:rPr>
              <a:t>21</a:t>
            </a:r>
            <a:r>
              <a:rPr sz="900" b="0" i="0" dirty="0">
                <a:solidFill>
                  <a:srgbClr val="6B7280"/>
                </a:solidFill>
                <a:latin typeface="Calibri"/>
              </a:rPr>
              <a:t> / 14</a:t>
            </a:r>
          </a:p>
        </p:txBody>
      </p:sp>
      <p:sp>
        <p:nvSpPr>
          <p:cNvPr id="4" name="Rectangle 3">
            <a:extLst>
              <a:ext uri="{FF2B5EF4-FFF2-40B4-BE49-F238E27FC236}">
                <a16:creationId xmlns:a16="http://schemas.microsoft.com/office/drawing/2014/main" id="{2D053C6C-314D-4AE2-8F09-5216ECB40F87}"/>
              </a:ext>
            </a:extLst>
          </p:cNvPr>
          <p:cNvSpPr/>
          <p:nvPr/>
        </p:nvSpPr>
        <p:spPr>
          <a:xfrm>
            <a:off x="548640" y="1224640"/>
            <a:ext cx="11433889" cy="4708981"/>
          </a:xfrm>
          <a:prstGeom prst="rect">
            <a:avLst/>
          </a:prstGeom>
        </p:spPr>
        <p:txBody>
          <a:bodyPr wrap="square">
            <a:spAutoFit/>
          </a:bodyPr>
          <a:lstStyle/>
          <a:p>
            <a:r>
              <a:rPr lang="en-US" sz="2000" dirty="0"/>
              <a:t>For Returning Users (Personalized):</a:t>
            </a:r>
          </a:p>
          <a:p>
            <a:endParaRPr lang="en-US" sz="2000" dirty="0"/>
          </a:p>
          <a:p>
            <a:r>
              <a:rPr lang="en-US" sz="2000" dirty="0"/>
              <a:t>The system recognizes the user's ID and triggers our Collaborative Filtering model. It uses their past rating patterns to predict exactly which movies they will love next, offering a truly personalized "Netflix-style" experience. We are  using predicted ratings because it allows the system to "peer into the future" of that user's tastes. While the raw data tells us what they already watched, predicted ratings tell us what they will like.</a:t>
            </a:r>
          </a:p>
          <a:p>
            <a:endParaRPr lang="en-US" sz="2000" dirty="0"/>
          </a:p>
          <a:p>
            <a:r>
              <a:rPr lang="en-US" sz="2000" dirty="0"/>
              <a:t>Star Wars: Episode IV -A New Hope(1977), emerges the top most recommended movie, despite having a lower average rate, because it has been rated by many people, as compared with the others which have higher average ratings.</a:t>
            </a:r>
          </a:p>
          <a:p>
            <a:endParaRPr lang="en-US" sz="2000" dirty="0"/>
          </a:p>
          <a:p>
            <a:r>
              <a:rPr lang="en-US" sz="2000" dirty="0"/>
              <a:t>For New Users (The Cold Start Solution): If a user ID isn't found in our training data, the system gracefully switches to the Content-Based Fallback. Instead of showing an empty screen, it uses our genre analysis and Bayesian scoring to recommend the highest-quality movies in their preferred category (e.g., "Sci-Fi").</a:t>
            </a:r>
          </a:p>
        </p:txBody>
      </p:sp>
    </p:spTree>
    <p:extLst>
      <p:ext uri="{BB962C8B-B14F-4D97-AF65-F5344CB8AC3E}">
        <p14:creationId xmlns:p14="http://schemas.microsoft.com/office/powerpoint/2010/main" val="33804364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164592"/>
            <a:ext cx="7315200" cy="246221"/>
          </a:xfrm>
          <a:prstGeom prst="rect">
            <a:avLst/>
          </a:prstGeom>
          <a:noFill/>
        </p:spPr>
        <p:txBody>
          <a:bodyPr wrap="square" lIns="0" tIns="0" rIns="0" bIns="0" anchor="t">
            <a:spAutoFit/>
          </a:bodyPr>
          <a:lstStyle/>
          <a:p>
            <a:pPr algn="l"/>
            <a:r>
              <a:rPr sz="1600" b="1" i="0" dirty="0">
                <a:solidFill>
                  <a:srgbClr val="C73E1D"/>
                </a:solidFill>
                <a:latin typeface="Cambria"/>
              </a:rPr>
              <a:t>MODELING</a:t>
            </a:r>
          </a:p>
        </p:txBody>
      </p:sp>
      <p:sp>
        <p:nvSpPr>
          <p:cNvPr id="3" name="TextBox 2"/>
          <p:cNvSpPr txBox="1"/>
          <p:nvPr/>
        </p:nvSpPr>
        <p:spPr>
          <a:xfrm>
            <a:off x="548640" y="365760"/>
            <a:ext cx="11064240" cy="553998"/>
          </a:xfrm>
          <a:prstGeom prst="rect">
            <a:avLst/>
          </a:prstGeom>
          <a:noFill/>
        </p:spPr>
        <p:txBody>
          <a:bodyPr wrap="square" lIns="0" tIns="0" rIns="0" bIns="0" anchor="t">
            <a:spAutoFit/>
          </a:bodyPr>
          <a:lstStyle/>
          <a:p>
            <a:pPr algn="l"/>
            <a:r>
              <a:rPr lang="en-US" sz="3600" b="1" dirty="0">
                <a:solidFill>
                  <a:srgbClr val="14213D"/>
                </a:solidFill>
                <a:latin typeface="Cambria"/>
              </a:rPr>
              <a:t>Model Evaluation: Evaluating the Hybrid System</a:t>
            </a:r>
            <a:endParaRPr sz="3600" b="1" i="0" dirty="0">
              <a:solidFill>
                <a:srgbClr val="14213D"/>
              </a:solidFill>
              <a:latin typeface="Cambria"/>
            </a:endParaRPr>
          </a:p>
        </p:txBody>
      </p:sp>
      <p:sp>
        <p:nvSpPr>
          <p:cNvPr id="6" name="Rounded Rectangle 5"/>
          <p:cNvSpPr/>
          <p:nvPr/>
        </p:nvSpPr>
        <p:spPr>
          <a:xfrm>
            <a:off x="670560" y="1535160"/>
            <a:ext cx="10942320" cy="5145676"/>
          </a:xfrm>
          <a:prstGeom prst="roundRect">
            <a:avLst>
              <a:gd name="adj" fmla="val 4000"/>
            </a:avLst>
          </a:prstGeom>
          <a:solidFill>
            <a:srgbClr val="F5E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a:p>
            <a:pPr algn="ctr"/>
            <a:endParaRPr lang="en-US" dirty="0">
              <a:solidFill>
                <a:schemeClr val="tx1"/>
              </a:solidFill>
            </a:endParaRPr>
          </a:p>
          <a:p>
            <a:pPr algn="ctr"/>
            <a:endParaRPr lang="en-US" dirty="0">
              <a:solidFill>
                <a:schemeClr val="tx1"/>
              </a:solidFill>
            </a:endParaRPr>
          </a:p>
          <a:p>
            <a:pPr algn="ctr"/>
            <a:endParaRPr lang="en-US" dirty="0">
              <a:solidFill>
                <a:schemeClr val="tx1"/>
              </a:solidFill>
            </a:endParaRPr>
          </a:p>
          <a:p>
            <a:pPr algn="ctr"/>
            <a:endParaRPr lang="en-US" dirty="0">
              <a:solidFill>
                <a:schemeClr val="tx1"/>
              </a:solidFill>
            </a:endParaRPr>
          </a:p>
          <a:p>
            <a:pPr algn="ctr"/>
            <a:endParaRPr lang="en-US" dirty="0">
              <a:solidFill>
                <a:schemeClr val="tx1"/>
              </a:solidFill>
            </a:endParaRPr>
          </a:p>
          <a:p>
            <a:pPr algn="ctr"/>
            <a:endParaRPr lang="en-US" dirty="0">
              <a:solidFill>
                <a:schemeClr val="tx1"/>
              </a:solidFill>
            </a:endParaRPr>
          </a:p>
          <a:p>
            <a:pPr algn="ctr"/>
            <a:endParaRPr lang="en-US" dirty="0">
              <a:solidFill>
                <a:schemeClr val="tx1"/>
              </a:solidFill>
            </a:endParaRPr>
          </a:p>
          <a:p>
            <a:pPr algn="ctr"/>
            <a:r>
              <a:rPr lang="en-US" sz="2000" dirty="0">
                <a:solidFill>
                  <a:schemeClr val="tx1"/>
                </a:solidFill>
              </a:rPr>
              <a:t>Our evaluation confirms that while the SVD model provides a precise mathematical foundation (RMSE: 0.87), the Hybrid model intentionally "tilts" the results to favor movies similar to the user’s favorites. This strategic shift may result in a slightly higher RMSE, but it is a standard trade-off in recommendation science known as Accuracy vs. Relevance. By prioritizing the "logic" of the suggestions over the exactness of the star ratings, the Hybrid layer ensures that </a:t>
            </a:r>
            <a:r>
              <a:rPr lang="en-US" sz="2000" dirty="0" err="1">
                <a:solidFill>
                  <a:schemeClr val="tx1"/>
                </a:solidFill>
              </a:rPr>
              <a:t>Ziki’s</a:t>
            </a:r>
            <a:r>
              <a:rPr lang="en-US" sz="2000" dirty="0">
                <a:solidFill>
                  <a:schemeClr val="tx1"/>
                </a:solidFill>
              </a:rPr>
              <a:t> picks feel more intuitive and content-aware. This better addresses our core business goal: reducing user decision fatigue by providing suggestions that truly align with their specific tastes, even if they deviate slightly from a purely numerical prediction</a:t>
            </a:r>
            <a:r>
              <a:rPr lang="en-US" dirty="0">
                <a:solidFill>
                  <a:schemeClr val="tx1"/>
                </a:solidFill>
              </a:rPr>
              <a:t>.</a:t>
            </a:r>
            <a:endParaRPr dirty="0">
              <a:solidFill>
                <a:schemeClr val="tx1"/>
              </a:solidFill>
            </a:endParaRPr>
          </a:p>
        </p:txBody>
      </p:sp>
      <p:sp>
        <p:nvSpPr>
          <p:cNvPr id="7" name="TextBox 6"/>
          <p:cNvSpPr txBox="1"/>
          <p:nvPr/>
        </p:nvSpPr>
        <p:spPr>
          <a:xfrm>
            <a:off x="4389120" y="1617820"/>
            <a:ext cx="3291840" cy="307777"/>
          </a:xfrm>
          <a:prstGeom prst="rect">
            <a:avLst/>
          </a:prstGeom>
          <a:noFill/>
        </p:spPr>
        <p:txBody>
          <a:bodyPr wrap="square" lIns="0" tIns="0" rIns="0" bIns="0" anchor="t">
            <a:spAutoFit/>
          </a:bodyPr>
          <a:lstStyle/>
          <a:p>
            <a:pPr algn="ctr"/>
            <a:r>
              <a:rPr sz="2000" b="1" i="0" dirty="0">
                <a:solidFill>
                  <a:srgbClr val="C73E1D"/>
                </a:solidFill>
                <a:latin typeface="Calibri"/>
              </a:rPr>
              <a:t>RESULTS</a:t>
            </a:r>
          </a:p>
        </p:txBody>
      </p:sp>
      <p:sp>
        <p:nvSpPr>
          <p:cNvPr id="9" name="Rectangle 8"/>
          <p:cNvSpPr/>
          <p:nvPr/>
        </p:nvSpPr>
        <p:spPr>
          <a:xfrm>
            <a:off x="2298700" y="2107176"/>
            <a:ext cx="6845300" cy="384048"/>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n-US" dirty="0"/>
              <a:t>                MODEL                                        RMSE                                MAE</a:t>
            </a:r>
            <a:endParaRPr dirty="0"/>
          </a:p>
        </p:txBody>
      </p:sp>
      <p:sp>
        <p:nvSpPr>
          <p:cNvPr id="15" name="Rectangle 14"/>
          <p:cNvSpPr/>
          <p:nvPr/>
        </p:nvSpPr>
        <p:spPr>
          <a:xfrm>
            <a:off x="2298700" y="2514965"/>
            <a:ext cx="6845300"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         HYBRID                                            1.22                                  1.06</a:t>
            </a:r>
            <a:endParaRPr dirty="0">
              <a:solidFill>
                <a:schemeClr val="tx1"/>
              </a:solidFill>
            </a:endParaRPr>
          </a:p>
        </p:txBody>
      </p:sp>
      <p:sp>
        <p:nvSpPr>
          <p:cNvPr id="27" name="Rectangle 26"/>
          <p:cNvSpPr/>
          <p:nvPr/>
        </p:nvSpPr>
        <p:spPr>
          <a:xfrm>
            <a:off x="2298700" y="2933181"/>
            <a:ext cx="6845300" cy="384048"/>
          </a:xfrm>
          <a:prstGeom prst="rect">
            <a:avLst/>
          </a:prstGeom>
          <a:solidFill>
            <a:srgbClr val="C73E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            SVD                                        0.87                                           0.67</a:t>
            </a:r>
            <a:endParaRPr dirty="0"/>
          </a:p>
        </p:txBody>
      </p:sp>
      <p:sp>
        <p:nvSpPr>
          <p:cNvPr id="32" name="TextBox 31"/>
          <p:cNvSpPr txBox="1"/>
          <p:nvPr/>
        </p:nvSpPr>
        <p:spPr>
          <a:xfrm>
            <a:off x="11475720" y="6446520"/>
            <a:ext cx="640080" cy="138499"/>
          </a:xfrm>
          <a:prstGeom prst="rect">
            <a:avLst/>
          </a:prstGeom>
          <a:noFill/>
        </p:spPr>
        <p:txBody>
          <a:bodyPr wrap="square" lIns="0" tIns="0" rIns="0" bIns="0" anchor="t">
            <a:spAutoFit/>
          </a:bodyPr>
          <a:lstStyle/>
          <a:p>
            <a:pPr algn="r"/>
            <a:r>
              <a:rPr sz="900" b="0" i="0" dirty="0">
                <a:solidFill>
                  <a:srgbClr val="6B7280"/>
                </a:solidFill>
                <a:latin typeface="Calibri"/>
              </a:rPr>
              <a:t>1</a:t>
            </a:r>
            <a:r>
              <a:rPr lang="en-US" sz="900" b="0" i="0" dirty="0">
                <a:solidFill>
                  <a:srgbClr val="6B7280"/>
                </a:solidFill>
                <a:latin typeface="Calibri"/>
              </a:rPr>
              <a:t>3</a:t>
            </a:r>
            <a:r>
              <a:rPr sz="900" b="0" i="0" dirty="0">
                <a:solidFill>
                  <a:srgbClr val="6B7280"/>
                </a:solidFill>
                <a:latin typeface="Calibri"/>
              </a:rPr>
              <a:t> / 14</a:t>
            </a:r>
          </a:p>
        </p:txBody>
      </p:sp>
    </p:spTree>
    <p:extLst>
      <p:ext uri="{BB962C8B-B14F-4D97-AF65-F5344CB8AC3E}">
        <p14:creationId xmlns:p14="http://schemas.microsoft.com/office/powerpoint/2010/main" val="352971382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164592"/>
            <a:ext cx="7315200" cy="246221"/>
          </a:xfrm>
          <a:prstGeom prst="rect">
            <a:avLst/>
          </a:prstGeom>
          <a:noFill/>
        </p:spPr>
        <p:txBody>
          <a:bodyPr wrap="square" lIns="0" tIns="0" rIns="0" bIns="0" anchor="t">
            <a:spAutoFit/>
          </a:bodyPr>
          <a:lstStyle/>
          <a:p>
            <a:pPr algn="l"/>
            <a:r>
              <a:rPr sz="1600" b="1" i="0" dirty="0">
                <a:solidFill>
                  <a:srgbClr val="C73E1D"/>
                </a:solidFill>
                <a:latin typeface="Cambria"/>
              </a:rPr>
              <a:t>DEPLOYMENT</a:t>
            </a:r>
          </a:p>
        </p:txBody>
      </p:sp>
      <p:sp>
        <p:nvSpPr>
          <p:cNvPr id="3" name="TextBox 2"/>
          <p:cNvSpPr txBox="1"/>
          <p:nvPr/>
        </p:nvSpPr>
        <p:spPr>
          <a:xfrm>
            <a:off x="548640" y="365760"/>
            <a:ext cx="11064240" cy="822960"/>
          </a:xfrm>
          <a:prstGeom prst="rect">
            <a:avLst/>
          </a:prstGeom>
          <a:noFill/>
        </p:spPr>
        <p:txBody>
          <a:bodyPr wrap="square" lIns="0" tIns="0" rIns="0" bIns="0" anchor="t">
            <a:spAutoFit/>
          </a:bodyPr>
          <a:lstStyle/>
          <a:p>
            <a:pPr algn="l"/>
            <a:r>
              <a:rPr sz="3600" b="1" i="0" dirty="0">
                <a:solidFill>
                  <a:srgbClr val="14213D"/>
                </a:solidFill>
                <a:latin typeface="Cambria"/>
              </a:rPr>
              <a:t>The Ziki Orchestrator</a:t>
            </a:r>
          </a:p>
        </p:txBody>
      </p:sp>
      <p:sp>
        <p:nvSpPr>
          <p:cNvPr id="4" name="TextBox 3"/>
          <p:cNvSpPr txBox="1"/>
          <p:nvPr/>
        </p:nvSpPr>
        <p:spPr>
          <a:xfrm>
            <a:off x="548640" y="1051560"/>
            <a:ext cx="11064240" cy="411480"/>
          </a:xfrm>
          <a:prstGeom prst="rect">
            <a:avLst/>
          </a:prstGeom>
          <a:noFill/>
        </p:spPr>
        <p:txBody>
          <a:bodyPr wrap="square" lIns="0" tIns="0" rIns="0" bIns="0" anchor="t">
            <a:spAutoFit/>
          </a:bodyPr>
          <a:lstStyle/>
          <a:p>
            <a:pPr algn="l"/>
            <a:r>
              <a:rPr sz="1400" b="0" i="1" dirty="0">
                <a:solidFill>
                  <a:srgbClr val="6B7280"/>
                </a:solidFill>
                <a:latin typeface="Calibri"/>
              </a:rPr>
              <a:t>One function routes every request — known user → SVD; new user → tags → genre</a:t>
            </a:r>
          </a:p>
        </p:txBody>
      </p:sp>
      <p:sp>
        <p:nvSpPr>
          <p:cNvPr id="5" name="Rounded Rectangle 4"/>
          <p:cNvSpPr/>
          <p:nvPr/>
        </p:nvSpPr>
        <p:spPr>
          <a:xfrm>
            <a:off x="2377440" y="1783080"/>
            <a:ext cx="2286000" cy="640080"/>
          </a:xfrm>
          <a:prstGeom prst="roundRect">
            <a:avLst>
              <a:gd name="adj" fmla="val 30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377440" y="1783080"/>
            <a:ext cx="2286000" cy="640080"/>
          </a:xfrm>
          <a:prstGeom prst="rect">
            <a:avLst/>
          </a:prstGeom>
          <a:noFill/>
        </p:spPr>
        <p:txBody>
          <a:bodyPr wrap="square" lIns="0" tIns="0" rIns="0" bIns="0" anchor="ctr">
            <a:spAutoFit/>
          </a:bodyPr>
          <a:lstStyle/>
          <a:p>
            <a:pPr algn="ctr"/>
            <a:r>
              <a:rPr sz="1200" b="1" i="0">
                <a:solidFill>
                  <a:srgbClr val="FFFFFF"/>
                </a:solidFill>
                <a:latin typeface="Consolas"/>
              </a:rPr>
              <a:t>request(user_id)</a:t>
            </a:r>
          </a:p>
        </p:txBody>
      </p:sp>
      <p:sp>
        <p:nvSpPr>
          <p:cNvPr id="7" name="Diamond 6"/>
          <p:cNvSpPr/>
          <p:nvPr/>
        </p:nvSpPr>
        <p:spPr>
          <a:xfrm>
            <a:off x="2377440" y="2651760"/>
            <a:ext cx="2286000" cy="777240"/>
          </a:xfrm>
          <a:prstGeom prst="diamond">
            <a:avLst/>
          </a:prstGeom>
          <a:solidFill>
            <a:srgbClr val="C73E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377440" y="2651760"/>
            <a:ext cx="2286000" cy="777240"/>
          </a:xfrm>
          <a:prstGeom prst="rect">
            <a:avLst/>
          </a:prstGeom>
          <a:noFill/>
        </p:spPr>
        <p:txBody>
          <a:bodyPr wrap="square" lIns="0" tIns="0" rIns="0" bIns="0" anchor="ctr">
            <a:spAutoFit/>
          </a:bodyPr>
          <a:lstStyle/>
          <a:p>
            <a:pPr algn="ctr"/>
            <a:r>
              <a:rPr sz="1100" b="1" i="0" dirty="0">
                <a:solidFill>
                  <a:srgbClr val="FFFFFF"/>
                </a:solidFill>
                <a:latin typeface="Calibri"/>
              </a:rPr>
              <a:t>user has ratings?</a:t>
            </a:r>
          </a:p>
        </p:txBody>
      </p:sp>
      <p:sp>
        <p:nvSpPr>
          <p:cNvPr id="9" name="Rounded Rectangle 8"/>
          <p:cNvSpPr/>
          <p:nvPr/>
        </p:nvSpPr>
        <p:spPr>
          <a:xfrm>
            <a:off x="548640" y="3657600"/>
            <a:ext cx="2468880" cy="640080"/>
          </a:xfrm>
          <a:prstGeom prst="roundRect">
            <a:avLst>
              <a:gd name="adj" fmla="val 30000"/>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48640" y="3657600"/>
            <a:ext cx="2468880" cy="640080"/>
          </a:xfrm>
          <a:prstGeom prst="rect">
            <a:avLst/>
          </a:prstGeom>
          <a:noFill/>
        </p:spPr>
        <p:txBody>
          <a:bodyPr wrap="square" lIns="0" tIns="0" rIns="0" bIns="0" anchor="ctr">
            <a:spAutoFit/>
          </a:bodyPr>
          <a:lstStyle/>
          <a:p>
            <a:pPr algn="ctr"/>
            <a:r>
              <a:rPr sz="1200" b="1" i="0">
                <a:solidFill>
                  <a:srgbClr val="FFFFFF"/>
                </a:solidFill>
                <a:latin typeface="Calibri"/>
              </a:rPr>
              <a:t>YES → SVD top-5</a:t>
            </a:r>
          </a:p>
        </p:txBody>
      </p:sp>
      <p:sp>
        <p:nvSpPr>
          <p:cNvPr id="11" name="Rounded Rectangle 10"/>
          <p:cNvSpPr/>
          <p:nvPr/>
        </p:nvSpPr>
        <p:spPr>
          <a:xfrm>
            <a:off x="4023360" y="3657600"/>
            <a:ext cx="2468880" cy="640080"/>
          </a:xfrm>
          <a:prstGeom prst="roundRect">
            <a:avLst>
              <a:gd name="adj" fmla="val 30000"/>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023360" y="3657600"/>
            <a:ext cx="2468880" cy="640080"/>
          </a:xfrm>
          <a:prstGeom prst="rect">
            <a:avLst/>
          </a:prstGeom>
          <a:noFill/>
        </p:spPr>
        <p:txBody>
          <a:bodyPr wrap="square" lIns="0" tIns="0" rIns="0" bIns="0" anchor="ctr">
            <a:spAutoFit/>
          </a:bodyPr>
          <a:lstStyle/>
          <a:p>
            <a:pPr algn="ctr"/>
            <a:r>
              <a:rPr sz="1200" b="1" i="0">
                <a:solidFill>
                  <a:srgbClr val="14213D"/>
                </a:solidFill>
                <a:latin typeface="Calibri"/>
              </a:rPr>
              <a:t>NO → tag match</a:t>
            </a:r>
          </a:p>
        </p:txBody>
      </p:sp>
      <p:sp>
        <p:nvSpPr>
          <p:cNvPr id="13" name="Rounded Rectangle 12"/>
          <p:cNvSpPr/>
          <p:nvPr/>
        </p:nvSpPr>
        <p:spPr>
          <a:xfrm>
            <a:off x="4023360" y="4526280"/>
            <a:ext cx="2468880" cy="640080"/>
          </a:xfrm>
          <a:prstGeom prst="roundRect">
            <a:avLst>
              <a:gd name="adj" fmla="val 30000"/>
            </a:avLst>
          </a:prstGeom>
          <a:solidFill>
            <a:srgbClr val="9B2E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023360" y="4526280"/>
            <a:ext cx="2468880" cy="640080"/>
          </a:xfrm>
          <a:prstGeom prst="rect">
            <a:avLst/>
          </a:prstGeom>
          <a:noFill/>
        </p:spPr>
        <p:txBody>
          <a:bodyPr wrap="square" lIns="0" tIns="0" rIns="0" bIns="0" anchor="ctr">
            <a:spAutoFit/>
          </a:bodyPr>
          <a:lstStyle/>
          <a:p>
            <a:pPr algn="ctr"/>
            <a:r>
              <a:rPr sz="1100" b="1" i="0">
                <a:solidFill>
                  <a:srgbClr val="FFFFFF"/>
                </a:solidFill>
                <a:latin typeface="Calibri"/>
              </a:rPr>
              <a:t>no match → genre fallback</a:t>
            </a:r>
          </a:p>
        </p:txBody>
      </p:sp>
      <p:cxnSp>
        <p:nvCxnSpPr>
          <p:cNvPr id="15" name="Connector 14"/>
          <p:cNvCxnSpPr/>
          <p:nvPr/>
        </p:nvCxnSpPr>
        <p:spPr>
          <a:xfrm>
            <a:off x="3520440" y="2423160"/>
            <a:ext cx="0" cy="228600"/>
          </a:xfrm>
          <a:prstGeom prst="line">
            <a:avLst/>
          </a:prstGeom>
          <a:ln w="19050">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a:off x="1783080" y="3429000"/>
            <a:ext cx="1737360" cy="228600"/>
          </a:xfrm>
          <a:prstGeom prst="line">
            <a:avLst/>
          </a:prstGeom>
          <a:ln w="19050">
            <a:solidFill>
              <a:srgbClr val="16A34A"/>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3520440" y="3429000"/>
            <a:ext cx="1737360" cy="228600"/>
          </a:xfrm>
          <a:prstGeom prst="line">
            <a:avLst/>
          </a:prstGeom>
          <a:ln w="19050">
            <a:solidFill>
              <a:srgbClr val="F2A541"/>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5257800" y="4297680"/>
            <a:ext cx="0" cy="228600"/>
          </a:xfrm>
          <a:prstGeom prst="line">
            <a:avLst/>
          </a:prstGeom>
          <a:ln w="19050">
            <a:solidFill>
              <a:srgbClr val="9B2E14"/>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11475720" y="6446520"/>
            <a:ext cx="640080" cy="138499"/>
          </a:xfrm>
          <a:prstGeom prst="rect">
            <a:avLst/>
          </a:prstGeom>
          <a:noFill/>
        </p:spPr>
        <p:txBody>
          <a:bodyPr wrap="square" lIns="0" tIns="0" rIns="0" bIns="0" anchor="t">
            <a:spAutoFit/>
          </a:bodyPr>
          <a:lstStyle/>
          <a:p>
            <a:pPr algn="r"/>
            <a:r>
              <a:rPr sz="900" b="0" i="0" dirty="0">
                <a:solidFill>
                  <a:srgbClr val="6B7280"/>
                </a:solidFill>
                <a:latin typeface="Calibri"/>
              </a:rPr>
              <a:t>1</a:t>
            </a:r>
            <a:r>
              <a:rPr lang="en-US" sz="900" b="0" i="0" dirty="0">
                <a:solidFill>
                  <a:srgbClr val="6B7280"/>
                </a:solidFill>
                <a:latin typeface="Calibri"/>
              </a:rPr>
              <a:t>6</a:t>
            </a:r>
            <a:r>
              <a:rPr sz="900" b="0" i="0" dirty="0">
                <a:solidFill>
                  <a:srgbClr val="6B7280"/>
                </a:solidFill>
                <a:latin typeface="Calibri"/>
              </a:rPr>
              <a:t> / 14</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nterface_mockup.png">
            <a:extLst>
              <a:ext uri="{FF2B5EF4-FFF2-40B4-BE49-F238E27FC236}">
                <a16:creationId xmlns:a16="http://schemas.microsoft.com/office/drawing/2014/main" id="{1C4C3C5A-FF74-4D92-BC43-D324EE793BEE}"/>
              </a:ext>
            </a:extLst>
          </p:cNvPr>
          <p:cNvPicPr>
            <a:picLocks noChangeAspect="1"/>
          </p:cNvPicPr>
          <p:nvPr/>
        </p:nvPicPr>
        <p:blipFill>
          <a:blip r:embed="rId2"/>
          <a:stretch>
            <a:fillRect/>
          </a:stretch>
        </p:blipFill>
        <p:spPr>
          <a:xfrm>
            <a:off x="478594" y="605743"/>
            <a:ext cx="11478944" cy="6157299"/>
          </a:xfrm>
          <a:prstGeom prst="rect">
            <a:avLst/>
          </a:prstGeom>
        </p:spPr>
      </p:pic>
      <p:sp>
        <p:nvSpPr>
          <p:cNvPr id="3" name="Title 2">
            <a:extLst>
              <a:ext uri="{FF2B5EF4-FFF2-40B4-BE49-F238E27FC236}">
                <a16:creationId xmlns:a16="http://schemas.microsoft.com/office/drawing/2014/main" id="{08D84695-A01C-4EBB-903D-D3BF5C7B9233}"/>
              </a:ext>
            </a:extLst>
          </p:cNvPr>
          <p:cNvSpPr>
            <a:spLocks noGrp="1"/>
          </p:cNvSpPr>
          <p:nvPr>
            <p:ph type="ctrTitle"/>
          </p:nvPr>
        </p:nvSpPr>
        <p:spPr>
          <a:xfrm>
            <a:off x="2067950" y="6204"/>
            <a:ext cx="7772400" cy="599539"/>
          </a:xfrm>
        </p:spPr>
        <p:txBody>
          <a:bodyPr>
            <a:noAutofit/>
          </a:bodyPr>
          <a:lstStyle/>
          <a:p>
            <a:r>
              <a:rPr lang="en-US" sz="3600" dirty="0"/>
              <a:t>Movie Recommender Interface</a:t>
            </a:r>
            <a:endParaRPr lang="en-GB" sz="3600" dirty="0"/>
          </a:p>
        </p:txBody>
      </p:sp>
    </p:spTree>
    <p:extLst>
      <p:ext uri="{BB962C8B-B14F-4D97-AF65-F5344CB8AC3E}">
        <p14:creationId xmlns:p14="http://schemas.microsoft.com/office/powerpoint/2010/main" val="354599684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14213D"/>
        </a:solidFill>
        <a:effectLst/>
      </p:bgPr>
    </p:bg>
    <p:spTree>
      <p:nvGrpSpPr>
        <p:cNvPr id="1" name=""/>
        <p:cNvGrpSpPr/>
        <p:nvPr/>
      </p:nvGrpSpPr>
      <p:grpSpPr>
        <a:xfrm>
          <a:off x="0" y="0"/>
          <a:ext cx="0" cy="0"/>
          <a:chOff x="0" y="0"/>
          <a:chExt cx="0" cy="0"/>
        </a:xfrm>
      </p:grpSpPr>
      <p:sp>
        <p:nvSpPr>
          <p:cNvPr id="2" name="Oval 1"/>
          <p:cNvSpPr/>
          <p:nvPr/>
        </p:nvSpPr>
        <p:spPr>
          <a:xfrm>
            <a:off x="5536458" y="3795194"/>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0138931" y="1529190"/>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7383309" y="1506349"/>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1402124" y="5326031"/>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7171599" y="2792826"/>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7401641" y="1330644"/>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087735" y="584186"/>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9259539" y="2364789"/>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6299348" y="4288494"/>
            <a:ext cx="60000" cy="6000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1337181" y="4377389"/>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11746515" y="5513323"/>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9029586" y="3507937"/>
            <a:ext cx="35000" cy="3500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9124430" y="2818801"/>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11316184" y="5556786"/>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10961851" y="686313"/>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4908320" y="813227"/>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8079971" y="2429727"/>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11385151" y="5009880"/>
            <a:ext cx="35000" cy="3500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8446953" y="432875"/>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2396621" y="3792270"/>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11627526" y="5080221"/>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1697446" y="2943510"/>
            <a:ext cx="35000" cy="3500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10245096" y="6338202"/>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10479768" y="1656671"/>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7246831" y="3900492"/>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2803131" y="1948092"/>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3752752" y="815434"/>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7641954" y="460776"/>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5545928" y="6241879"/>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1917244" y="2731175"/>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10749043" y="5376007"/>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2177137" y="4219176"/>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11225812" y="5770477"/>
            <a:ext cx="90000" cy="9000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907559" y="1033835"/>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3090754" y="4682351"/>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10707899" y="3373858"/>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8599398" y="787115"/>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7835351" y="4138878"/>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10851186" y="1615432"/>
            <a:ext cx="35000" cy="3500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p:cNvSpPr/>
          <p:nvPr/>
        </p:nvSpPr>
        <p:spPr>
          <a:xfrm>
            <a:off x="5068365" y="1891645"/>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p:cNvSpPr/>
          <p:nvPr/>
        </p:nvSpPr>
        <p:spPr>
          <a:xfrm>
            <a:off x="4580976" y="3871144"/>
            <a:ext cx="35000" cy="3500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val 42"/>
          <p:cNvSpPr/>
          <p:nvPr/>
        </p:nvSpPr>
        <p:spPr>
          <a:xfrm>
            <a:off x="1947766" y="3124794"/>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val 43"/>
          <p:cNvSpPr/>
          <p:nvPr/>
        </p:nvSpPr>
        <p:spPr>
          <a:xfrm>
            <a:off x="8266422" y="3946321"/>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val 44"/>
          <p:cNvSpPr/>
          <p:nvPr/>
        </p:nvSpPr>
        <p:spPr>
          <a:xfrm>
            <a:off x="10922363" y="3274569"/>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val 45"/>
          <p:cNvSpPr/>
          <p:nvPr/>
        </p:nvSpPr>
        <p:spPr>
          <a:xfrm>
            <a:off x="11370232" y="496003"/>
            <a:ext cx="90000" cy="9000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val 46"/>
          <p:cNvSpPr/>
          <p:nvPr/>
        </p:nvSpPr>
        <p:spPr>
          <a:xfrm>
            <a:off x="1134662" y="2271481"/>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val 47"/>
          <p:cNvSpPr/>
          <p:nvPr/>
        </p:nvSpPr>
        <p:spPr>
          <a:xfrm>
            <a:off x="1226014" y="3711402"/>
            <a:ext cx="90000" cy="9000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p:cNvSpPr/>
          <p:nvPr/>
        </p:nvSpPr>
        <p:spPr>
          <a:xfrm>
            <a:off x="11067091" y="4881890"/>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p:cNvSpPr/>
          <p:nvPr/>
        </p:nvSpPr>
        <p:spPr>
          <a:xfrm>
            <a:off x="10824239" y="2521264"/>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val 50"/>
          <p:cNvSpPr/>
          <p:nvPr/>
        </p:nvSpPr>
        <p:spPr>
          <a:xfrm>
            <a:off x="1253520" y="5617964"/>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val 51"/>
          <p:cNvSpPr/>
          <p:nvPr/>
        </p:nvSpPr>
        <p:spPr>
          <a:xfrm>
            <a:off x="6912949" y="4194568"/>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Oval 52"/>
          <p:cNvSpPr/>
          <p:nvPr/>
        </p:nvSpPr>
        <p:spPr>
          <a:xfrm>
            <a:off x="508031" y="808392"/>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Oval 53"/>
          <p:cNvSpPr/>
          <p:nvPr/>
        </p:nvSpPr>
        <p:spPr>
          <a:xfrm>
            <a:off x="11719432" y="5755787"/>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Oval 54"/>
          <p:cNvSpPr/>
          <p:nvPr/>
        </p:nvSpPr>
        <p:spPr>
          <a:xfrm>
            <a:off x="11044254" y="4618495"/>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Oval 55"/>
          <p:cNvSpPr/>
          <p:nvPr/>
        </p:nvSpPr>
        <p:spPr>
          <a:xfrm>
            <a:off x="9948329" y="879050"/>
            <a:ext cx="90000" cy="9000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Oval 56"/>
          <p:cNvSpPr/>
          <p:nvPr/>
        </p:nvSpPr>
        <p:spPr>
          <a:xfrm>
            <a:off x="7238450" y="3312332"/>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Oval 57"/>
          <p:cNvSpPr/>
          <p:nvPr/>
        </p:nvSpPr>
        <p:spPr>
          <a:xfrm>
            <a:off x="1656034" y="5144084"/>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Oval 58"/>
          <p:cNvSpPr/>
          <p:nvPr/>
        </p:nvSpPr>
        <p:spPr>
          <a:xfrm>
            <a:off x="3289899" y="435033"/>
            <a:ext cx="60000" cy="6000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Oval 59"/>
          <p:cNvSpPr/>
          <p:nvPr/>
        </p:nvSpPr>
        <p:spPr>
          <a:xfrm>
            <a:off x="7358154" y="3541694"/>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Oval 60"/>
          <p:cNvSpPr/>
          <p:nvPr/>
        </p:nvSpPr>
        <p:spPr>
          <a:xfrm>
            <a:off x="5417048" y="5828907"/>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Oval 61"/>
          <p:cNvSpPr/>
          <p:nvPr/>
        </p:nvSpPr>
        <p:spPr>
          <a:xfrm>
            <a:off x="3230110" y="4251008"/>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Oval 62"/>
          <p:cNvSpPr/>
          <p:nvPr/>
        </p:nvSpPr>
        <p:spPr>
          <a:xfrm>
            <a:off x="4759665" y="3938154"/>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Oval 63"/>
          <p:cNvSpPr/>
          <p:nvPr/>
        </p:nvSpPr>
        <p:spPr>
          <a:xfrm>
            <a:off x="1903697" y="2514593"/>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Oval 64"/>
          <p:cNvSpPr/>
          <p:nvPr/>
        </p:nvSpPr>
        <p:spPr>
          <a:xfrm>
            <a:off x="11224261" y="2061545"/>
            <a:ext cx="35000" cy="3500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Oval 65"/>
          <p:cNvSpPr/>
          <p:nvPr/>
        </p:nvSpPr>
        <p:spPr>
          <a:xfrm>
            <a:off x="5753309" y="6037237"/>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Oval 66"/>
          <p:cNvSpPr/>
          <p:nvPr/>
        </p:nvSpPr>
        <p:spPr>
          <a:xfrm>
            <a:off x="6309077" y="4483656"/>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Oval 67"/>
          <p:cNvSpPr/>
          <p:nvPr/>
        </p:nvSpPr>
        <p:spPr>
          <a:xfrm>
            <a:off x="11590437" y="3137853"/>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Oval 68"/>
          <p:cNvSpPr/>
          <p:nvPr/>
        </p:nvSpPr>
        <p:spPr>
          <a:xfrm>
            <a:off x="3544714" y="4087930"/>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Oval 69"/>
          <p:cNvSpPr/>
          <p:nvPr/>
        </p:nvSpPr>
        <p:spPr>
          <a:xfrm>
            <a:off x="6887511" y="2259028"/>
            <a:ext cx="90000" cy="9000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Oval 70"/>
          <p:cNvSpPr/>
          <p:nvPr/>
        </p:nvSpPr>
        <p:spPr>
          <a:xfrm>
            <a:off x="1918881" y="3152281"/>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487432" y="35130"/>
            <a:ext cx="10972800" cy="646331"/>
          </a:xfrm>
          <a:prstGeom prst="rect">
            <a:avLst/>
          </a:prstGeom>
          <a:noFill/>
        </p:spPr>
        <p:txBody>
          <a:bodyPr wrap="square" lIns="0" tIns="0" rIns="0" bIns="0" anchor="t">
            <a:spAutoFit/>
          </a:bodyPr>
          <a:lstStyle/>
          <a:p>
            <a:pPr algn="ctr"/>
            <a:r>
              <a:rPr sz="4200" b="1" i="0" dirty="0">
                <a:solidFill>
                  <a:srgbClr val="FFFFFF"/>
                </a:solidFill>
                <a:latin typeface="Cambria"/>
              </a:rPr>
              <a:t>Conclusions &amp; next steps</a:t>
            </a:r>
          </a:p>
        </p:txBody>
      </p:sp>
      <p:sp>
        <p:nvSpPr>
          <p:cNvPr id="73" name="TextBox 72"/>
          <p:cNvSpPr txBox="1"/>
          <p:nvPr/>
        </p:nvSpPr>
        <p:spPr>
          <a:xfrm>
            <a:off x="525531" y="684528"/>
            <a:ext cx="10972800" cy="430887"/>
          </a:xfrm>
          <a:prstGeom prst="rect">
            <a:avLst/>
          </a:prstGeom>
          <a:noFill/>
        </p:spPr>
        <p:txBody>
          <a:bodyPr wrap="square" lIns="0" tIns="0" rIns="0" bIns="0" anchor="t">
            <a:spAutoFit/>
          </a:bodyPr>
          <a:lstStyle/>
          <a:p>
            <a:pPr algn="ctr"/>
            <a:r>
              <a:rPr lang="en-US" sz="2800" b="0" i="1" dirty="0">
                <a:solidFill>
                  <a:srgbClr val="F2A541"/>
                </a:solidFill>
                <a:latin typeface="Calibri"/>
              </a:rPr>
              <a:t>Project Summary</a:t>
            </a:r>
            <a:endParaRPr sz="2800" b="0" i="1" dirty="0">
              <a:solidFill>
                <a:srgbClr val="F2A541"/>
              </a:solidFill>
              <a:latin typeface="Calibri"/>
            </a:endParaRPr>
          </a:p>
        </p:txBody>
      </p:sp>
      <p:sp>
        <p:nvSpPr>
          <p:cNvPr id="85" name="Rounded Rectangle 84"/>
          <p:cNvSpPr/>
          <p:nvPr/>
        </p:nvSpPr>
        <p:spPr>
          <a:xfrm>
            <a:off x="656563" y="1244114"/>
            <a:ext cx="11179952" cy="5141246"/>
          </a:xfrm>
          <a:prstGeom prst="roundRect">
            <a:avLst>
              <a:gd name="adj" fmla="val 5000"/>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nchorCtr="1"/>
          <a:lstStyle/>
          <a:p>
            <a:endParaRPr lang="en-US" dirty="0"/>
          </a:p>
          <a:p>
            <a:br>
              <a:rPr lang="en-US" sz="2000" dirty="0"/>
            </a:br>
            <a:r>
              <a:rPr lang="en-US" sz="2000" dirty="0"/>
              <a:t>Our objective was to build a robust recommendation system for Ziki, capable of delivering highly personalized content while effectively managing the common pitfalls of streaming platforms: popularity bias and the "Cold Start" problem. Through rigorous Exploratory Data Analysis (EDA) and iterative modeling, we developed a Hybrid Recommendation Engine that leverages the strengths of both user behavior and movie metadata.</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14213D"/>
        </a:solidFill>
        <a:effectLst/>
      </p:bgPr>
    </p:bg>
    <p:spTree>
      <p:nvGrpSpPr>
        <p:cNvPr id="1" name=""/>
        <p:cNvGrpSpPr/>
        <p:nvPr/>
      </p:nvGrpSpPr>
      <p:grpSpPr>
        <a:xfrm>
          <a:off x="0" y="0"/>
          <a:ext cx="0" cy="0"/>
          <a:chOff x="0" y="0"/>
          <a:chExt cx="0" cy="0"/>
        </a:xfrm>
      </p:grpSpPr>
      <p:sp>
        <p:nvSpPr>
          <p:cNvPr id="2" name="Oval 1"/>
          <p:cNvSpPr/>
          <p:nvPr/>
        </p:nvSpPr>
        <p:spPr>
          <a:xfrm>
            <a:off x="5536458" y="3795194"/>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0138931" y="1529190"/>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7383309" y="1506349"/>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1402124" y="5326031"/>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7171599" y="2792826"/>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7401641" y="1330644"/>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087735" y="584186"/>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9259539" y="2364789"/>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6299348" y="4288494"/>
            <a:ext cx="60000" cy="6000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1337181" y="4377389"/>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11746515" y="5513323"/>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9029586" y="3507937"/>
            <a:ext cx="35000" cy="3500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9124430" y="2818801"/>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11316184" y="5556786"/>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10961851" y="686313"/>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4908320" y="813227"/>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8079971" y="2429727"/>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11385151" y="5009880"/>
            <a:ext cx="35000" cy="3500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8446953" y="432875"/>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2396621" y="3792270"/>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11627526" y="5080221"/>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1697446" y="2943510"/>
            <a:ext cx="35000" cy="3500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10245096" y="6338202"/>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10479768" y="1656671"/>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7246831" y="3900492"/>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2803131" y="1948092"/>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3752752" y="815434"/>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7641954" y="460776"/>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5545928" y="6241879"/>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1917244" y="2731175"/>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10749043" y="5376007"/>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2177137" y="4219176"/>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11225812" y="5770477"/>
            <a:ext cx="90000" cy="9000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907559" y="1033835"/>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3090754" y="4682351"/>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10707899" y="3373858"/>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8599398" y="787115"/>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7835351" y="4138878"/>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10851186" y="1615432"/>
            <a:ext cx="35000" cy="3500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p:cNvSpPr/>
          <p:nvPr/>
        </p:nvSpPr>
        <p:spPr>
          <a:xfrm>
            <a:off x="5068365" y="1891645"/>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p:cNvSpPr/>
          <p:nvPr/>
        </p:nvSpPr>
        <p:spPr>
          <a:xfrm>
            <a:off x="4580976" y="3871144"/>
            <a:ext cx="35000" cy="3500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val 42"/>
          <p:cNvSpPr/>
          <p:nvPr/>
        </p:nvSpPr>
        <p:spPr>
          <a:xfrm>
            <a:off x="1947766" y="3124794"/>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val 43"/>
          <p:cNvSpPr/>
          <p:nvPr/>
        </p:nvSpPr>
        <p:spPr>
          <a:xfrm>
            <a:off x="8266422" y="3946321"/>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val 44"/>
          <p:cNvSpPr/>
          <p:nvPr/>
        </p:nvSpPr>
        <p:spPr>
          <a:xfrm>
            <a:off x="10922363" y="3274569"/>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val 45"/>
          <p:cNvSpPr/>
          <p:nvPr/>
        </p:nvSpPr>
        <p:spPr>
          <a:xfrm>
            <a:off x="11370232" y="496003"/>
            <a:ext cx="90000" cy="9000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val 46"/>
          <p:cNvSpPr/>
          <p:nvPr/>
        </p:nvSpPr>
        <p:spPr>
          <a:xfrm>
            <a:off x="1134662" y="2271481"/>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val 47"/>
          <p:cNvSpPr/>
          <p:nvPr/>
        </p:nvSpPr>
        <p:spPr>
          <a:xfrm>
            <a:off x="1226014" y="3711402"/>
            <a:ext cx="90000" cy="9000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p:cNvSpPr/>
          <p:nvPr/>
        </p:nvSpPr>
        <p:spPr>
          <a:xfrm>
            <a:off x="11067091" y="4881890"/>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p:cNvSpPr/>
          <p:nvPr/>
        </p:nvSpPr>
        <p:spPr>
          <a:xfrm>
            <a:off x="10824239" y="2521264"/>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val 50"/>
          <p:cNvSpPr/>
          <p:nvPr/>
        </p:nvSpPr>
        <p:spPr>
          <a:xfrm>
            <a:off x="1253520" y="5617964"/>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val 51"/>
          <p:cNvSpPr/>
          <p:nvPr/>
        </p:nvSpPr>
        <p:spPr>
          <a:xfrm>
            <a:off x="6912949" y="4194568"/>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Oval 52"/>
          <p:cNvSpPr/>
          <p:nvPr/>
        </p:nvSpPr>
        <p:spPr>
          <a:xfrm>
            <a:off x="508031" y="808392"/>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Oval 53"/>
          <p:cNvSpPr/>
          <p:nvPr/>
        </p:nvSpPr>
        <p:spPr>
          <a:xfrm>
            <a:off x="11719432" y="5755787"/>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Oval 54"/>
          <p:cNvSpPr/>
          <p:nvPr/>
        </p:nvSpPr>
        <p:spPr>
          <a:xfrm>
            <a:off x="11044254" y="4618495"/>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Oval 55"/>
          <p:cNvSpPr/>
          <p:nvPr/>
        </p:nvSpPr>
        <p:spPr>
          <a:xfrm>
            <a:off x="9948329" y="879050"/>
            <a:ext cx="90000" cy="9000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Oval 56"/>
          <p:cNvSpPr/>
          <p:nvPr/>
        </p:nvSpPr>
        <p:spPr>
          <a:xfrm>
            <a:off x="7238450" y="3312332"/>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Oval 57"/>
          <p:cNvSpPr/>
          <p:nvPr/>
        </p:nvSpPr>
        <p:spPr>
          <a:xfrm>
            <a:off x="1656034" y="5144084"/>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Oval 58"/>
          <p:cNvSpPr/>
          <p:nvPr/>
        </p:nvSpPr>
        <p:spPr>
          <a:xfrm>
            <a:off x="3289899" y="435033"/>
            <a:ext cx="60000" cy="6000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Oval 59"/>
          <p:cNvSpPr/>
          <p:nvPr/>
        </p:nvSpPr>
        <p:spPr>
          <a:xfrm>
            <a:off x="7358154" y="3541694"/>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Oval 60"/>
          <p:cNvSpPr/>
          <p:nvPr/>
        </p:nvSpPr>
        <p:spPr>
          <a:xfrm>
            <a:off x="5417048" y="5828907"/>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Oval 61"/>
          <p:cNvSpPr/>
          <p:nvPr/>
        </p:nvSpPr>
        <p:spPr>
          <a:xfrm>
            <a:off x="3230110" y="4251008"/>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Oval 62"/>
          <p:cNvSpPr/>
          <p:nvPr/>
        </p:nvSpPr>
        <p:spPr>
          <a:xfrm>
            <a:off x="4759665" y="3938154"/>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Oval 63"/>
          <p:cNvSpPr/>
          <p:nvPr/>
        </p:nvSpPr>
        <p:spPr>
          <a:xfrm>
            <a:off x="1903697" y="2514593"/>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Oval 64"/>
          <p:cNvSpPr/>
          <p:nvPr/>
        </p:nvSpPr>
        <p:spPr>
          <a:xfrm>
            <a:off x="11224261" y="2061545"/>
            <a:ext cx="35000" cy="3500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Oval 65"/>
          <p:cNvSpPr/>
          <p:nvPr/>
        </p:nvSpPr>
        <p:spPr>
          <a:xfrm>
            <a:off x="5753309" y="6037237"/>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Oval 66"/>
          <p:cNvSpPr/>
          <p:nvPr/>
        </p:nvSpPr>
        <p:spPr>
          <a:xfrm>
            <a:off x="6309077" y="4483656"/>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Oval 67"/>
          <p:cNvSpPr/>
          <p:nvPr/>
        </p:nvSpPr>
        <p:spPr>
          <a:xfrm>
            <a:off x="11590437" y="3137853"/>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Oval 68"/>
          <p:cNvSpPr/>
          <p:nvPr/>
        </p:nvSpPr>
        <p:spPr>
          <a:xfrm>
            <a:off x="3544714" y="4087930"/>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Oval 69"/>
          <p:cNvSpPr/>
          <p:nvPr/>
        </p:nvSpPr>
        <p:spPr>
          <a:xfrm>
            <a:off x="6887511" y="2259028"/>
            <a:ext cx="90000" cy="9000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Oval 70"/>
          <p:cNvSpPr/>
          <p:nvPr/>
        </p:nvSpPr>
        <p:spPr>
          <a:xfrm>
            <a:off x="1918881" y="3152281"/>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487432" y="35130"/>
            <a:ext cx="10972800" cy="646331"/>
          </a:xfrm>
          <a:prstGeom prst="rect">
            <a:avLst/>
          </a:prstGeom>
          <a:noFill/>
        </p:spPr>
        <p:txBody>
          <a:bodyPr wrap="square" lIns="0" tIns="0" rIns="0" bIns="0" anchor="t">
            <a:spAutoFit/>
          </a:bodyPr>
          <a:lstStyle/>
          <a:p>
            <a:pPr algn="ctr"/>
            <a:r>
              <a:rPr sz="4200" b="1" i="0" dirty="0">
                <a:solidFill>
                  <a:srgbClr val="FFFFFF"/>
                </a:solidFill>
                <a:latin typeface="Cambria"/>
              </a:rPr>
              <a:t>Conclusions &amp; next steps</a:t>
            </a:r>
          </a:p>
        </p:txBody>
      </p:sp>
      <p:sp>
        <p:nvSpPr>
          <p:cNvPr id="73" name="TextBox 72"/>
          <p:cNvSpPr txBox="1"/>
          <p:nvPr/>
        </p:nvSpPr>
        <p:spPr>
          <a:xfrm>
            <a:off x="525531" y="684528"/>
            <a:ext cx="10972800" cy="430887"/>
          </a:xfrm>
          <a:prstGeom prst="rect">
            <a:avLst/>
          </a:prstGeom>
          <a:noFill/>
        </p:spPr>
        <p:txBody>
          <a:bodyPr wrap="square" lIns="0" tIns="0" rIns="0" bIns="0" anchor="t">
            <a:spAutoFit/>
          </a:bodyPr>
          <a:lstStyle/>
          <a:p>
            <a:pPr algn="ctr"/>
            <a:r>
              <a:rPr lang="en-US" sz="2800" i="1" dirty="0">
                <a:solidFill>
                  <a:srgbClr val="F2A541"/>
                </a:solidFill>
                <a:latin typeface="Calibri"/>
              </a:rPr>
              <a:t>Key Findings</a:t>
            </a:r>
            <a:endParaRPr sz="2800" b="0" i="1" dirty="0">
              <a:solidFill>
                <a:srgbClr val="F2A541"/>
              </a:solidFill>
              <a:latin typeface="Calibri"/>
            </a:endParaRPr>
          </a:p>
        </p:txBody>
      </p:sp>
      <p:sp>
        <p:nvSpPr>
          <p:cNvPr id="85" name="Rounded Rectangle 84"/>
          <p:cNvSpPr/>
          <p:nvPr/>
        </p:nvSpPr>
        <p:spPr>
          <a:xfrm>
            <a:off x="656563" y="1244114"/>
            <a:ext cx="11179952" cy="5141246"/>
          </a:xfrm>
          <a:prstGeom prst="roundRect">
            <a:avLst>
              <a:gd name="adj" fmla="val 5000"/>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nchorCtr="1"/>
          <a:lstStyle/>
          <a:p>
            <a:endParaRPr lang="en-US" dirty="0"/>
          </a:p>
          <a:p>
            <a:br>
              <a:rPr lang="en-US" dirty="0"/>
            </a:br>
            <a:r>
              <a:rPr lang="en-US" sz="2000" dirty="0"/>
              <a:t>SVD Superiority: </a:t>
            </a:r>
          </a:p>
          <a:p>
            <a:r>
              <a:rPr lang="en-US" sz="2000" dirty="0"/>
              <a:t>Among all tested algorithms, the SVD (Singular Value Decomposition) model, fine-tuned via GridSearchCV, emerged as the most accurate predictor of user sentiment, achieving an RMSE of ~0.87.</a:t>
            </a:r>
          </a:p>
          <a:p>
            <a:br>
              <a:rPr lang="en-US" sz="2000" dirty="0"/>
            </a:br>
            <a:r>
              <a:rPr lang="en-US" sz="2000" dirty="0"/>
              <a:t>Hybrid Advantage: </a:t>
            </a:r>
          </a:p>
          <a:p>
            <a:r>
              <a:rPr lang="en-US" sz="2000" dirty="0"/>
              <a:t>By blending SVD with Content-Based Similarity, we successfully mitigated the "filter bubble" effect. The hybrid model doesn't just predict what a user will rate highly; it identifies why they might like it based on movie "DNA" (genres and tags).</a:t>
            </a:r>
          </a:p>
          <a:p>
            <a:br>
              <a:rPr lang="en-US" sz="2000" dirty="0"/>
            </a:br>
            <a:r>
              <a:rPr lang="en-US" sz="2000" dirty="0"/>
              <a:t>Reliable Fallbacks:</a:t>
            </a:r>
          </a:p>
          <a:p>
            <a:r>
              <a:rPr lang="en-US" sz="2000" dirty="0"/>
              <a:t>Our implementation of Bayesian Weighted Scores for new users ensures that the platform remains trustworthy from day one, surfacing "Gold Standard" content instead of obscure, low-count titles.</a:t>
            </a:r>
          </a:p>
        </p:txBody>
      </p:sp>
    </p:spTree>
    <p:extLst>
      <p:ext uri="{BB962C8B-B14F-4D97-AF65-F5344CB8AC3E}">
        <p14:creationId xmlns:p14="http://schemas.microsoft.com/office/powerpoint/2010/main" val="340449740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14213D"/>
        </a:solidFill>
        <a:effectLst/>
      </p:bgPr>
    </p:bg>
    <p:spTree>
      <p:nvGrpSpPr>
        <p:cNvPr id="1" name=""/>
        <p:cNvGrpSpPr/>
        <p:nvPr/>
      </p:nvGrpSpPr>
      <p:grpSpPr>
        <a:xfrm>
          <a:off x="0" y="0"/>
          <a:ext cx="0" cy="0"/>
          <a:chOff x="0" y="0"/>
          <a:chExt cx="0" cy="0"/>
        </a:xfrm>
      </p:grpSpPr>
      <p:sp>
        <p:nvSpPr>
          <p:cNvPr id="2" name="Oval 1"/>
          <p:cNvSpPr/>
          <p:nvPr/>
        </p:nvSpPr>
        <p:spPr>
          <a:xfrm>
            <a:off x="5536458" y="3795194"/>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0138931" y="1529190"/>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7383309" y="1506349"/>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1402124" y="5326031"/>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7171599" y="2792826"/>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7401641" y="1330644"/>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087735" y="584186"/>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9259539" y="2364789"/>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6299348" y="4288494"/>
            <a:ext cx="60000" cy="6000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1337181" y="4377389"/>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11746515" y="5513323"/>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9029586" y="3507937"/>
            <a:ext cx="35000" cy="3500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9124430" y="2818801"/>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11316184" y="5556786"/>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10961851" y="686313"/>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4908320" y="813227"/>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8079971" y="2429727"/>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11385151" y="5009880"/>
            <a:ext cx="35000" cy="3500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8446953" y="432875"/>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2396621" y="3792270"/>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11627526" y="5080221"/>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1697446" y="2943510"/>
            <a:ext cx="35000" cy="3500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10245096" y="6338202"/>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10479768" y="1656671"/>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7246831" y="3900492"/>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2803131" y="1948092"/>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3752752" y="815434"/>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7641954" y="460776"/>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5545928" y="6241879"/>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1917244" y="2731175"/>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10749043" y="5376007"/>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2177137" y="4219176"/>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11225812" y="5770477"/>
            <a:ext cx="90000" cy="9000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907559" y="1033835"/>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3090754" y="4682351"/>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10707899" y="3373858"/>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8599398" y="787115"/>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7835351" y="4138878"/>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10851186" y="1615432"/>
            <a:ext cx="35000" cy="3500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p:cNvSpPr/>
          <p:nvPr/>
        </p:nvSpPr>
        <p:spPr>
          <a:xfrm>
            <a:off x="5068365" y="1891645"/>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p:cNvSpPr/>
          <p:nvPr/>
        </p:nvSpPr>
        <p:spPr>
          <a:xfrm>
            <a:off x="4580976" y="3871144"/>
            <a:ext cx="35000" cy="3500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val 42"/>
          <p:cNvSpPr/>
          <p:nvPr/>
        </p:nvSpPr>
        <p:spPr>
          <a:xfrm>
            <a:off x="1947766" y="3124794"/>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val 43"/>
          <p:cNvSpPr/>
          <p:nvPr/>
        </p:nvSpPr>
        <p:spPr>
          <a:xfrm>
            <a:off x="8266422" y="3946321"/>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val 44"/>
          <p:cNvSpPr/>
          <p:nvPr/>
        </p:nvSpPr>
        <p:spPr>
          <a:xfrm>
            <a:off x="10922363" y="3274569"/>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val 45"/>
          <p:cNvSpPr/>
          <p:nvPr/>
        </p:nvSpPr>
        <p:spPr>
          <a:xfrm>
            <a:off x="11370232" y="496003"/>
            <a:ext cx="90000" cy="9000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val 46"/>
          <p:cNvSpPr/>
          <p:nvPr/>
        </p:nvSpPr>
        <p:spPr>
          <a:xfrm>
            <a:off x="1134662" y="2271481"/>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val 47"/>
          <p:cNvSpPr/>
          <p:nvPr/>
        </p:nvSpPr>
        <p:spPr>
          <a:xfrm>
            <a:off x="1226014" y="3711402"/>
            <a:ext cx="90000" cy="9000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p:cNvSpPr/>
          <p:nvPr/>
        </p:nvSpPr>
        <p:spPr>
          <a:xfrm>
            <a:off x="11067091" y="4881890"/>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p:cNvSpPr/>
          <p:nvPr/>
        </p:nvSpPr>
        <p:spPr>
          <a:xfrm>
            <a:off x="10824239" y="2521264"/>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val 50"/>
          <p:cNvSpPr/>
          <p:nvPr/>
        </p:nvSpPr>
        <p:spPr>
          <a:xfrm>
            <a:off x="1253520" y="5617964"/>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val 51"/>
          <p:cNvSpPr/>
          <p:nvPr/>
        </p:nvSpPr>
        <p:spPr>
          <a:xfrm>
            <a:off x="6912949" y="4194568"/>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Oval 52"/>
          <p:cNvSpPr/>
          <p:nvPr/>
        </p:nvSpPr>
        <p:spPr>
          <a:xfrm>
            <a:off x="508031" y="808392"/>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Oval 53"/>
          <p:cNvSpPr/>
          <p:nvPr/>
        </p:nvSpPr>
        <p:spPr>
          <a:xfrm>
            <a:off x="11719432" y="5755787"/>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Oval 54"/>
          <p:cNvSpPr/>
          <p:nvPr/>
        </p:nvSpPr>
        <p:spPr>
          <a:xfrm>
            <a:off x="11044254" y="4618495"/>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Oval 55"/>
          <p:cNvSpPr/>
          <p:nvPr/>
        </p:nvSpPr>
        <p:spPr>
          <a:xfrm>
            <a:off x="9948329" y="879050"/>
            <a:ext cx="90000" cy="9000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Oval 56"/>
          <p:cNvSpPr/>
          <p:nvPr/>
        </p:nvSpPr>
        <p:spPr>
          <a:xfrm>
            <a:off x="7238450" y="3312332"/>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Oval 57"/>
          <p:cNvSpPr/>
          <p:nvPr/>
        </p:nvSpPr>
        <p:spPr>
          <a:xfrm>
            <a:off x="1656034" y="5144084"/>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Oval 58"/>
          <p:cNvSpPr/>
          <p:nvPr/>
        </p:nvSpPr>
        <p:spPr>
          <a:xfrm>
            <a:off x="3289899" y="435033"/>
            <a:ext cx="60000" cy="6000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Oval 59"/>
          <p:cNvSpPr/>
          <p:nvPr/>
        </p:nvSpPr>
        <p:spPr>
          <a:xfrm>
            <a:off x="7358154" y="3541694"/>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Oval 60"/>
          <p:cNvSpPr/>
          <p:nvPr/>
        </p:nvSpPr>
        <p:spPr>
          <a:xfrm>
            <a:off x="5417048" y="5828907"/>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Oval 61"/>
          <p:cNvSpPr/>
          <p:nvPr/>
        </p:nvSpPr>
        <p:spPr>
          <a:xfrm>
            <a:off x="3230110" y="4251008"/>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Oval 62"/>
          <p:cNvSpPr/>
          <p:nvPr/>
        </p:nvSpPr>
        <p:spPr>
          <a:xfrm>
            <a:off x="4759665" y="3938154"/>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Oval 63"/>
          <p:cNvSpPr/>
          <p:nvPr/>
        </p:nvSpPr>
        <p:spPr>
          <a:xfrm>
            <a:off x="1903697" y="2514593"/>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Oval 64"/>
          <p:cNvSpPr/>
          <p:nvPr/>
        </p:nvSpPr>
        <p:spPr>
          <a:xfrm>
            <a:off x="11224261" y="2061545"/>
            <a:ext cx="35000" cy="3500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Oval 65"/>
          <p:cNvSpPr/>
          <p:nvPr/>
        </p:nvSpPr>
        <p:spPr>
          <a:xfrm>
            <a:off x="5753309" y="6037237"/>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Oval 66"/>
          <p:cNvSpPr/>
          <p:nvPr/>
        </p:nvSpPr>
        <p:spPr>
          <a:xfrm>
            <a:off x="6309077" y="4483656"/>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Oval 67"/>
          <p:cNvSpPr/>
          <p:nvPr/>
        </p:nvSpPr>
        <p:spPr>
          <a:xfrm>
            <a:off x="11590437" y="3137853"/>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Oval 68"/>
          <p:cNvSpPr/>
          <p:nvPr/>
        </p:nvSpPr>
        <p:spPr>
          <a:xfrm>
            <a:off x="3544714" y="4087930"/>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Oval 69"/>
          <p:cNvSpPr/>
          <p:nvPr/>
        </p:nvSpPr>
        <p:spPr>
          <a:xfrm>
            <a:off x="6887511" y="2259028"/>
            <a:ext cx="90000" cy="9000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Oval 70"/>
          <p:cNvSpPr/>
          <p:nvPr/>
        </p:nvSpPr>
        <p:spPr>
          <a:xfrm>
            <a:off x="1918881" y="3152281"/>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487432" y="35130"/>
            <a:ext cx="10972800" cy="646331"/>
          </a:xfrm>
          <a:prstGeom prst="rect">
            <a:avLst/>
          </a:prstGeom>
          <a:noFill/>
        </p:spPr>
        <p:txBody>
          <a:bodyPr wrap="square" lIns="0" tIns="0" rIns="0" bIns="0" anchor="t">
            <a:spAutoFit/>
          </a:bodyPr>
          <a:lstStyle/>
          <a:p>
            <a:pPr algn="ctr"/>
            <a:r>
              <a:rPr sz="4200" b="1" i="0" dirty="0">
                <a:solidFill>
                  <a:srgbClr val="FFFFFF"/>
                </a:solidFill>
                <a:latin typeface="Cambria"/>
              </a:rPr>
              <a:t>Conclusions &amp; next steps</a:t>
            </a:r>
          </a:p>
        </p:txBody>
      </p:sp>
      <p:sp>
        <p:nvSpPr>
          <p:cNvPr id="73" name="TextBox 72"/>
          <p:cNvSpPr txBox="1"/>
          <p:nvPr/>
        </p:nvSpPr>
        <p:spPr>
          <a:xfrm>
            <a:off x="525531" y="684528"/>
            <a:ext cx="10972800" cy="430887"/>
          </a:xfrm>
          <a:prstGeom prst="rect">
            <a:avLst/>
          </a:prstGeom>
          <a:noFill/>
        </p:spPr>
        <p:txBody>
          <a:bodyPr wrap="square" lIns="0" tIns="0" rIns="0" bIns="0" anchor="t">
            <a:spAutoFit/>
          </a:bodyPr>
          <a:lstStyle/>
          <a:p>
            <a:pPr algn="ctr"/>
            <a:r>
              <a:rPr lang="en-US" sz="2800" b="0" i="1" dirty="0">
                <a:solidFill>
                  <a:srgbClr val="F2A541"/>
                </a:solidFill>
                <a:latin typeface="Calibri"/>
              </a:rPr>
              <a:t>Final Verdict</a:t>
            </a:r>
            <a:endParaRPr sz="2800" b="0" i="1" dirty="0">
              <a:solidFill>
                <a:srgbClr val="F2A541"/>
              </a:solidFill>
              <a:latin typeface="Calibri"/>
            </a:endParaRPr>
          </a:p>
        </p:txBody>
      </p:sp>
      <p:sp>
        <p:nvSpPr>
          <p:cNvPr id="85" name="Rounded Rectangle 84"/>
          <p:cNvSpPr/>
          <p:nvPr/>
        </p:nvSpPr>
        <p:spPr>
          <a:xfrm>
            <a:off x="656563" y="1244114"/>
            <a:ext cx="11179952" cy="5141246"/>
          </a:xfrm>
          <a:prstGeom prst="roundRect">
            <a:avLst>
              <a:gd name="adj" fmla="val 5000"/>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nchorCtr="1"/>
          <a:lstStyle/>
          <a:p>
            <a:br>
              <a:rPr lang="en-US" sz="2000" dirty="0"/>
            </a:br>
            <a:r>
              <a:rPr lang="en-US" sz="2000" dirty="0"/>
              <a:t>The Tuned Hybrid SVD-Content Model is Approved for Deployment on the Ziki platform. It meets the primary success criteria of minimizing predictive error while maximizing thematic relevance. This engine provides the mathematical foundation necessary to increase user retention, boost watch time, and differentiate Ziki in the competitive East African streaming market</a:t>
            </a:r>
            <a:r>
              <a:rPr lang="en-US" dirty="0"/>
              <a:t>.</a:t>
            </a:r>
          </a:p>
          <a:p>
            <a:endParaRPr lang="en-US" dirty="0"/>
          </a:p>
          <a:p>
            <a:endParaRPr lang="en-US" dirty="0"/>
          </a:p>
          <a:p>
            <a:endParaRPr lang="en-US" dirty="0"/>
          </a:p>
          <a:p>
            <a:r>
              <a:rPr lang="en-US" dirty="0"/>
              <a:t>The tuned SVD model meets both success targets (RMSE &lt; 0.90, MAE &lt; 0.70).</a:t>
            </a:r>
          </a:p>
          <a:p>
            <a:endParaRPr lang="en-US" dirty="0"/>
          </a:p>
        </p:txBody>
      </p:sp>
    </p:spTree>
    <p:extLst>
      <p:ext uri="{BB962C8B-B14F-4D97-AF65-F5344CB8AC3E}">
        <p14:creationId xmlns:p14="http://schemas.microsoft.com/office/powerpoint/2010/main" val="125269509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14213D"/>
        </a:solidFill>
        <a:effectLst/>
      </p:bgPr>
    </p:bg>
    <p:spTree>
      <p:nvGrpSpPr>
        <p:cNvPr id="1" name=""/>
        <p:cNvGrpSpPr/>
        <p:nvPr/>
      </p:nvGrpSpPr>
      <p:grpSpPr>
        <a:xfrm>
          <a:off x="0" y="0"/>
          <a:ext cx="0" cy="0"/>
          <a:chOff x="0" y="0"/>
          <a:chExt cx="0" cy="0"/>
        </a:xfrm>
      </p:grpSpPr>
      <p:sp>
        <p:nvSpPr>
          <p:cNvPr id="2" name="Oval 1"/>
          <p:cNvSpPr/>
          <p:nvPr/>
        </p:nvSpPr>
        <p:spPr>
          <a:xfrm>
            <a:off x="5536458" y="3795194"/>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0138931" y="1529190"/>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7383309" y="1506349"/>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1402124" y="5326031"/>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7171599" y="2792826"/>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7401641" y="1330644"/>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087735" y="584186"/>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9259539" y="2364789"/>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6299348" y="4288494"/>
            <a:ext cx="60000" cy="6000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1337181" y="4377389"/>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11746515" y="5513323"/>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9029586" y="3507937"/>
            <a:ext cx="35000" cy="3500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9124430" y="2818801"/>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11316184" y="5556786"/>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10961851" y="686313"/>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4908320" y="813227"/>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8079971" y="2429727"/>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11385151" y="5009880"/>
            <a:ext cx="35000" cy="3500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8446953" y="432875"/>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2396621" y="3792270"/>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11627526" y="5080221"/>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1697446" y="2943510"/>
            <a:ext cx="35000" cy="3500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10245096" y="6338202"/>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10479768" y="1656671"/>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7246831" y="3900492"/>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2803131" y="1948092"/>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3752752" y="815434"/>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7641954" y="460776"/>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5545928" y="6241879"/>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1917244" y="2731175"/>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10749043" y="5376007"/>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2177137" y="4219176"/>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11225812" y="5770477"/>
            <a:ext cx="90000" cy="9000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907559" y="1033835"/>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3090754" y="4682351"/>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10707899" y="3373858"/>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8599398" y="787115"/>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7835351" y="4138878"/>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10851186" y="1615432"/>
            <a:ext cx="35000" cy="3500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p:cNvSpPr/>
          <p:nvPr/>
        </p:nvSpPr>
        <p:spPr>
          <a:xfrm>
            <a:off x="5068365" y="1891645"/>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p:cNvSpPr/>
          <p:nvPr/>
        </p:nvSpPr>
        <p:spPr>
          <a:xfrm>
            <a:off x="4580976" y="3871144"/>
            <a:ext cx="35000" cy="3500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val 42"/>
          <p:cNvSpPr/>
          <p:nvPr/>
        </p:nvSpPr>
        <p:spPr>
          <a:xfrm>
            <a:off x="1947766" y="3124794"/>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val 43"/>
          <p:cNvSpPr/>
          <p:nvPr/>
        </p:nvSpPr>
        <p:spPr>
          <a:xfrm>
            <a:off x="8266422" y="3946321"/>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val 44"/>
          <p:cNvSpPr/>
          <p:nvPr/>
        </p:nvSpPr>
        <p:spPr>
          <a:xfrm>
            <a:off x="10922363" y="3274569"/>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val 45"/>
          <p:cNvSpPr/>
          <p:nvPr/>
        </p:nvSpPr>
        <p:spPr>
          <a:xfrm>
            <a:off x="11370232" y="496003"/>
            <a:ext cx="90000" cy="9000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val 46"/>
          <p:cNvSpPr/>
          <p:nvPr/>
        </p:nvSpPr>
        <p:spPr>
          <a:xfrm>
            <a:off x="1134662" y="2271481"/>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val 47"/>
          <p:cNvSpPr/>
          <p:nvPr/>
        </p:nvSpPr>
        <p:spPr>
          <a:xfrm>
            <a:off x="1226014" y="3711402"/>
            <a:ext cx="90000" cy="9000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p:cNvSpPr/>
          <p:nvPr/>
        </p:nvSpPr>
        <p:spPr>
          <a:xfrm>
            <a:off x="11067091" y="4881890"/>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p:cNvSpPr/>
          <p:nvPr/>
        </p:nvSpPr>
        <p:spPr>
          <a:xfrm>
            <a:off x="10824239" y="2521264"/>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val 50"/>
          <p:cNvSpPr/>
          <p:nvPr/>
        </p:nvSpPr>
        <p:spPr>
          <a:xfrm>
            <a:off x="1253520" y="5617964"/>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val 51"/>
          <p:cNvSpPr/>
          <p:nvPr/>
        </p:nvSpPr>
        <p:spPr>
          <a:xfrm>
            <a:off x="6912949" y="4194568"/>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Oval 52"/>
          <p:cNvSpPr/>
          <p:nvPr/>
        </p:nvSpPr>
        <p:spPr>
          <a:xfrm>
            <a:off x="508031" y="808392"/>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Oval 53"/>
          <p:cNvSpPr/>
          <p:nvPr/>
        </p:nvSpPr>
        <p:spPr>
          <a:xfrm>
            <a:off x="11719432" y="5755787"/>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Oval 54"/>
          <p:cNvSpPr/>
          <p:nvPr/>
        </p:nvSpPr>
        <p:spPr>
          <a:xfrm>
            <a:off x="11044254" y="4618495"/>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Oval 55"/>
          <p:cNvSpPr/>
          <p:nvPr/>
        </p:nvSpPr>
        <p:spPr>
          <a:xfrm>
            <a:off x="9948329" y="879050"/>
            <a:ext cx="90000" cy="9000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Oval 56"/>
          <p:cNvSpPr/>
          <p:nvPr/>
        </p:nvSpPr>
        <p:spPr>
          <a:xfrm>
            <a:off x="7238450" y="3312332"/>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Oval 57"/>
          <p:cNvSpPr/>
          <p:nvPr/>
        </p:nvSpPr>
        <p:spPr>
          <a:xfrm>
            <a:off x="1656034" y="5144084"/>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Oval 58"/>
          <p:cNvSpPr/>
          <p:nvPr/>
        </p:nvSpPr>
        <p:spPr>
          <a:xfrm>
            <a:off x="3289899" y="435033"/>
            <a:ext cx="60000" cy="6000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Oval 59"/>
          <p:cNvSpPr/>
          <p:nvPr/>
        </p:nvSpPr>
        <p:spPr>
          <a:xfrm>
            <a:off x="7358154" y="3541694"/>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Oval 60"/>
          <p:cNvSpPr/>
          <p:nvPr/>
        </p:nvSpPr>
        <p:spPr>
          <a:xfrm>
            <a:off x="5417048" y="5828907"/>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Oval 61"/>
          <p:cNvSpPr/>
          <p:nvPr/>
        </p:nvSpPr>
        <p:spPr>
          <a:xfrm>
            <a:off x="3230110" y="4251008"/>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Oval 62"/>
          <p:cNvSpPr/>
          <p:nvPr/>
        </p:nvSpPr>
        <p:spPr>
          <a:xfrm>
            <a:off x="4759665" y="3938154"/>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Oval 63"/>
          <p:cNvSpPr/>
          <p:nvPr/>
        </p:nvSpPr>
        <p:spPr>
          <a:xfrm>
            <a:off x="1903697" y="2514593"/>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Oval 64"/>
          <p:cNvSpPr/>
          <p:nvPr/>
        </p:nvSpPr>
        <p:spPr>
          <a:xfrm>
            <a:off x="11224261" y="2061545"/>
            <a:ext cx="35000" cy="3500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Oval 65"/>
          <p:cNvSpPr/>
          <p:nvPr/>
        </p:nvSpPr>
        <p:spPr>
          <a:xfrm>
            <a:off x="5753309" y="6037237"/>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Oval 66"/>
          <p:cNvSpPr/>
          <p:nvPr/>
        </p:nvSpPr>
        <p:spPr>
          <a:xfrm>
            <a:off x="6309077" y="4483656"/>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Oval 67"/>
          <p:cNvSpPr/>
          <p:nvPr/>
        </p:nvSpPr>
        <p:spPr>
          <a:xfrm>
            <a:off x="11590437" y="3137853"/>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Oval 68"/>
          <p:cNvSpPr/>
          <p:nvPr/>
        </p:nvSpPr>
        <p:spPr>
          <a:xfrm>
            <a:off x="3544714" y="4087930"/>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Oval 69"/>
          <p:cNvSpPr/>
          <p:nvPr/>
        </p:nvSpPr>
        <p:spPr>
          <a:xfrm>
            <a:off x="6887511" y="2259028"/>
            <a:ext cx="90000" cy="9000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Oval 70"/>
          <p:cNvSpPr/>
          <p:nvPr/>
        </p:nvSpPr>
        <p:spPr>
          <a:xfrm>
            <a:off x="1918881" y="3152281"/>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487432" y="35130"/>
            <a:ext cx="10972800" cy="646331"/>
          </a:xfrm>
          <a:prstGeom prst="rect">
            <a:avLst/>
          </a:prstGeom>
          <a:noFill/>
        </p:spPr>
        <p:txBody>
          <a:bodyPr wrap="square" lIns="0" tIns="0" rIns="0" bIns="0" anchor="t">
            <a:spAutoFit/>
          </a:bodyPr>
          <a:lstStyle/>
          <a:p>
            <a:pPr algn="ctr"/>
            <a:r>
              <a:rPr lang="en-US" sz="4200" b="1" dirty="0">
                <a:solidFill>
                  <a:srgbClr val="FFFFFF"/>
                </a:solidFill>
                <a:latin typeface="Cambria"/>
              </a:rPr>
              <a:t>Meeting Objectives</a:t>
            </a:r>
            <a:endParaRPr sz="4200" b="1" i="0" dirty="0">
              <a:solidFill>
                <a:srgbClr val="FFFFFF"/>
              </a:solidFill>
              <a:latin typeface="Cambria"/>
            </a:endParaRPr>
          </a:p>
        </p:txBody>
      </p:sp>
      <p:sp>
        <p:nvSpPr>
          <p:cNvPr id="73" name="TextBox 72"/>
          <p:cNvSpPr txBox="1"/>
          <p:nvPr/>
        </p:nvSpPr>
        <p:spPr>
          <a:xfrm>
            <a:off x="525531" y="684528"/>
            <a:ext cx="10972800" cy="430887"/>
          </a:xfrm>
          <a:prstGeom prst="rect">
            <a:avLst/>
          </a:prstGeom>
          <a:noFill/>
        </p:spPr>
        <p:txBody>
          <a:bodyPr wrap="square" lIns="0" tIns="0" rIns="0" bIns="0" anchor="t">
            <a:spAutoFit/>
          </a:bodyPr>
          <a:lstStyle/>
          <a:p>
            <a:pPr algn="ctr"/>
            <a:r>
              <a:rPr lang="en-US" sz="2800" i="1" dirty="0">
                <a:solidFill>
                  <a:srgbClr val="F2A541"/>
                </a:solidFill>
                <a:latin typeface="Calibri"/>
              </a:rPr>
              <a:t>Primary Objective</a:t>
            </a:r>
            <a:endParaRPr sz="2800" b="0" i="1" dirty="0">
              <a:solidFill>
                <a:srgbClr val="F2A541"/>
              </a:solidFill>
              <a:latin typeface="Calibri"/>
            </a:endParaRPr>
          </a:p>
        </p:txBody>
      </p:sp>
      <p:sp>
        <p:nvSpPr>
          <p:cNvPr id="85" name="Rounded Rectangle 84"/>
          <p:cNvSpPr/>
          <p:nvPr/>
        </p:nvSpPr>
        <p:spPr>
          <a:xfrm>
            <a:off x="656563" y="1244114"/>
            <a:ext cx="11179952" cy="5141246"/>
          </a:xfrm>
          <a:prstGeom prst="roundRect">
            <a:avLst>
              <a:gd name="adj" fmla="val 5000"/>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nchorCtr="1"/>
          <a:lstStyle/>
          <a:p>
            <a:br>
              <a:rPr lang="en-US" sz="2000" dirty="0"/>
            </a:br>
            <a:r>
              <a:rPr lang="en-US" sz="2000" b="1" dirty="0"/>
              <a:t>Top-5 Hybrid Recommendation System</a:t>
            </a:r>
            <a:endParaRPr lang="en-US" sz="2000" dirty="0"/>
          </a:p>
          <a:p>
            <a:br>
              <a:rPr lang="en-US" sz="2000" dirty="0"/>
            </a:br>
            <a:r>
              <a:rPr lang="en-US" sz="2000" dirty="0"/>
              <a:t>We successfully developed the </a:t>
            </a:r>
            <a:r>
              <a:rPr lang="en-US" sz="2000" dirty="0" err="1"/>
              <a:t>get_hybrid_recommendations</a:t>
            </a:r>
            <a:r>
              <a:rPr lang="en-US" sz="2000" dirty="0"/>
              <a:t> function, which synthesizes collaborative behavior and content similarity to deliver a ranked list of the top 5 most relevant unseen movies for any user in the Ziki database</a:t>
            </a:r>
            <a:r>
              <a:rPr lang="en-US" dirty="0"/>
              <a:t>.</a:t>
            </a:r>
          </a:p>
        </p:txBody>
      </p:sp>
    </p:spTree>
    <p:extLst>
      <p:ext uri="{BB962C8B-B14F-4D97-AF65-F5344CB8AC3E}">
        <p14:creationId xmlns:p14="http://schemas.microsoft.com/office/powerpoint/2010/main" val="236800554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14213D"/>
        </a:solidFill>
        <a:effectLst/>
      </p:bgPr>
    </p:bg>
    <p:spTree>
      <p:nvGrpSpPr>
        <p:cNvPr id="1" name=""/>
        <p:cNvGrpSpPr/>
        <p:nvPr/>
      </p:nvGrpSpPr>
      <p:grpSpPr>
        <a:xfrm>
          <a:off x="0" y="0"/>
          <a:ext cx="0" cy="0"/>
          <a:chOff x="0" y="0"/>
          <a:chExt cx="0" cy="0"/>
        </a:xfrm>
      </p:grpSpPr>
      <p:sp>
        <p:nvSpPr>
          <p:cNvPr id="2" name="Oval 1"/>
          <p:cNvSpPr/>
          <p:nvPr/>
        </p:nvSpPr>
        <p:spPr>
          <a:xfrm>
            <a:off x="5536458" y="3795194"/>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0138931" y="1529190"/>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7383309" y="1506349"/>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1402124" y="5326031"/>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7171599" y="2792826"/>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7401641" y="1330644"/>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087735" y="584186"/>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9259539" y="2364789"/>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6299348" y="4288494"/>
            <a:ext cx="60000" cy="6000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1337181" y="4377389"/>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11746515" y="5513323"/>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9029586" y="3507937"/>
            <a:ext cx="35000" cy="3500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9124430" y="2818801"/>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11316184" y="5556786"/>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10961851" y="686313"/>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4908320" y="813227"/>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8079971" y="2429727"/>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11385151" y="5009880"/>
            <a:ext cx="35000" cy="3500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8446953" y="432875"/>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2396621" y="3792270"/>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11627526" y="5080221"/>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1697446" y="2943510"/>
            <a:ext cx="35000" cy="3500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10245096" y="6338202"/>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10479768" y="1656671"/>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7246831" y="3900492"/>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2803131" y="1948092"/>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3752752" y="815434"/>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7641954" y="460776"/>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5545928" y="6241879"/>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1917244" y="2731175"/>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10749043" y="5376007"/>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2177137" y="4219176"/>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11225812" y="5770477"/>
            <a:ext cx="90000" cy="9000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907559" y="1033835"/>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3090754" y="4682351"/>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10707899" y="3373858"/>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8599398" y="787115"/>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7835351" y="4138878"/>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10851186" y="1615432"/>
            <a:ext cx="35000" cy="3500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p:cNvSpPr/>
          <p:nvPr/>
        </p:nvSpPr>
        <p:spPr>
          <a:xfrm>
            <a:off x="5068365" y="1891645"/>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p:cNvSpPr/>
          <p:nvPr/>
        </p:nvSpPr>
        <p:spPr>
          <a:xfrm>
            <a:off x="4580976" y="3871144"/>
            <a:ext cx="35000" cy="3500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val 42"/>
          <p:cNvSpPr/>
          <p:nvPr/>
        </p:nvSpPr>
        <p:spPr>
          <a:xfrm>
            <a:off x="1947766" y="3124794"/>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val 43"/>
          <p:cNvSpPr/>
          <p:nvPr/>
        </p:nvSpPr>
        <p:spPr>
          <a:xfrm>
            <a:off x="8266422" y="3946321"/>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val 44"/>
          <p:cNvSpPr/>
          <p:nvPr/>
        </p:nvSpPr>
        <p:spPr>
          <a:xfrm>
            <a:off x="10922363" y="3274569"/>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val 45"/>
          <p:cNvSpPr/>
          <p:nvPr/>
        </p:nvSpPr>
        <p:spPr>
          <a:xfrm>
            <a:off x="11370232" y="496003"/>
            <a:ext cx="90000" cy="9000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val 46"/>
          <p:cNvSpPr/>
          <p:nvPr/>
        </p:nvSpPr>
        <p:spPr>
          <a:xfrm>
            <a:off x="1134662" y="2271481"/>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val 47"/>
          <p:cNvSpPr/>
          <p:nvPr/>
        </p:nvSpPr>
        <p:spPr>
          <a:xfrm>
            <a:off x="1226014" y="3711402"/>
            <a:ext cx="90000" cy="9000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p:cNvSpPr/>
          <p:nvPr/>
        </p:nvSpPr>
        <p:spPr>
          <a:xfrm>
            <a:off x="11067091" y="4881890"/>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p:cNvSpPr/>
          <p:nvPr/>
        </p:nvSpPr>
        <p:spPr>
          <a:xfrm>
            <a:off x="10824239" y="2521264"/>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val 50"/>
          <p:cNvSpPr/>
          <p:nvPr/>
        </p:nvSpPr>
        <p:spPr>
          <a:xfrm>
            <a:off x="1253520" y="5617964"/>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val 51"/>
          <p:cNvSpPr/>
          <p:nvPr/>
        </p:nvSpPr>
        <p:spPr>
          <a:xfrm>
            <a:off x="6912949" y="4194568"/>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Oval 52"/>
          <p:cNvSpPr/>
          <p:nvPr/>
        </p:nvSpPr>
        <p:spPr>
          <a:xfrm>
            <a:off x="508031" y="808392"/>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Oval 53"/>
          <p:cNvSpPr/>
          <p:nvPr/>
        </p:nvSpPr>
        <p:spPr>
          <a:xfrm>
            <a:off x="11719432" y="5755787"/>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Oval 54"/>
          <p:cNvSpPr/>
          <p:nvPr/>
        </p:nvSpPr>
        <p:spPr>
          <a:xfrm>
            <a:off x="11044254" y="4618495"/>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Oval 55"/>
          <p:cNvSpPr/>
          <p:nvPr/>
        </p:nvSpPr>
        <p:spPr>
          <a:xfrm>
            <a:off x="9948329" y="879050"/>
            <a:ext cx="90000" cy="9000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Oval 56"/>
          <p:cNvSpPr/>
          <p:nvPr/>
        </p:nvSpPr>
        <p:spPr>
          <a:xfrm>
            <a:off x="7238450" y="3312332"/>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Oval 57"/>
          <p:cNvSpPr/>
          <p:nvPr/>
        </p:nvSpPr>
        <p:spPr>
          <a:xfrm>
            <a:off x="1656034" y="5144084"/>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Oval 58"/>
          <p:cNvSpPr/>
          <p:nvPr/>
        </p:nvSpPr>
        <p:spPr>
          <a:xfrm>
            <a:off x="3289899" y="435033"/>
            <a:ext cx="60000" cy="6000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Oval 59"/>
          <p:cNvSpPr/>
          <p:nvPr/>
        </p:nvSpPr>
        <p:spPr>
          <a:xfrm>
            <a:off x="7358154" y="3541694"/>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Oval 60"/>
          <p:cNvSpPr/>
          <p:nvPr/>
        </p:nvSpPr>
        <p:spPr>
          <a:xfrm>
            <a:off x="5417048" y="5828907"/>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Oval 61"/>
          <p:cNvSpPr/>
          <p:nvPr/>
        </p:nvSpPr>
        <p:spPr>
          <a:xfrm>
            <a:off x="3230110" y="4251008"/>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Oval 62"/>
          <p:cNvSpPr/>
          <p:nvPr/>
        </p:nvSpPr>
        <p:spPr>
          <a:xfrm>
            <a:off x="4759665" y="3938154"/>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Oval 63"/>
          <p:cNvSpPr/>
          <p:nvPr/>
        </p:nvSpPr>
        <p:spPr>
          <a:xfrm>
            <a:off x="1903697" y="2514593"/>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Oval 64"/>
          <p:cNvSpPr/>
          <p:nvPr/>
        </p:nvSpPr>
        <p:spPr>
          <a:xfrm>
            <a:off x="11224261" y="2061545"/>
            <a:ext cx="35000" cy="3500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Oval 65"/>
          <p:cNvSpPr/>
          <p:nvPr/>
        </p:nvSpPr>
        <p:spPr>
          <a:xfrm>
            <a:off x="5753309" y="6037237"/>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Oval 66"/>
          <p:cNvSpPr/>
          <p:nvPr/>
        </p:nvSpPr>
        <p:spPr>
          <a:xfrm>
            <a:off x="6309077" y="4483656"/>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Oval 67"/>
          <p:cNvSpPr/>
          <p:nvPr/>
        </p:nvSpPr>
        <p:spPr>
          <a:xfrm>
            <a:off x="11590437" y="3137853"/>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Oval 68"/>
          <p:cNvSpPr/>
          <p:nvPr/>
        </p:nvSpPr>
        <p:spPr>
          <a:xfrm>
            <a:off x="3544714" y="4087930"/>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Oval 69"/>
          <p:cNvSpPr/>
          <p:nvPr/>
        </p:nvSpPr>
        <p:spPr>
          <a:xfrm>
            <a:off x="6887511" y="2259028"/>
            <a:ext cx="90000" cy="9000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Oval 70"/>
          <p:cNvSpPr/>
          <p:nvPr/>
        </p:nvSpPr>
        <p:spPr>
          <a:xfrm>
            <a:off x="1918881" y="3152281"/>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487432" y="35130"/>
            <a:ext cx="10972800" cy="646331"/>
          </a:xfrm>
          <a:prstGeom prst="rect">
            <a:avLst/>
          </a:prstGeom>
          <a:noFill/>
        </p:spPr>
        <p:txBody>
          <a:bodyPr wrap="square" lIns="0" tIns="0" rIns="0" bIns="0" anchor="t">
            <a:spAutoFit/>
          </a:bodyPr>
          <a:lstStyle/>
          <a:p>
            <a:pPr algn="ctr"/>
            <a:r>
              <a:rPr lang="en-US" sz="4200" b="1" dirty="0">
                <a:solidFill>
                  <a:srgbClr val="FFFFFF"/>
                </a:solidFill>
                <a:latin typeface="Cambria"/>
              </a:rPr>
              <a:t>Meeting Objectives</a:t>
            </a:r>
            <a:endParaRPr sz="4200" b="1" i="0" dirty="0">
              <a:solidFill>
                <a:srgbClr val="FFFFFF"/>
              </a:solidFill>
              <a:latin typeface="Cambria"/>
            </a:endParaRPr>
          </a:p>
        </p:txBody>
      </p:sp>
      <p:sp>
        <p:nvSpPr>
          <p:cNvPr id="73" name="TextBox 72"/>
          <p:cNvSpPr txBox="1"/>
          <p:nvPr/>
        </p:nvSpPr>
        <p:spPr>
          <a:xfrm>
            <a:off x="525531" y="684528"/>
            <a:ext cx="10972800" cy="430887"/>
          </a:xfrm>
          <a:prstGeom prst="rect">
            <a:avLst/>
          </a:prstGeom>
          <a:noFill/>
        </p:spPr>
        <p:txBody>
          <a:bodyPr wrap="square" lIns="0" tIns="0" rIns="0" bIns="0" anchor="t">
            <a:spAutoFit/>
          </a:bodyPr>
          <a:lstStyle/>
          <a:p>
            <a:pPr algn="ctr"/>
            <a:r>
              <a:rPr lang="en-US" sz="2800" i="1" dirty="0">
                <a:solidFill>
                  <a:srgbClr val="F2A541"/>
                </a:solidFill>
                <a:latin typeface="Calibri"/>
              </a:rPr>
              <a:t>Secondary Objective</a:t>
            </a:r>
            <a:endParaRPr sz="2800" b="0" i="1" dirty="0">
              <a:solidFill>
                <a:srgbClr val="F2A541"/>
              </a:solidFill>
              <a:latin typeface="Calibri"/>
            </a:endParaRPr>
          </a:p>
        </p:txBody>
      </p:sp>
      <p:sp>
        <p:nvSpPr>
          <p:cNvPr id="85" name="Rounded Rectangle 84"/>
          <p:cNvSpPr/>
          <p:nvPr/>
        </p:nvSpPr>
        <p:spPr>
          <a:xfrm>
            <a:off x="656563" y="1244114"/>
            <a:ext cx="11179952" cy="5141246"/>
          </a:xfrm>
          <a:prstGeom prst="roundRect">
            <a:avLst>
              <a:gd name="adj" fmla="val 5000"/>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nchorCtr="1"/>
          <a:lstStyle/>
          <a:p>
            <a:br>
              <a:rPr lang="en-US" sz="2000" dirty="0"/>
            </a:br>
            <a:r>
              <a:rPr lang="en-US" sz="2000" dirty="0"/>
              <a:t>1. Identify Top Genres: Our EDA revealed that Film-Noir, War, and Documentaries consistently receive the highest average ratings. This insight helps Ziki prioritize high-quality niche content for its library.</a:t>
            </a:r>
          </a:p>
          <a:p>
            <a:br>
              <a:rPr lang="en-US" sz="2000" dirty="0"/>
            </a:br>
            <a:r>
              <a:rPr lang="en-US" sz="2000" dirty="0"/>
              <a:t>2. Develop a User Interface: We developed a "Function-based Interface" (The Orchestrator) that simulates a production UI by checking user status and delivering immediate, formatted results.</a:t>
            </a:r>
          </a:p>
          <a:p>
            <a:br>
              <a:rPr lang="en-US" sz="2000" dirty="0"/>
            </a:br>
            <a:r>
              <a:rPr lang="en-US" sz="2000" dirty="0"/>
              <a:t>3. Collaborative Filtering: We successfully built and tuned an SVD model that captures complex user-rating patterns, achieving a high-accuracy RMSE of ~0.87.</a:t>
            </a:r>
          </a:p>
          <a:p>
            <a:br>
              <a:rPr lang="en-US" sz="2000" dirty="0"/>
            </a:br>
            <a:r>
              <a:rPr lang="en-US" sz="2000" dirty="0"/>
              <a:t>4. Content-Based &amp; Cold Start: We established a metadata-driven engine using movie tags and genres. This allows us to handle new users immediately upon sign-up, effectively eliminating the "Cold Start" barrier.</a:t>
            </a:r>
          </a:p>
        </p:txBody>
      </p:sp>
    </p:spTree>
    <p:extLst>
      <p:ext uri="{BB962C8B-B14F-4D97-AF65-F5344CB8AC3E}">
        <p14:creationId xmlns:p14="http://schemas.microsoft.com/office/powerpoint/2010/main" val="166885136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14213D"/>
        </a:solidFill>
        <a:effectLst/>
      </p:bgPr>
    </p:bg>
    <p:spTree>
      <p:nvGrpSpPr>
        <p:cNvPr id="1" name=""/>
        <p:cNvGrpSpPr/>
        <p:nvPr/>
      </p:nvGrpSpPr>
      <p:grpSpPr>
        <a:xfrm>
          <a:off x="0" y="0"/>
          <a:ext cx="0" cy="0"/>
          <a:chOff x="0" y="0"/>
          <a:chExt cx="0" cy="0"/>
        </a:xfrm>
      </p:grpSpPr>
      <p:sp>
        <p:nvSpPr>
          <p:cNvPr id="2" name="Oval 1"/>
          <p:cNvSpPr/>
          <p:nvPr/>
        </p:nvSpPr>
        <p:spPr>
          <a:xfrm>
            <a:off x="5536458" y="3795194"/>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0138931" y="1529190"/>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7383309" y="1506349"/>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1402124" y="5326031"/>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7171599" y="2792826"/>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7401641" y="1330644"/>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087735" y="584186"/>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9259539" y="2364789"/>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6299348" y="4288494"/>
            <a:ext cx="60000" cy="6000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1337181" y="4377389"/>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11746515" y="5513323"/>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9029586" y="3507937"/>
            <a:ext cx="35000" cy="3500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9124430" y="2818801"/>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11316184" y="5556786"/>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10961851" y="686313"/>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4908320" y="813227"/>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8079971" y="2429727"/>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11385151" y="5009880"/>
            <a:ext cx="35000" cy="3500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8446953" y="432875"/>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2396621" y="3792270"/>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11627526" y="5080221"/>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1697446" y="2943510"/>
            <a:ext cx="35000" cy="3500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10245096" y="6338202"/>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10479768" y="1656671"/>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7246831" y="3900492"/>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2803131" y="1948092"/>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3752752" y="815434"/>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7641954" y="460776"/>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5545928" y="6241879"/>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1917244" y="2731175"/>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10749043" y="5376007"/>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2177137" y="4219176"/>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11225812" y="5770477"/>
            <a:ext cx="90000" cy="9000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907559" y="1033835"/>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3090754" y="4682351"/>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10707899" y="3373858"/>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8599398" y="787115"/>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7835351" y="4138878"/>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10851186" y="1615432"/>
            <a:ext cx="35000" cy="3500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p:cNvSpPr/>
          <p:nvPr/>
        </p:nvSpPr>
        <p:spPr>
          <a:xfrm>
            <a:off x="5068365" y="1891645"/>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p:cNvSpPr/>
          <p:nvPr/>
        </p:nvSpPr>
        <p:spPr>
          <a:xfrm>
            <a:off x="4580976" y="3871144"/>
            <a:ext cx="35000" cy="3500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val 42"/>
          <p:cNvSpPr/>
          <p:nvPr/>
        </p:nvSpPr>
        <p:spPr>
          <a:xfrm>
            <a:off x="1947766" y="3124794"/>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val 43"/>
          <p:cNvSpPr/>
          <p:nvPr/>
        </p:nvSpPr>
        <p:spPr>
          <a:xfrm>
            <a:off x="8266422" y="3946321"/>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val 44"/>
          <p:cNvSpPr/>
          <p:nvPr/>
        </p:nvSpPr>
        <p:spPr>
          <a:xfrm>
            <a:off x="10922363" y="3274569"/>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val 45"/>
          <p:cNvSpPr/>
          <p:nvPr/>
        </p:nvSpPr>
        <p:spPr>
          <a:xfrm>
            <a:off x="11370232" y="496003"/>
            <a:ext cx="90000" cy="9000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val 46"/>
          <p:cNvSpPr/>
          <p:nvPr/>
        </p:nvSpPr>
        <p:spPr>
          <a:xfrm>
            <a:off x="1134662" y="2271481"/>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val 47"/>
          <p:cNvSpPr/>
          <p:nvPr/>
        </p:nvSpPr>
        <p:spPr>
          <a:xfrm>
            <a:off x="1226014" y="3711402"/>
            <a:ext cx="90000" cy="9000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p:cNvSpPr/>
          <p:nvPr/>
        </p:nvSpPr>
        <p:spPr>
          <a:xfrm>
            <a:off x="11067091" y="4881890"/>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p:cNvSpPr/>
          <p:nvPr/>
        </p:nvSpPr>
        <p:spPr>
          <a:xfrm>
            <a:off x="10824239" y="2521264"/>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val 50"/>
          <p:cNvSpPr/>
          <p:nvPr/>
        </p:nvSpPr>
        <p:spPr>
          <a:xfrm>
            <a:off x="1253520" y="5617964"/>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val 51"/>
          <p:cNvSpPr/>
          <p:nvPr/>
        </p:nvSpPr>
        <p:spPr>
          <a:xfrm>
            <a:off x="6912949" y="4194568"/>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Oval 52"/>
          <p:cNvSpPr/>
          <p:nvPr/>
        </p:nvSpPr>
        <p:spPr>
          <a:xfrm>
            <a:off x="508031" y="808392"/>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Oval 53"/>
          <p:cNvSpPr/>
          <p:nvPr/>
        </p:nvSpPr>
        <p:spPr>
          <a:xfrm>
            <a:off x="11719432" y="5755787"/>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Oval 54"/>
          <p:cNvSpPr/>
          <p:nvPr/>
        </p:nvSpPr>
        <p:spPr>
          <a:xfrm>
            <a:off x="11044254" y="4618495"/>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Oval 55"/>
          <p:cNvSpPr/>
          <p:nvPr/>
        </p:nvSpPr>
        <p:spPr>
          <a:xfrm>
            <a:off x="9948329" y="879050"/>
            <a:ext cx="90000" cy="9000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Oval 56"/>
          <p:cNvSpPr/>
          <p:nvPr/>
        </p:nvSpPr>
        <p:spPr>
          <a:xfrm>
            <a:off x="7238450" y="3312332"/>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Oval 57"/>
          <p:cNvSpPr/>
          <p:nvPr/>
        </p:nvSpPr>
        <p:spPr>
          <a:xfrm>
            <a:off x="1656034" y="5144084"/>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Oval 58"/>
          <p:cNvSpPr/>
          <p:nvPr/>
        </p:nvSpPr>
        <p:spPr>
          <a:xfrm>
            <a:off x="3289899" y="435033"/>
            <a:ext cx="60000" cy="6000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Oval 59"/>
          <p:cNvSpPr/>
          <p:nvPr/>
        </p:nvSpPr>
        <p:spPr>
          <a:xfrm>
            <a:off x="7358154" y="3541694"/>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Oval 60"/>
          <p:cNvSpPr/>
          <p:nvPr/>
        </p:nvSpPr>
        <p:spPr>
          <a:xfrm>
            <a:off x="5417048" y="5828907"/>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Oval 61"/>
          <p:cNvSpPr/>
          <p:nvPr/>
        </p:nvSpPr>
        <p:spPr>
          <a:xfrm>
            <a:off x="3230110" y="4251008"/>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Oval 62"/>
          <p:cNvSpPr/>
          <p:nvPr/>
        </p:nvSpPr>
        <p:spPr>
          <a:xfrm>
            <a:off x="4759665" y="3938154"/>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Oval 63"/>
          <p:cNvSpPr/>
          <p:nvPr/>
        </p:nvSpPr>
        <p:spPr>
          <a:xfrm>
            <a:off x="1903697" y="2514593"/>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Oval 64"/>
          <p:cNvSpPr/>
          <p:nvPr/>
        </p:nvSpPr>
        <p:spPr>
          <a:xfrm>
            <a:off x="11224261" y="2061545"/>
            <a:ext cx="35000" cy="3500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Oval 65"/>
          <p:cNvSpPr/>
          <p:nvPr/>
        </p:nvSpPr>
        <p:spPr>
          <a:xfrm>
            <a:off x="5753309" y="6037237"/>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Oval 66"/>
          <p:cNvSpPr/>
          <p:nvPr/>
        </p:nvSpPr>
        <p:spPr>
          <a:xfrm>
            <a:off x="6309077" y="4483656"/>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Oval 67"/>
          <p:cNvSpPr/>
          <p:nvPr/>
        </p:nvSpPr>
        <p:spPr>
          <a:xfrm>
            <a:off x="11590437" y="3137853"/>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Oval 68"/>
          <p:cNvSpPr/>
          <p:nvPr/>
        </p:nvSpPr>
        <p:spPr>
          <a:xfrm>
            <a:off x="3544714" y="4087930"/>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Oval 69"/>
          <p:cNvSpPr/>
          <p:nvPr/>
        </p:nvSpPr>
        <p:spPr>
          <a:xfrm>
            <a:off x="6887511" y="2259028"/>
            <a:ext cx="90000" cy="9000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Oval 70"/>
          <p:cNvSpPr/>
          <p:nvPr/>
        </p:nvSpPr>
        <p:spPr>
          <a:xfrm>
            <a:off x="1918881" y="3152281"/>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487432" y="35130"/>
            <a:ext cx="10972800" cy="646331"/>
          </a:xfrm>
          <a:prstGeom prst="rect">
            <a:avLst/>
          </a:prstGeom>
          <a:noFill/>
        </p:spPr>
        <p:txBody>
          <a:bodyPr wrap="square" lIns="0" tIns="0" rIns="0" bIns="0" anchor="t">
            <a:spAutoFit/>
          </a:bodyPr>
          <a:lstStyle/>
          <a:p>
            <a:pPr algn="ctr"/>
            <a:r>
              <a:rPr lang="en-US" sz="4200" b="1" i="0" dirty="0">
                <a:solidFill>
                  <a:srgbClr val="FFFFFF"/>
                </a:solidFill>
                <a:latin typeface="Cambria"/>
              </a:rPr>
              <a:t>Answers to key research </a:t>
            </a:r>
            <a:r>
              <a:rPr lang="en-US" sz="4200" b="1" i="0" dirty="0" err="1">
                <a:solidFill>
                  <a:srgbClr val="FFFFFF"/>
                </a:solidFill>
                <a:latin typeface="Cambria"/>
              </a:rPr>
              <a:t>quaestions</a:t>
            </a:r>
            <a:endParaRPr sz="4200" b="1" i="0" dirty="0">
              <a:solidFill>
                <a:srgbClr val="FFFFFF"/>
              </a:solidFill>
              <a:latin typeface="Cambria"/>
            </a:endParaRPr>
          </a:p>
        </p:txBody>
      </p:sp>
      <p:sp>
        <p:nvSpPr>
          <p:cNvPr id="85" name="Rounded Rectangle 84"/>
          <p:cNvSpPr/>
          <p:nvPr/>
        </p:nvSpPr>
        <p:spPr>
          <a:xfrm>
            <a:off x="656563" y="686313"/>
            <a:ext cx="11179952" cy="6171687"/>
          </a:xfrm>
          <a:prstGeom prst="roundRect">
            <a:avLst>
              <a:gd name="adj" fmla="val 5000"/>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nchorCtr="1"/>
          <a:lstStyle/>
          <a:p>
            <a:endParaRPr lang="en-US" dirty="0"/>
          </a:p>
          <a:p>
            <a:r>
              <a:rPr lang="en-US" dirty="0"/>
              <a:t>1. What are the top rated genres?</a:t>
            </a:r>
          </a:p>
          <a:p>
            <a:br>
              <a:rPr lang="en-US" dirty="0"/>
            </a:br>
            <a:r>
              <a:rPr lang="en-US" dirty="0"/>
              <a:t>Film-Noir and War movies lead in quality, while Drama and Comedy lead in volume. This suggests that while niche genres have higher consistent quality, mainstream genres drive the bulk of platform activity.</a:t>
            </a:r>
          </a:p>
          <a:p>
            <a:br>
              <a:rPr lang="en-US" dirty="0"/>
            </a:br>
            <a:r>
              <a:rPr lang="en-US" dirty="0"/>
              <a:t>2. Why a Hybrid System?</a:t>
            </a:r>
          </a:p>
          <a:p>
            <a:br>
              <a:rPr lang="en-US" dirty="0"/>
            </a:br>
            <a:r>
              <a:rPr lang="en-US" dirty="0"/>
              <a:t>To provide a "best of both worlds" experience. A pure SVD model can be a "black box" that ignores movie themes, while a pure Content model ignores user behavior. The Hybrid System balances both, leading to recommendations that are both statistically accurate and thematically sensible.</a:t>
            </a:r>
          </a:p>
          <a:p>
            <a:br>
              <a:rPr lang="en-US" dirty="0"/>
            </a:br>
            <a:r>
              <a:rPr lang="en-US" dirty="0"/>
              <a:t>3. Why work with the 3 chosen datasets (Ratings, Movies, Tags)?</a:t>
            </a:r>
          </a:p>
          <a:p>
            <a:br>
              <a:rPr lang="en-US" dirty="0"/>
            </a:br>
            <a:r>
              <a:rPr lang="en-US" dirty="0"/>
              <a:t>Each dataset provides a vital layer of intelligence: Ratings give us behavior, Movies provide structure (titles/genres), and Tags provide semantic context (human-feel). Combining them was necessary to build a truly intelligent system.</a:t>
            </a:r>
          </a:p>
          <a:p>
            <a:br>
              <a:rPr lang="en-US" dirty="0"/>
            </a:br>
            <a:r>
              <a:rPr lang="en-US" dirty="0"/>
              <a:t>4. Are there specific trends or patterns in movie ratings?</a:t>
            </a:r>
          </a:p>
          <a:p>
            <a:br>
              <a:rPr lang="en-US" dirty="0"/>
            </a:br>
            <a:r>
              <a:rPr lang="en-US" dirty="0"/>
              <a:t>Yes. We observed a significant Popularity Bias, where a small percentage of "blockbuster" movies receive the vast majority of ratings. We also identified that user activity is highly skewed, meaning a small group of "super-users" drives most of the data, necessitating the use of Bayesian Weighting to keep recommendations fair for everyone.</a:t>
            </a:r>
          </a:p>
        </p:txBody>
      </p:sp>
    </p:spTree>
    <p:extLst>
      <p:ext uri="{BB962C8B-B14F-4D97-AF65-F5344CB8AC3E}">
        <p14:creationId xmlns:p14="http://schemas.microsoft.com/office/powerpoint/2010/main" val="99641201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14213D"/>
        </a:solidFill>
        <a:effectLst/>
      </p:bgPr>
    </p:bg>
    <p:spTree>
      <p:nvGrpSpPr>
        <p:cNvPr id="1" name=""/>
        <p:cNvGrpSpPr/>
        <p:nvPr/>
      </p:nvGrpSpPr>
      <p:grpSpPr>
        <a:xfrm>
          <a:off x="0" y="0"/>
          <a:ext cx="0" cy="0"/>
          <a:chOff x="0" y="0"/>
          <a:chExt cx="0" cy="0"/>
        </a:xfrm>
      </p:grpSpPr>
      <p:sp>
        <p:nvSpPr>
          <p:cNvPr id="2" name="Oval 1"/>
          <p:cNvSpPr/>
          <p:nvPr/>
        </p:nvSpPr>
        <p:spPr>
          <a:xfrm>
            <a:off x="5536458" y="3795194"/>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0138931" y="1529190"/>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7383309" y="1506349"/>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1402124" y="5326031"/>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7171599" y="2792826"/>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7401641" y="1330644"/>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087735" y="584186"/>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9259539" y="2364789"/>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6299348" y="4288494"/>
            <a:ext cx="60000" cy="6000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1337181" y="4377389"/>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11746515" y="5513323"/>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9029586" y="3507937"/>
            <a:ext cx="35000" cy="3500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9124430" y="2818801"/>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11316184" y="5556786"/>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10961851" y="686313"/>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4908320" y="813227"/>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8079971" y="2429727"/>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11385151" y="5009880"/>
            <a:ext cx="35000" cy="3500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8446953" y="432875"/>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2396621" y="3792270"/>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11627526" y="5080221"/>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1697446" y="2943510"/>
            <a:ext cx="35000" cy="3500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10245096" y="6338202"/>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10479768" y="1656671"/>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7246831" y="3900492"/>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2803131" y="1948092"/>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3752752" y="815434"/>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7641954" y="460776"/>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5545928" y="6241879"/>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1917244" y="2731175"/>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10749043" y="5376007"/>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2177137" y="4219176"/>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11225812" y="5770477"/>
            <a:ext cx="90000" cy="9000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907559" y="1033835"/>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3090754" y="4682351"/>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10707899" y="3373858"/>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8599398" y="787115"/>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7835351" y="4138878"/>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10851186" y="1615432"/>
            <a:ext cx="35000" cy="3500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p:cNvSpPr/>
          <p:nvPr/>
        </p:nvSpPr>
        <p:spPr>
          <a:xfrm>
            <a:off x="5068365" y="1891645"/>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p:cNvSpPr/>
          <p:nvPr/>
        </p:nvSpPr>
        <p:spPr>
          <a:xfrm>
            <a:off x="4580976" y="3871144"/>
            <a:ext cx="35000" cy="3500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val 42"/>
          <p:cNvSpPr/>
          <p:nvPr/>
        </p:nvSpPr>
        <p:spPr>
          <a:xfrm>
            <a:off x="1947766" y="3124794"/>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val 43"/>
          <p:cNvSpPr/>
          <p:nvPr/>
        </p:nvSpPr>
        <p:spPr>
          <a:xfrm>
            <a:off x="8266422" y="3946321"/>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val 44"/>
          <p:cNvSpPr/>
          <p:nvPr/>
        </p:nvSpPr>
        <p:spPr>
          <a:xfrm>
            <a:off x="10922363" y="3274569"/>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val 45"/>
          <p:cNvSpPr/>
          <p:nvPr/>
        </p:nvSpPr>
        <p:spPr>
          <a:xfrm>
            <a:off x="11370232" y="496003"/>
            <a:ext cx="90000" cy="9000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val 46"/>
          <p:cNvSpPr/>
          <p:nvPr/>
        </p:nvSpPr>
        <p:spPr>
          <a:xfrm>
            <a:off x="1134662" y="2271481"/>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val 47"/>
          <p:cNvSpPr/>
          <p:nvPr/>
        </p:nvSpPr>
        <p:spPr>
          <a:xfrm>
            <a:off x="1226014" y="3711402"/>
            <a:ext cx="90000" cy="9000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p:cNvSpPr/>
          <p:nvPr/>
        </p:nvSpPr>
        <p:spPr>
          <a:xfrm>
            <a:off x="11067091" y="4881890"/>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p:cNvSpPr/>
          <p:nvPr/>
        </p:nvSpPr>
        <p:spPr>
          <a:xfrm>
            <a:off x="10824239" y="2521264"/>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val 50"/>
          <p:cNvSpPr/>
          <p:nvPr/>
        </p:nvSpPr>
        <p:spPr>
          <a:xfrm>
            <a:off x="1253520" y="5617964"/>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val 51"/>
          <p:cNvSpPr/>
          <p:nvPr/>
        </p:nvSpPr>
        <p:spPr>
          <a:xfrm>
            <a:off x="6912949" y="4194568"/>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Oval 52"/>
          <p:cNvSpPr/>
          <p:nvPr/>
        </p:nvSpPr>
        <p:spPr>
          <a:xfrm>
            <a:off x="508031" y="808392"/>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Oval 53"/>
          <p:cNvSpPr/>
          <p:nvPr/>
        </p:nvSpPr>
        <p:spPr>
          <a:xfrm>
            <a:off x="11719432" y="5755787"/>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Oval 54"/>
          <p:cNvSpPr/>
          <p:nvPr/>
        </p:nvSpPr>
        <p:spPr>
          <a:xfrm>
            <a:off x="11044254" y="4618495"/>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Oval 55"/>
          <p:cNvSpPr/>
          <p:nvPr/>
        </p:nvSpPr>
        <p:spPr>
          <a:xfrm>
            <a:off x="9948329" y="879050"/>
            <a:ext cx="90000" cy="9000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Oval 56"/>
          <p:cNvSpPr/>
          <p:nvPr/>
        </p:nvSpPr>
        <p:spPr>
          <a:xfrm>
            <a:off x="7238450" y="3312332"/>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Oval 57"/>
          <p:cNvSpPr/>
          <p:nvPr/>
        </p:nvSpPr>
        <p:spPr>
          <a:xfrm>
            <a:off x="1656034" y="5144084"/>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Oval 58"/>
          <p:cNvSpPr/>
          <p:nvPr/>
        </p:nvSpPr>
        <p:spPr>
          <a:xfrm>
            <a:off x="3289899" y="435033"/>
            <a:ext cx="60000" cy="6000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Oval 59"/>
          <p:cNvSpPr/>
          <p:nvPr/>
        </p:nvSpPr>
        <p:spPr>
          <a:xfrm>
            <a:off x="7358154" y="3541694"/>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Oval 60"/>
          <p:cNvSpPr/>
          <p:nvPr/>
        </p:nvSpPr>
        <p:spPr>
          <a:xfrm>
            <a:off x="5417048" y="5828907"/>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Oval 61"/>
          <p:cNvSpPr/>
          <p:nvPr/>
        </p:nvSpPr>
        <p:spPr>
          <a:xfrm>
            <a:off x="3230110" y="4251008"/>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Oval 62"/>
          <p:cNvSpPr/>
          <p:nvPr/>
        </p:nvSpPr>
        <p:spPr>
          <a:xfrm>
            <a:off x="4759665" y="3938154"/>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Oval 63"/>
          <p:cNvSpPr/>
          <p:nvPr/>
        </p:nvSpPr>
        <p:spPr>
          <a:xfrm>
            <a:off x="1903697" y="2514593"/>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Oval 64"/>
          <p:cNvSpPr/>
          <p:nvPr/>
        </p:nvSpPr>
        <p:spPr>
          <a:xfrm>
            <a:off x="11224261" y="2061545"/>
            <a:ext cx="35000" cy="3500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Oval 65"/>
          <p:cNvSpPr/>
          <p:nvPr/>
        </p:nvSpPr>
        <p:spPr>
          <a:xfrm>
            <a:off x="5753309" y="6037237"/>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Oval 66"/>
          <p:cNvSpPr/>
          <p:nvPr/>
        </p:nvSpPr>
        <p:spPr>
          <a:xfrm>
            <a:off x="6309077" y="4483656"/>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Oval 67"/>
          <p:cNvSpPr/>
          <p:nvPr/>
        </p:nvSpPr>
        <p:spPr>
          <a:xfrm>
            <a:off x="11590437" y="3137853"/>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Oval 68"/>
          <p:cNvSpPr/>
          <p:nvPr/>
        </p:nvSpPr>
        <p:spPr>
          <a:xfrm>
            <a:off x="3544714" y="4087930"/>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Oval 69"/>
          <p:cNvSpPr/>
          <p:nvPr/>
        </p:nvSpPr>
        <p:spPr>
          <a:xfrm>
            <a:off x="6887511" y="2259028"/>
            <a:ext cx="90000" cy="9000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Oval 70"/>
          <p:cNvSpPr/>
          <p:nvPr/>
        </p:nvSpPr>
        <p:spPr>
          <a:xfrm>
            <a:off x="1918881" y="3152281"/>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548640" y="457200"/>
            <a:ext cx="10972800" cy="646331"/>
          </a:xfrm>
          <a:prstGeom prst="rect">
            <a:avLst/>
          </a:prstGeom>
          <a:noFill/>
        </p:spPr>
        <p:txBody>
          <a:bodyPr wrap="square" lIns="0" tIns="0" rIns="0" bIns="0" anchor="t">
            <a:spAutoFit/>
          </a:bodyPr>
          <a:lstStyle/>
          <a:p>
            <a:pPr algn="ctr"/>
            <a:r>
              <a:rPr sz="4200" b="1" i="0" dirty="0">
                <a:solidFill>
                  <a:srgbClr val="FFFFFF"/>
                </a:solidFill>
                <a:latin typeface="Cambria"/>
              </a:rPr>
              <a:t>Conclusions &amp; next steps</a:t>
            </a:r>
          </a:p>
        </p:txBody>
      </p:sp>
      <p:sp>
        <p:nvSpPr>
          <p:cNvPr id="73" name="TextBox 72"/>
          <p:cNvSpPr txBox="1"/>
          <p:nvPr/>
        </p:nvSpPr>
        <p:spPr>
          <a:xfrm>
            <a:off x="548640" y="1280160"/>
            <a:ext cx="10972800" cy="430887"/>
          </a:xfrm>
          <a:prstGeom prst="rect">
            <a:avLst/>
          </a:prstGeom>
          <a:noFill/>
        </p:spPr>
        <p:txBody>
          <a:bodyPr wrap="square" lIns="0" tIns="0" rIns="0" bIns="0" anchor="t">
            <a:spAutoFit/>
          </a:bodyPr>
          <a:lstStyle/>
          <a:p>
            <a:pPr algn="ctr"/>
            <a:r>
              <a:rPr sz="2800" b="0" i="1" dirty="0">
                <a:solidFill>
                  <a:srgbClr val="F2A541"/>
                </a:solidFill>
                <a:latin typeface="Calibri"/>
              </a:rPr>
              <a:t>What </a:t>
            </a:r>
            <a:r>
              <a:rPr lang="en-US" sz="2800" i="1" dirty="0">
                <a:solidFill>
                  <a:srgbClr val="F2A541"/>
                </a:solidFill>
                <a:latin typeface="Calibri"/>
              </a:rPr>
              <a:t>next?</a:t>
            </a:r>
            <a:endParaRPr sz="2800" b="0" i="1" dirty="0">
              <a:solidFill>
                <a:srgbClr val="F2A541"/>
              </a:solidFill>
              <a:latin typeface="Calibri"/>
            </a:endParaRPr>
          </a:p>
        </p:txBody>
      </p:sp>
      <p:sp>
        <p:nvSpPr>
          <p:cNvPr id="85" name="Rounded Rectangle 84"/>
          <p:cNvSpPr/>
          <p:nvPr/>
        </p:nvSpPr>
        <p:spPr>
          <a:xfrm>
            <a:off x="2856331" y="1813360"/>
            <a:ext cx="6446485" cy="4572000"/>
          </a:xfrm>
          <a:prstGeom prst="roundRect">
            <a:avLst>
              <a:gd name="adj" fmla="val 5000"/>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nchorCtr="1"/>
          <a:lstStyle/>
          <a:p>
            <a:pPr algn="ctr"/>
            <a:endParaRPr/>
          </a:p>
        </p:txBody>
      </p:sp>
      <p:sp>
        <p:nvSpPr>
          <p:cNvPr id="86" name="TextBox 85"/>
          <p:cNvSpPr txBox="1"/>
          <p:nvPr/>
        </p:nvSpPr>
        <p:spPr>
          <a:xfrm>
            <a:off x="3265110" y="2103120"/>
            <a:ext cx="5784212" cy="492443"/>
          </a:xfrm>
          <a:prstGeom prst="rect">
            <a:avLst/>
          </a:prstGeom>
          <a:noFill/>
        </p:spPr>
        <p:txBody>
          <a:bodyPr wrap="square" lIns="0" tIns="0" rIns="0" bIns="0" anchor="t">
            <a:spAutoFit/>
          </a:bodyPr>
          <a:lstStyle/>
          <a:p>
            <a:pPr algn="l"/>
            <a:r>
              <a:rPr sz="3200" b="1" i="0" dirty="0">
                <a:solidFill>
                  <a:srgbClr val="FFFFFF"/>
                </a:solidFill>
                <a:latin typeface="Cambria"/>
              </a:rPr>
              <a:t>Recommendations for Zi</a:t>
            </a:r>
            <a:r>
              <a:rPr lang="en-GB" sz="3200" b="1" i="0" dirty="0">
                <a:solidFill>
                  <a:srgbClr val="FFFFFF"/>
                </a:solidFill>
                <a:latin typeface="Cambria"/>
              </a:rPr>
              <a:t>k</a:t>
            </a:r>
            <a:r>
              <a:rPr sz="3200" b="1" i="0" dirty="0" err="1">
                <a:solidFill>
                  <a:srgbClr val="FFFFFF"/>
                </a:solidFill>
                <a:latin typeface="Cambria"/>
              </a:rPr>
              <a:t>i</a:t>
            </a:r>
            <a:endParaRPr sz="3200" b="1" i="0" dirty="0">
              <a:solidFill>
                <a:srgbClr val="FFFFFF"/>
              </a:solidFill>
              <a:latin typeface="Cambria"/>
            </a:endParaRPr>
          </a:p>
        </p:txBody>
      </p:sp>
      <p:sp>
        <p:nvSpPr>
          <p:cNvPr id="87" name="Oval 86"/>
          <p:cNvSpPr/>
          <p:nvPr/>
        </p:nvSpPr>
        <p:spPr>
          <a:xfrm>
            <a:off x="3090754" y="2876933"/>
            <a:ext cx="201168" cy="201168"/>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TextBox 87"/>
          <p:cNvSpPr txBox="1"/>
          <p:nvPr/>
        </p:nvSpPr>
        <p:spPr>
          <a:xfrm>
            <a:off x="3401179" y="2602311"/>
            <a:ext cx="2971800" cy="369332"/>
          </a:xfrm>
          <a:prstGeom prst="rect">
            <a:avLst/>
          </a:prstGeom>
          <a:noFill/>
        </p:spPr>
        <p:txBody>
          <a:bodyPr wrap="square" lIns="0" tIns="0" rIns="0" bIns="0" anchor="t">
            <a:spAutoFit/>
          </a:bodyPr>
          <a:lstStyle/>
          <a:p>
            <a:pPr algn="l"/>
            <a:r>
              <a:rPr sz="2400" b="1" i="0" dirty="0">
                <a:solidFill>
                  <a:srgbClr val="FFFFFF"/>
                </a:solidFill>
                <a:latin typeface="Calibri"/>
              </a:rPr>
              <a:t>Deploy SVD now</a:t>
            </a:r>
          </a:p>
        </p:txBody>
      </p:sp>
      <p:sp>
        <p:nvSpPr>
          <p:cNvPr id="89" name="TextBox 88"/>
          <p:cNvSpPr txBox="1"/>
          <p:nvPr/>
        </p:nvSpPr>
        <p:spPr>
          <a:xfrm>
            <a:off x="3413031" y="2997792"/>
            <a:ext cx="2971800" cy="246221"/>
          </a:xfrm>
          <a:prstGeom prst="rect">
            <a:avLst/>
          </a:prstGeom>
          <a:noFill/>
        </p:spPr>
        <p:txBody>
          <a:bodyPr wrap="square" lIns="0" tIns="0" rIns="0" bIns="0" anchor="t">
            <a:spAutoFit/>
          </a:bodyPr>
          <a:lstStyle/>
          <a:p>
            <a:pPr algn="l"/>
            <a:r>
              <a:rPr sz="1600" b="0" i="1" dirty="0">
                <a:solidFill>
                  <a:srgbClr val="F8C87A"/>
                </a:solidFill>
                <a:latin typeface="Calibri"/>
              </a:rPr>
              <a:t>as the core recommendation engine</a:t>
            </a:r>
          </a:p>
        </p:txBody>
      </p:sp>
      <p:sp>
        <p:nvSpPr>
          <p:cNvPr id="90" name="Oval 89"/>
          <p:cNvSpPr/>
          <p:nvPr/>
        </p:nvSpPr>
        <p:spPr>
          <a:xfrm>
            <a:off x="3108055" y="3562140"/>
            <a:ext cx="201168" cy="201168"/>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TextBox 90"/>
          <p:cNvSpPr txBox="1"/>
          <p:nvPr/>
        </p:nvSpPr>
        <p:spPr>
          <a:xfrm>
            <a:off x="3414697" y="3314797"/>
            <a:ext cx="5600790" cy="369332"/>
          </a:xfrm>
          <a:prstGeom prst="rect">
            <a:avLst/>
          </a:prstGeom>
          <a:noFill/>
        </p:spPr>
        <p:txBody>
          <a:bodyPr wrap="square" lIns="0" tIns="0" rIns="0" bIns="0" anchor="t">
            <a:spAutoFit/>
          </a:bodyPr>
          <a:lstStyle/>
          <a:p>
            <a:pPr algn="l"/>
            <a:r>
              <a:rPr sz="2400" b="1" i="0" dirty="0">
                <a:solidFill>
                  <a:srgbClr val="FFFFFF"/>
                </a:solidFill>
                <a:latin typeface="Calibri"/>
              </a:rPr>
              <a:t>Onboard</a:t>
            </a:r>
            <a:r>
              <a:rPr lang="en-US" sz="2400" b="1" i="0" dirty="0">
                <a:solidFill>
                  <a:srgbClr val="FFFFFF"/>
                </a:solidFill>
                <a:latin typeface="Calibri"/>
              </a:rPr>
              <a:t> new users with keyword prompts</a:t>
            </a:r>
            <a:endParaRPr sz="2400" b="1" i="0" dirty="0">
              <a:solidFill>
                <a:srgbClr val="FFFFFF"/>
              </a:solidFill>
              <a:latin typeface="Calibri"/>
            </a:endParaRPr>
          </a:p>
        </p:txBody>
      </p:sp>
      <p:sp>
        <p:nvSpPr>
          <p:cNvPr id="92" name="TextBox 91"/>
          <p:cNvSpPr txBox="1"/>
          <p:nvPr/>
        </p:nvSpPr>
        <p:spPr>
          <a:xfrm>
            <a:off x="3427616" y="3683290"/>
            <a:ext cx="3247931" cy="246221"/>
          </a:xfrm>
          <a:prstGeom prst="rect">
            <a:avLst/>
          </a:prstGeom>
          <a:noFill/>
        </p:spPr>
        <p:txBody>
          <a:bodyPr wrap="square" lIns="0" tIns="0" rIns="0" bIns="0" anchor="t">
            <a:spAutoFit/>
          </a:bodyPr>
          <a:lstStyle/>
          <a:p>
            <a:pPr algn="l"/>
            <a:r>
              <a:rPr sz="1600" b="0" i="1" dirty="0">
                <a:solidFill>
                  <a:srgbClr val="F8C87A"/>
                </a:solidFill>
                <a:latin typeface="Calibri"/>
              </a:rPr>
              <a:t>ask new users for keyword preferences</a:t>
            </a:r>
          </a:p>
        </p:txBody>
      </p:sp>
      <p:sp>
        <p:nvSpPr>
          <p:cNvPr id="93" name="Oval 92"/>
          <p:cNvSpPr/>
          <p:nvPr/>
        </p:nvSpPr>
        <p:spPr>
          <a:xfrm>
            <a:off x="3132978" y="4290470"/>
            <a:ext cx="201168" cy="201168"/>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TextBox 93"/>
          <p:cNvSpPr txBox="1"/>
          <p:nvPr/>
        </p:nvSpPr>
        <p:spPr>
          <a:xfrm>
            <a:off x="3416619" y="4045574"/>
            <a:ext cx="3966690" cy="369332"/>
          </a:xfrm>
          <a:prstGeom prst="rect">
            <a:avLst/>
          </a:prstGeom>
          <a:noFill/>
        </p:spPr>
        <p:txBody>
          <a:bodyPr wrap="square" lIns="0" tIns="0" rIns="0" bIns="0" anchor="t">
            <a:spAutoFit/>
          </a:bodyPr>
          <a:lstStyle/>
          <a:p>
            <a:pPr algn="l"/>
            <a:r>
              <a:rPr sz="2400" b="1" i="0" dirty="0">
                <a:solidFill>
                  <a:srgbClr val="FFFFFF"/>
                </a:solidFill>
                <a:latin typeface="Calibri"/>
              </a:rPr>
              <a:t>Retrain</a:t>
            </a:r>
            <a:r>
              <a:rPr lang="en-US" sz="2400" b="1" i="0" dirty="0">
                <a:solidFill>
                  <a:srgbClr val="FFFFFF"/>
                </a:solidFill>
                <a:latin typeface="Calibri"/>
              </a:rPr>
              <a:t> the model</a:t>
            </a:r>
            <a:r>
              <a:rPr sz="2400" b="1" i="0" dirty="0">
                <a:solidFill>
                  <a:srgbClr val="FFFFFF"/>
                </a:solidFill>
                <a:latin typeface="Calibri"/>
              </a:rPr>
              <a:t> weekly</a:t>
            </a:r>
          </a:p>
        </p:txBody>
      </p:sp>
      <p:sp>
        <p:nvSpPr>
          <p:cNvPr id="95" name="TextBox 94"/>
          <p:cNvSpPr txBox="1"/>
          <p:nvPr/>
        </p:nvSpPr>
        <p:spPr>
          <a:xfrm>
            <a:off x="3413031" y="4411636"/>
            <a:ext cx="5711399" cy="246221"/>
          </a:xfrm>
          <a:prstGeom prst="rect">
            <a:avLst/>
          </a:prstGeom>
          <a:noFill/>
        </p:spPr>
        <p:txBody>
          <a:bodyPr wrap="square" lIns="0" tIns="0" rIns="0" bIns="0" anchor="t">
            <a:spAutoFit/>
          </a:bodyPr>
          <a:lstStyle/>
          <a:p>
            <a:pPr algn="l"/>
            <a:r>
              <a:rPr lang="en-US" sz="1600" i="1" dirty="0">
                <a:solidFill>
                  <a:srgbClr val="F8C87A"/>
                </a:solidFill>
                <a:latin typeface="Calibri"/>
              </a:rPr>
              <a:t>Users preference change over time</a:t>
            </a:r>
            <a:r>
              <a:rPr sz="1600" b="0" i="1" dirty="0">
                <a:solidFill>
                  <a:srgbClr val="F8C87A"/>
                </a:solidFill>
                <a:latin typeface="Calibri"/>
              </a:rPr>
              <a:t> — stale models underperform</a:t>
            </a:r>
          </a:p>
        </p:txBody>
      </p:sp>
      <p:sp>
        <p:nvSpPr>
          <p:cNvPr id="96" name="Oval 95"/>
          <p:cNvSpPr/>
          <p:nvPr/>
        </p:nvSpPr>
        <p:spPr>
          <a:xfrm>
            <a:off x="3129526" y="4950181"/>
            <a:ext cx="201168" cy="201168"/>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TextBox 96"/>
          <p:cNvSpPr txBox="1"/>
          <p:nvPr/>
        </p:nvSpPr>
        <p:spPr>
          <a:xfrm>
            <a:off x="3429129" y="4720416"/>
            <a:ext cx="2971800" cy="369332"/>
          </a:xfrm>
          <a:prstGeom prst="rect">
            <a:avLst/>
          </a:prstGeom>
          <a:noFill/>
        </p:spPr>
        <p:txBody>
          <a:bodyPr wrap="square" lIns="0" tIns="0" rIns="0" bIns="0" anchor="t">
            <a:spAutoFit/>
          </a:bodyPr>
          <a:lstStyle/>
          <a:p>
            <a:pPr algn="l"/>
            <a:r>
              <a:rPr lang="en-US" sz="2400" b="1" dirty="0">
                <a:solidFill>
                  <a:srgbClr val="FFFFFF"/>
                </a:solidFill>
                <a:latin typeface="Calibri"/>
              </a:rPr>
              <a:t>Monitor</a:t>
            </a:r>
            <a:r>
              <a:rPr sz="2400" b="1" i="0" dirty="0">
                <a:solidFill>
                  <a:srgbClr val="FFFFFF"/>
                </a:solidFill>
                <a:latin typeface="Calibri"/>
              </a:rPr>
              <a:t> zero-watch</a:t>
            </a:r>
          </a:p>
        </p:txBody>
      </p:sp>
      <p:sp>
        <p:nvSpPr>
          <p:cNvPr id="98" name="TextBox 97"/>
          <p:cNvSpPr txBox="1"/>
          <p:nvPr/>
        </p:nvSpPr>
        <p:spPr>
          <a:xfrm>
            <a:off x="3429128" y="5124810"/>
            <a:ext cx="5432179" cy="492443"/>
          </a:xfrm>
          <a:prstGeom prst="rect">
            <a:avLst/>
          </a:prstGeom>
          <a:noFill/>
        </p:spPr>
        <p:txBody>
          <a:bodyPr wrap="square" lIns="0" tIns="0" rIns="0" bIns="0" anchor="t">
            <a:spAutoFit/>
          </a:bodyPr>
          <a:lstStyle/>
          <a:p>
            <a:pPr algn="l"/>
            <a:r>
              <a:rPr lang="en-US" sz="1600" b="0" i="1" dirty="0">
                <a:solidFill>
                  <a:srgbClr val="F8C87A"/>
                </a:solidFill>
                <a:latin typeface="Calibri"/>
              </a:rPr>
              <a:t>If a user browses and watches nothing, </a:t>
            </a:r>
            <a:r>
              <a:rPr sz="1600" b="0" i="1" dirty="0">
                <a:solidFill>
                  <a:srgbClr val="F8C87A"/>
                </a:solidFill>
                <a:latin typeface="Calibri"/>
              </a:rPr>
              <a:t>flag idle browsers for cold-start prompts</a:t>
            </a:r>
          </a:p>
        </p:txBody>
      </p:sp>
    </p:spTree>
    <p:extLst>
      <p:ext uri="{BB962C8B-B14F-4D97-AF65-F5344CB8AC3E}">
        <p14:creationId xmlns:p14="http://schemas.microsoft.com/office/powerpoint/2010/main" val="260747457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14213D"/>
        </a:solidFill>
        <a:effectLst/>
      </p:bgPr>
    </p:bg>
    <p:spTree>
      <p:nvGrpSpPr>
        <p:cNvPr id="1" name=""/>
        <p:cNvGrpSpPr/>
        <p:nvPr/>
      </p:nvGrpSpPr>
      <p:grpSpPr>
        <a:xfrm>
          <a:off x="0" y="0"/>
          <a:ext cx="0" cy="0"/>
          <a:chOff x="0" y="0"/>
          <a:chExt cx="0" cy="0"/>
        </a:xfrm>
      </p:grpSpPr>
      <p:sp>
        <p:nvSpPr>
          <p:cNvPr id="2" name="Oval 1"/>
          <p:cNvSpPr/>
          <p:nvPr/>
        </p:nvSpPr>
        <p:spPr>
          <a:xfrm>
            <a:off x="5536458" y="3795194"/>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0138931" y="1529190"/>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7383309" y="1506349"/>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1402124" y="5326031"/>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7171599" y="2792826"/>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7401641" y="1330644"/>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087735" y="584186"/>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9259539" y="2364789"/>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6299348" y="4288494"/>
            <a:ext cx="60000" cy="6000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1337181" y="4377389"/>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11746515" y="5513323"/>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9029586" y="3507937"/>
            <a:ext cx="35000" cy="3500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9124430" y="2818801"/>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11316184" y="5556786"/>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10961851" y="686313"/>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4908320" y="813227"/>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8079971" y="2429727"/>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11385151" y="5009880"/>
            <a:ext cx="35000" cy="3500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8446953" y="432875"/>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2396621" y="3792270"/>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11627526" y="5080221"/>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1697446" y="2943510"/>
            <a:ext cx="35000" cy="3500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10245096" y="6338202"/>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10479768" y="1656671"/>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7246831" y="3900492"/>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2803131" y="1948092"/>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3752752" y="815434"/>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7641954" y="460776"/>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5545928" y="6241879"/>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1917244" y="2731175"/>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10749043" y="5376007"/>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2177137" y="4219176"/>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11225812" y="5770477"/>
            <a:ext cx="90000" cy="9000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907559" y="1033835"/>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3090754" y="4682351"/>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10707899" y="3373858"/>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8599398" y="787115"/>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7835351" y="4138878"/>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10851186" y="1615432"/>
            <a:ext cx="35000" cy="3500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p:cNvSpPr/>
          <p:nvPr/>
        </p:nvSpPr>
        <p:spPr>
          <a:xfrm>
            <a:off x="5068365" y="1891645"/>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p:cNvSpPr/>
          <p:nvPr/>
        </p:nvSpPr>
        <p:spPr>
          <a:xfrm>
            <a:off x="4580976" y="3871144"/>
            <a:ext cx="35000" cy="3500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val 42"/>
          <p:cNvSpPr/>
          <p:nvPr/>
        </p:nvSpPr>
        <p:spPr>
          <a:xfrm>
            <a:off x="1947766" y="3124794"/>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val 43"/>
          <p:cNvSpPr/>
          <p:nvPr/>
        </p:nvSpPr>
        <p:spPr>
          <a:xfrm>
            <a:off x="8266422" y="3946321"/>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val 44"/>
          <p:cNvSpPr/>
          <p:nvPr/>
        </p:nvSpPr>
        <p:spPr>
          <a:xfrm>
            <a:off x="10922363" y="3274569"/>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val 45"/>
          <p:cNvSpPr/>
          <p:nvPr/>
        </p:nvSpPr>
        <p:spPr>
          <a:xfrm>
            <a:off x="11370232" y="496003"/>
            <a:ext cx="90000" cy="9000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val 46"/>
          <p:cNvSpPr/>
          <p:nvPr/>
        </p:nvSpPr>
        <p:spPr>
          <a:xfrm>
            <a:off x="1134662" y="2271481"/>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val 47"/>
          <p:cNvSpPr/>
          <p:nvPr/>
        </p:nvSpPr>
        <p:spPr>
          <a:xfrm>
            <a:off x="1226014" y="3711402"/>
            <a:ext cx="90000" cy="9000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p:cNvSpPr/>
          <p:nvPr/>
        </p:nvSpPr>
        <p:spPr>
          <a:xfrm>
            <a:off x="11067091" y="4881890"/>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p:cNvSpPr/>
          <p:nvPr/>
        </p:nvSpPr>
        <p:spPr>
          <a:xfrm>
            <a:off x="10824239" y="2521264"/>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val 50"/>
          <p:cNvSpPr/>
          <p:nvPr/>
        </p:nvSpPr>
        <p:spPr>
          <a:xfrm>
            <a:off x="1253520" y="5617964"/>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val 51"/>
          <p:cNvSpPr/>
          <p:nvPr/>
        </p:nvSpPr>
        <p:spPr>
          <a:xfrm>
            <a:off x="6912949" y="4194568"/>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Oval 52"/>
          <p:cNvSpPr/>
          <p:nvPr/>
        </p:nvSpPr>
        <p:spPr>
          <a:xfrm>
            <a:off x="508031" y="808392"/>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Oval 53"/>
          <p:cNvSpPr/>
          <p:nvPr/>
        </p:nvSpPr>
        <p:spPr>
          <a:xfrm>
            <a:off x="11719432" y="5755787"/>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Oval 54"/>
          <p:cNvSpPr/>
          <p:nvPr/>
        </p:nvSpPr>
        <p:spPr>
          <a:xfrm>
            <a:off x="11044254" y="4618495"/>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Oval 55"/>
          <p:cNvSpPr/>
          <p:nvPr/>
        </p:nvSpPr>
        <p:spPr>
          <a:xfrm>
            <a:off x="9948329" y="879050"/>
            <a:ext cx="90000" cy="9000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Oval 56"/>
          <p:cNvSpPr/>
          <p:nvPr/>
        </p:nvSpPr>
        <p:spPr>
          <a:xfrm>
            <a:off x="7238450" y="3312332"/>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Oval 57"/>
          <p:cNvSpPr/>
          <p:nvPr/>
        </p:nvSpPr>
        <p:spPr>
          <a:xfrm>
            <a:off x="1656034" y="5144084"/>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Oval 58"/>
          <p:cNvSpPr/>
          <p:nvPr/>
        </p:nvSpPr>
        <p:spPr>
          <a:xfrm>
            <a:off x="3289899" y="435033"/>
            <a:ext cx="60000" cy="6000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Oval 59"/>
          <p:cNvSpPr/>
          <p:nvPr/>
        </p:nvSpPr>
        <p:spPr>
          <a:xfrm>
            <a:off x="7358154" y="3541694"/>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Oval 60"/>
          <p:cNvSpPr/>
          <p:nvPr/>
        </p:nvSpPr>
        <p:spPr>
          <a:xfrm>
            <a:off x="5417048" y="5828907"/>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Oval 61"/>
          <p:cNvSpPr/>
          <p:nvPr/>
        </p:nvSpPr>
        <p:spPr>
          <a:xfrm>
            <a:off x="3230110" y="4251008"/>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Oval 62"/>
          <p:cNvSpPr/>
          <p:nvPr/>
        </p:nvSpPr>
        <p:spPr>
          <a:xfrm>
            <a:off x="4759665" y="3938154"/>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Oval 63"/>
          <p:cNvSpPr/>
          <p:nvPr/>
        </p:nvSpPr>
        <p:spPr>
          <a:xfrm>
            <a:off x="1903697" y="2514593"/>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Oval 64"/>
          <p:cNvSpPr/>
          <p:nvPr/>
        </p:nvSpPr>
        <p:spPr>
          <a:xfrm>
            <a:off x="11224261" y="2061545"/>
            <a:ext cx="35000" cy="3500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Oval 65"/>
          <p:cNvSpPr/>
          <p:nvPr/>
        </p:nvSpPr>
        <p:spPr>
          <a:xfrm>
            <a:off x="5753309" y="6037237"/>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Oval 66"/>
          <p:cNvSpPr/>
          <p:nvPr/>
        </p:nvSpPr>
        <p:spPr>
          <a:xfrm>
            <a:off x="6309077" y="4483656"/>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Oval 67"/>
          <p:cNvSpPr/>
          <p:nvPr/>
        </p:nvSpPr>
        <p:spPr>
          <a:xfrm>
            <a:off x="11590437" y="3137853"/>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Oval 68"/>
          <p:cNvSpPr/>
          <p:nvPr/>
        </p:nvSpPr>
        <p:spPr>
          <a:xfrm>
            <a:off x="3544714" y="4087930"/>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Oval 69"/>
          <p:cNvSpPr/>
          <p:nvPr/>
        </p:nvSpPr>
        <p:spPr>
          <a:xfrm>
            <a:off x="6887511" y="2259028"/>
            <a:ext cx="90000" cy="9000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Oval 70"/>
          <p:cNvSpPr/>
          <p:nvPr/>
        </p:nvSpPr>
        <p:spPr>
          <a:xfrm>
            <a:off x="1918881" y="3152281"/>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571740" y="-80091"/>
            <a:ext cx="10972800" cy="646331"/>
          </a:xfrm>
          <a:prstGeom prst="rect">
            <a:avLst/>
          </a:prstGeom>
          <a:noFill/>
        </p:spPr>
        <p:txBody>
          <a:bodyPr wrap="square" lIns="0" tIns="0" rIns="0" bIns="0" anchor="t">
            <a:spAutoFit/>
          </a:bodyPr>
          <a:lstStyle/>
          <a:p>
            <a:pPr algn="ctr"/>
            <a:r>
              <a:rPr sz="4200" b="1" i="0" dirty="0">
                <a:solidFill>
                  <a:srgbClr val="FFFFFF"/>
                </a:solidFill>
                <a:latin typeface="Cambria"/>
              </a:rPr>
              <a:t>Conclusions &amp; next steps</a:t>
            </a:r>
          </a:p>
        </p:txBody>
      </p:sp>
      <p:sp>
        <p:nvSpPr>
          <p:cNvPr id="99" name="Rounded Rectangle 98"/>
          <p:cNvSpPr/>
          <p:nvPr/>
        </p:nvSpPr>
        <p:spPr>
          <a:xfrm>
            <a:off x="606741" y="665417"/>
            <a:ext cx="11029240" cy="5961640"/>
          </a:xfrm>
          <a:prstGeom prst="roundRect">
            <a:avLst>
              <a:gd name="adj" fmla="val 5000"/>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Project Limitations</a:t>
            </a:r>
          </a:p>
          <a:p>
            <a:r>
              <a:rPr lang="en-US" dirty="0"/>
              <a:t>Despite the success of our model, the following limitations should be noted:</a:t>
            </a:r>
          </a:p>
          <a:p>
            <a:endParaRPr lang="en-US" dirty="0"/>
          </a:p>
          <a:p>
            <a:r>
              <a:rPr lang="en-US" dirty="0"/>
              <a:t>Western Data Bias: The MovieLens dataset consists primarily of Hollywood content. While globally popular, it may not fully capture the specific cultural nuances and local content preferences of a Nairobi-based audience on the Ziki platform.</a:t>
            </a:r>
          </a:p>
          <a:p>
            <a:endParaRPr lang="en-US" dirty="0"/>
          </a:p>
          <a:p>
            <a:r>
              <a:rPr lang="en-US" dirty="0"/>
              <a:t>Explicit Data Constraints: Our model relies entirely on star ratings (explicit data). It does not account for watch time, repeat views, or browse-abandonment (implicit data), which are often more accurate indicators of true interest in a real-world streaming environment.</a:t>
            </a:r>
          </a:p>
          <a:p>
            <a:endParaRPr lang="en-US" dirty="0"/>
          </a:p>
          <a:p>
            <a:r>
              <a:rPr lang="en-US" dirty="0"/>
              <a:t>Tag Sparsity: Our content-based filtering relies on tags, but in our dataset, only about 20-30% of movies had user-generated keywords. This means the content-based component is highly effective for some movies but reverts to a simple genre-match for others.</a:t>
            </a:r>
          </a:p>
          <a:p>
            <a:endParaRPr lang="en-US" dirty="0"/>
          </a:p>
          <a:p>
            <a:r>
              <a:rPr lang="en-US" dirty="0"/>
              <a:t>Static Time Analysis: The current model treats a rating from 10 years ago with the same importance as a rating from yesterday. In reality, user tastes evolve, and a "time-decay" factor would be needed to keep recommendations current.</a:t>
            </a:r>
          </a:p>
          <a:p>
            <a:endParaRPr lang="en-US" dirty="0"/>
          </a:p>
          <a:p>
            <a:r>
              <a:rPr lang="en-US" dirty="0"/>
              <a:t>Computational Intensity of GridSearchCV: Exhaustive hyperparameter tuning is time-consuming. As the user base grows into the millions, Ziki will need to transition from GridSearchCV to more scalable optimization methods like RandomizedSearchCV or Bayesian optimization.</a:t>
            </a:r>
            <a:endParaRPr dirty="0"/>
          </a:p>
        </p:txBody>
      </p:sp>
    </p:spTree>
    <p:extLst>
      <p:ext uri="{BB962C8B-B14F-4D97-AF65-F5344CB8AC3E}">
        <p14:creationId xmlns:p14="http://schemas.microsoft.com/office/powerpoint/2010/main" val="236107298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14213D"/>
        </a:solidFill>
        <a:effectLst/>
      </p:bgPr>
    </p:bg>
    <p:spTree>
      <p:nvGrpSpPr>
        <p:cNvPr id="1" name=""/>
        <p:cNvGrpSpPr/>
        <p:nvPr/>
      </p:nvGrpSpPr>
      <p:grpSpPr>
        <a:xfrm>
          <a:off x="0" y="0"/>
          <a:ext cx="0" cy="0"/>
          <a:chOff x="0" y="0"/>
          <a:chExt cx="0" cy="0"/>
        </a:xfrm>
      </p:grpSpPr>
      <p:sp>
        <p:nvSpPr>
          <p:cNvPr id="2" name="Oval 1"/>
          <p:cNvSpPr/>
          <p:nvPr/>
        </p:nvSpPr>
        <p:spPr>
          <a:xfrm>
            <a:off x="5536458" y="3795194"/>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0138931" y="1529190"/>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7383309" y="1506349"/>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1402124" y="5326031"/>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7171599" y="2792826"/>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7401641" y="1330644"/>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087735" y="584186"/>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9259539" y="2364789"/>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6299348" y="4288494"/>
            <a:ext cx="60000" cy="6000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1337181" y="4377389"/>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11746515" y="5513323"/>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9029586" y="3507937"/>
            <a:ext cx="35000" cy="3500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9124430" y="2818801"/>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11316184" y="5556786"/>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10961851" y="686313"/>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4908320" y="813227"/>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8079971" y="2429727"/>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11385151" y="5009880"/>
            <a:ext cx="35000" cy="3500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8446953" y="432875"/>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2396621" y="3792270"/>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11627526" y="5080221"/>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1697446" y="2943510"/>
            <a:ext cx="35000" cy="3500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10245096" y="6338202"/>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10479768" y="1656671"/>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7246831" y="3900492"/>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2803131" y="1948092"/>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3752752" y="815434"/>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7641954" y="460776"/>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5545928" y="6241879"/>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1917244" y="2731175"/>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10749043" y="5376007"/>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2177137" y="4219176"/>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11225812" y="5770477"/>
            <a:ext cx="90000" cy="9000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907559" y="1033835"/>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3090754" y="4682351"/>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10707899" y="3373858"/>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8599398" y="787115"/>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7835351" y="4138878"/>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10851186" y="1615432"/>
            <a:ext cx="35000" cy="3500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p:cNvSpPr/>
          <p:nvPr/>
        </p:nvSpPr>
        <p:spPr>
          <a:xfrm>
            <a:off x="5068365" y="1891645"/>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p:cNvSpPr/>
          <p:nvPr/>
        </p:nvSpPr>
        <p:spPr>
          <a:xfrm>
            <a:off x="4580976" y="3871144"/>
            <a:ext cx="35000" cy="3500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val 42"/>
          <p:cNvSpPr/>
          <p:nvPr/>
        </p:nvSpPr>
        <p:spPr>
          <a:xfrm>
            <a:off x="1947766" y="3124794"/>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val 43"/>
          <p:cNvSpPr/>
          <p:nvPr/>
        </p:nvSpPr>
        <p:spPr>
          <a:xfrm>
            <a:off x="8266422" y="3946321"/>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val 44"/>
          <p:cNvSpPr/>
          <p:nvPr/>
        </p:nvSpPr>
        <p:spPr>
          <a:xfrm>
            <a:off x="10922363" y="3274569"/>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val 45"/>
          <p:cNvSpPr/>
          <p:nvPr/>
        </p:nvSpPr>
        <p:spPr>
          <a:xfrm>
            <a:off x="11370232" y="496003"/>
            <a:ext cx="90000" cy="9000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val 46"/>
          <p:cNvSpPr/>
          <p:nvPr/>
        </p:nvSpPr>
        <p:spPr>
          <a:xfrm>
            <a:off x="1134662" y="2271481"/>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val 47"/>
          <p:cNvSpPr/>
          <p:nvPr/>
        </p:nvSpPr>
        <p:spPr>
          <a:xfrm>
            <a:off x="1226014" y="3711402"/>
            <a:ext cx="90000" cy="9000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p:cNvSpPr/>
          <p:nvPr/>
        </p:nvSpPr>
        <p:spPr>
          <a:xfrm>
            <a:off x="11067091" y="4881890"/>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p:cNvSpPr/>
          <p:nvPr/>
        </p:nvSpPr>
        <p:spPr>
          <a:xfrm>
            <a:off x="10824239" y="2521264"/>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val 50"/>
          <p:cNvSpPr/>
          <p:nvPr/>
        </p:nvSpPr>
        <p:spPr>
          <a:xfrm>
            <a:off x="1253520" y="5617964"/>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val 51"/>
          <p:cNvSpPr/>
          <p:nvPr/>
        </p:nvSpPr>
        <p:spPr>
          <a:xfrm>
            <a:off x="6912949" y="4194568"/>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Oval 52"/>
          <p:cNvSpPr/>
          <p:nvPr/>
        </p:nvSpPr>
        <p:spPr>
          <a:xfrm>
            <a:off x="508031" y="808392"/>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Oval 53"/>
          <p:cNvSpPr/>
          <p:nvPr/>
        </p:nvSpPr>
        <p:spPr>
          <a:xfrm>
            <a:off x="11719432" y="5755787"/>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Oval 54"/>
          <p:cNvSpPr/>
          <p:nvPr/>
        </p:nvSpPr>
        <p:spPr>
          <a:xfrm>
            <a:off x="11044254" y="4618495"/>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Oval 55"/>
          <p:cNvSpPr/>
          <p:nvPr/>
        </p:nvSpPr>
        <p:spPr>
          <a:xfrm>
            <a:off x="9948329" y="879050"/>
            <a:ext cx="90000" cy="9000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Oval 56"/>
          <p:cNvSpPr/>
          <p:nvPr/>
        </p:nvSpPr>
        <p:spPr>
          <a:xfrm>
            <a:off x="7238450" y="3312332"/>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Oval 57"/>
          <p:cNvSpPr/>
          <p:nvPr/>
        </p:nvSpPr>
        <p:spPr>
          <a:xfrm>
            <a:off x="1656034" y="5144084"/>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Oval 58"/>
          <p:cNvSpPr/>
          <p:nvPr/>
        </p:nvSpPr>
        <p:spPr>
          <a:xfrm>
            <a:off x="3289899" y="435033"/>
            <a:ext cx="60000" cy="6000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Oval 59"/>
          <p:cNvSpPr/>
          <p:nvPr/>
        </p:nvSpPr>
        <p:spPr>
          <a:xfrm>
            <a:off x="7358154" y="3541694"/>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Oval 60"/>
          <p:cNvSpPr/>
          <p:nvPr/>
        </p:nvSpPr>
        <p:spPr>
          <a:xfrm>
            <a:off x="5417048" y="5828907"/>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Oval 61"/>
          <p:cNvSpPr/>
          <p:nvPr/>
        </p:nvSpPr>
        <p:spPr>
          <a:xfrm>
            <a:off x="3230110" y="4251008"/>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Oval 62"/>
          <p:cNvSpPr/>
          <p:nvPr/>
        </p:nvSpPr>
        <p:spPr>
          <a:xfrm>
            <a:off x="4759665" y="3938154"/>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Oval 63"/>
          <p:cNvSpPr/>
          <p:nvPr/>
        </p:nvSpPr>
        <p:spPr>
          <a:xfrm>
            <a:off x="1903697" y="2514593"/>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Oval 64"/>
          <p:cNvSpPr/>
          <p:nvPr/>
        </p:nvSpPr>
        <p:spPr>
          <a:xfrm>
            <a:off x="11224261" y="2061545"/>
            <a:ext cx="35000" cy="3500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Oval 65"/>
          <p:cNvSpPr/>
          <p:nvPr/>
        </p:nvSpPr>
        <p:spPr>
          <a:xfrm>
            <a:off x="5753309" y="6037237"/>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Oval 66"/>
          <p:cNvSpPr/>
          <p:nvPr/>
        </p:nvSpPr>
        <p:spPr>
          <a:xfrm>
            <a:off x="6309077" y="4483656"/>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Oval 67"/>
          <p:cNvSpPr/>
          <p:nvPr/>
        </p:nvSpPr>
        <p:spPr>
          <a:xfrm>
            <a:off x="11590437" y="3137853"/>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Oval 68"/>
          <p:cNvSpPr/>
          <p:nvPr/>
        </p:nvSpPr>
        <p:spPr>
          <a:xfrm>
            <a:off x="3544714" y="4087930"/>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Oval 69"/>
          <p:cNvSpPr/>
          <p:nvPr/>
        </p:nvSpPr>
        <p:spPr>
          <a:xfrm>
            <a:off x="6887511" y="2259028"/>
            <a:ext cx="90000" cy="9000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Oval 70"/>
          <p:cNvSpPr/>
          <p:nvPr/>
        </p:nvSpPr>
        <p:spPr>
          <a:xfrm>
            <a:off x="1918881" y="3152281"/>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188685" y="-80091"/>
            <a:ext cx="12380686" cy="646331"/>
          </a:xfrm>
          <a:prstGeom prst="rect">
            <a:avLst/>
          </a:prstGeom>
          <a:noFill/>
        </p:spPr>
        <p:txBody>
          <a:bodyPr wrap="square" lIns="0" tIns="0" rIns="0" bIns="0" anchor="t">
            <a:spAutoFit/>
          </a:bodyPr>
          <a:lstStyle/>
          <a:p>
            <a:pPr algn="ctr"/>
            <a:r>
              <a:rPr lang="en-US" sz="4200" b="1" dirty="0">
                <a:solidFill>
                  <a:srgbClr val="FFFFFF"/>
                </a:solidFill>
                <a:latin typeface="Cambria"/>
              </a:rPr>
              <a:t>Ziki Business Takeaways &amp; Recommendations </a:t>
            </a:r>
            <a:endParaRPr sz="4200" b="1" i="0" dirty="0">
              <a:solidFill>
                <a:srgbClr val="FFFFFF"/>
              </a:solidFill>
              <a:latin typeface="Cambria"/>
            </a:endParaRPr>
          </a:p>
        </p:txBody>
      </p:sp>
      <p:sp>
        <p:nvSpPr>
          <p:cNvPr id="99" name="Rounded Rectangle 98"/>
          <p:cNvSpPr/>
          <p:nvPr/>
        </p:nvSpPr>
        <p:spPr>
          <a:xfrm>
            <a:off x="606741" y="760763"/>
            <a:ext cx="11029240" cy="6007236"/>
          </a:xfrm>
          <a:prstGeom prst="roundRect">
            <a:avLst>
              <a:gd name="adj" fmla="val 5000"/>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t>As Ziki scales its platform across Nairobi and the broader market, we recommend the following strategic actions based on our analysis:</a:t>
            </a:r>
          </a:p>
          <a:p>
            <a:pPr marL="457200" indent="-457200">
              <a:buAutoNum type="arabicPeriod"/>
            </a:pPr>
            <a:endParaRPr lang="en-US" sz="2000" dirty="0"/>
          </a:p>
          <a:p>
            <a:r>
              <a:rPr lang="en-US" sz="2000" b="1" dirty="0"/>
              <a:t>1. Deploy SVD as the "Gold Standard" :</a:t>
            </a:r>
          </a:p>
          <a:p>
            <a:pPr marL="457200" indent="-457200">
              <a:buAutoNum type="arabicPeriod"/>
            </a:pPr>
            <a:endParaRPr lang="en-US" sz="2000" dirty="0"/>
          </a:p>
          <a:p>
            <a:r>
              <a:rPr lang="en-US" sz="2000" dirty="0"/>
              <a:t>EngineThe tuned SVD model is our most accurate predictor. Ziki should use this as the primary driver for its "Top Picks for You" homepage section. It is computationally efficient and provides the high-quality personalization users expect from premium services like Netflix</a:t>
            </a:r>
          </a:p>
          <a:p>
            <a:endParaRPr lang="en-US" sz="2000" dirty="0"/>
          </a:p>
          <a:p>
            <a:r>
              <a:rPr lang="en-US" sz="2000" b="1" dirty="0"/>
              <a:t>2. Implement "Keyword Onboarding“:</a:t>
            </a:r>
          </a:p>
          <a:p>
            <a:endParaRPr lang="en-US" sz="2000" dirty="0"/>
          </a:p>
          <a:p>
            <a:r>
              <a:rPr lang="en-US" sz="2000" dirty="0"/>
              <a:t>To solve the Cold Start problem, Ziki should ask new users to pick 3-5 keywords (tags) during sign-up. Our recommend_by_tags logic can then immediately populate their feed with relevant content, significantly reducing the "Zero-Watch" rate for new subscribers.</a:t>
            </a:r>
          </a:p>
          <a:p>
            <a:endParaRPr lang="en-US" sz="2000" dirty="0"/>
          </a:p>
          <a:p>
            <a:r>
              <a:rPr lang="en-US" dirty="0"/>
              <a:t>.</a:t>
            </a:r>
          </a:p>
          <a:p>
            <a:endParaRPr lang="en-US" dirty="0"/>
          </a:p>
        </p:txBody>
      </p:sp>
      <p:sp>
        <p:nvSpPr>
          <p:cNvPr id="75" name="TextBox 74">
            <a:extLst>
              <a:ext uri="{FF2B5EF4-FFF2-40B4-BE49-F238E27FC236}">
                <a16:creationId xmlns:a16="http://schemas.microsoft.com/office/drawing/2014/main" id="{B26E90C1-5AD9-46E8-9F2C-79A25E23FAD9}"/>
              </a:ext>
            </a:extLst>
          </p:cNvPr>
          <p:cNvSpPr txBox="1"/>
          <p:nvPr/>
        </p:nvSpPr>
        <p:spPr>
          <a:xfrm>
            <a:off x="548640" y="6446520"/>
            <a:ext cx="11064240" cy="246221"/>
          </a:xfrm>
          <a:prstGeom prst="rect">
            <a:avLst/>
          </a:prstGeom>
          <a:noFill/>
        </p:spPr>
        <p:txBody>
          <a:bodyPr wrap="square" lIns="0" tIns="0" rIns="0" bIns="0" anchor="t">
            <a:spAutoFit/>
          </a:bodyPr>
          <a:lstStyle/>
          <a:p>
            <a:pPr algn="ctr"/>
            <a:r>
              <a:rPr sz="1600" b="0" i="1" dirty="0">
                <a:solidFill>
                  <a:srgbClr val="F8C87A"/>
                </a:solidFill>
                <a:latin typeface="Calibri"/>
              </a:rPr>
              <a:t>Thank you  ·  Group 2  ·  Andrew · Angela · Bob · Mercy · Ted</a:t>
            </a:r>
          </a:p>
        </p:txBody>
      </p:sp>
    </p:spTree>
    <p:extLst>
      <p:ext uri="{BB962C8B-B14F-4D97-AF65-F5344CB8AC3E}">
        <p14:creationId xmlns:p14="http://schemas.microsoft.com/office/powerpoint/2010/main" val="167439477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14213D"/>
        </a:solidFill>
        <a:effectLst/>
      </p:bgPr>
    </p:bg>
    <p:spTree>
      <p:nvGrpSpPr>
        <p:cNvPr id="1" name=""/>
        <p:cNvGrpSpPr/>
        <p:nvPr/>
      </p:nvGrpSpPr>
      <p:grpSpPr>
        <a:xfrm>
          <a:off x="0" y="0"/>
          <a:ext cx="0" cy="0"/>
          <a:chOff x="0" y="0"/>
          <a:chExt cx="0" cy="0"/>
        </a:xfrm>
      </p:grpSpPr>
      <p:sp>
        <p:nvSpPr>
          <p:cNvPr id="2" name="Oval 1"/>
          <p:cNvSpPr/>
          <p:nvPr/>
        </p:nvSpPr>
        <p:spPr>
          <a:xfrm>
            <a:off x="5536458" y="3795194"/>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0138931" y="1529190"/>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7383309" y="1506349"/>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1402124" y="5326031"/>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7171599" y="2792826"/>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7401641" y="1330644"/>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087735" y="584186"/>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9259539" y="2364789"/>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6299348" y="4288494"/>
            <a:ext cx="60000" cy="6000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1337181" y="4377389"/>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11746515" y="5513323"/>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9029586" y="3507937"/>
            <a:ext cx="35000" cy="3500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9124430" y="2818801"/>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11316184" y="5556786"/>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10961851" y="686313"/>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4908320" y="813227"/>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8079971" y="2429727"/>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11385151" y="5009880"/>
            <a:ext cx="35000" cy="3500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8446953" y="432875"/>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2396621" y="3792270"/>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11627526" y="5080221"/>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1697446" y="2943510"/>
            <a:ext cx="35000" cy="3500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10245096" y="6338202"/>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10479768" y="1656671"/>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7246831" y="3900492"/>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2803131" y="1948092"/>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3752752" y="815434"/>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7641954" y="460776"/>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5545928" y="6241879"/>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1917244" y="2731175"/>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10749043" y="5376007"/>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2177137" y="4219176"/>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11225812" y="5770477"/>
            <a:ext cx="90000" cy="9000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907559" y="1033835"/>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3090754" y="4682351"/>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10707899" y="3373858"/>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8599398" y="787115"/>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7835351" y="4138878"/>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10851186" y="1615432"/>
            <a:ext cx="35000" cy="3500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p:cNvSpPr/>
          <p:nvPr/>
        </p:nvSpPr>
        <p:spPr>
          <a:xfrm>
            <a:off x="5068365" y="1891645"/>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p:cNvSpPr/>
          <p:nvPr/>
        </p:nvSpPr>
        <p:spPr>
          <a:xfrm>
            <a:off x="4580976" y="3871144"/>
            <a:ext cx="35000" cy="3500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val 42"/>
          <p:cNvSpPr/>
          <p:nvPr/>
        </p:nvSpPr>
        <p:spPr>
          <a:xfrm>
            <a:off x="1947766" y="3124794"/>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val 43"/>
          <p:cNvSpPr/>
          <p:nvPr/>
        </p:nvSpPr>
        <p:spPr>
          <a:xfrm>
            <a:off x="8266422" y="3946321"/>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val 44"/>
          <p:cNvSpPr/>
          <p:nvPr/>
        </p:nvSpPr>
        <p:spPr>
          <a:xfrm>
            <a:off x="10922363" y="3274569"/>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val 45"/>
          <p:cNvSpPr/>
          <p:nvPr/>
        </p:nvSpPr>
        <p:spPr>
          <a:xfrm>
            <a:off x="11370232" y="496003"/>
            <a:ext cx="90000" cy="9000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val 46"/>
          <p:cNvSpPr/>
          <p:nvPr/>
        </p:nvSpPr>
        <p:spPr>
          <a:xfrm>
            <a:off x="1134662" y="2271481"/>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val 47"/>
          <p:cNvSpPr/>
          <p:nvPr/>
        </p:nvSpPr>
        <p:spPr>
          <a:xfrm>
            <a:off x="1226014" y="3711402"/>
            <a:ext cx="90000" cy="9000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p:cNvSpPr/>
          <p:nvPr/>
        </p:nvSpPr>
        <p:spPr>
          <a:xfrm>
            <a:off x="11067091" y="4881890"/>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p:cNvSpPr/>
          <p:nvPr/>
        </p:nvSpPr>
        <p:spPr>
          <a:xfrm>
            <a:off x="10824239" y="2521264"/>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val 50"/>
          <p:cNvSpPr/>
          <p:nvPr/>
        </p:nvSpPr>
        <p:spPr>
          <a:xfrm>
            <a:off x="1253520" y="5617964"/>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val 51"/>
          <p:cNvSpPr/>
          <p:nvPr/>
        </p:nvSpPr>
        <p:spPr>
          <a:xfrm>
            <a:off x="6912949" y="4194568"/>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Oval 52"/>
          <p:cNvSpPr/>
          <p:nvPr/>
        </p:nvSpPr>
        <p:spPr>
          <a:xfrm>
            <a:off x="508031" y="808392"/>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Oval 53"/>
          <p:cNvSpPr/>
          <p:nvPr/>
        </p:nvSpPr>
        <p:spPr>
          <a:xfrm>
            <a:off x="11719432" y="5755787"/>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Oval 54"/>
          <p:cNvSpPr/>
          <p:nvPr/>
        </p:nvSpPr>
        <p:spPr>
          <a:xfrm>
            <a:off x="11044254" y="4618495"/>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Oval 55"/>
          <p:cNvSpPr/>
          <p:nvPr/>
        </p:nvSpPr>
        <p:spPr>
          <a:xfrm>
            <a:off x="9948329" y="879050"/>
            <a:ext cx="90000" cy="9000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Oval 56"/>
          <p:cNvSpPr/>
          <p:nvPr/>
        </p:nvSpPr>
        <p:spPr>
          <a:xfrm>
            <a:off x="7238450" y="3312332"/>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Oval 57"/>
          <p:cNvSpPr/>
          <p:nvPr/>
        </p:nvSpPr>
        <p:spPr>
          <a:xfrm>
            <a:off x="1656034" y="5144084"/>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Oval 58"/>
          <p:cNvSpPr/>
          <p:nvPr/>
        </p:nvSpPr>
        <p:spPr>
          <a:xfrm>
            <a:off x="3289899" y="435033"/>
            <a:ext cx="60000" cy="6000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Oval 59"/>
          <p:cNvSpPr/>
          <p:nvPr/>
        </p:nvSpPr>
        <p:spPr>
          <a:xfrm>
            <a:off x="7358154" y="3541694"/>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Oval 60"/>
          <p:cNvSpPr/>
          <p:nvPr/>
        </p:nvSpPr>
        <p:spPr>
          <a:xfrm>
            <a:off x="5417048" y="5828907"/>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Oval 61"/>
          <p:cNvSpPr/>
          <p:nvPr/>
        </p:nvSpPr>
        <p:spPr>
          <a:xfrm>
            <a:off x="3230110" y="4251008"/>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Oval 62"/>
          <p:cNvSpPr/>
          <p:nvPr/>
        </p:nvSpPr>
        <p:spPr>
          <a:xfrm>
            <a:off x="4759665" y="3938154"/>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Oval 63"/>
          <p:cNvSpPr/>
          <p:nvPr/>
        </p:nvSpPr>
        <p:spPr>
          <a:xfrm>
            <a:off x="1903697" y="2514593"/>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Oval 64"/>
          <p:cNvSpPr/>
          <p:nvPr/>
        </p:nvSpPr>
        <p:spPr>
          <a:xfrm>
            <a:off x="11224261" y="2061545"/>
            <a:ext cx="35000" cy="3500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Oval 65"/>
          <p:cNvSpPr/>
          <p:nvPr/>
        </p:nvSpPr>
        <p:spPr>
          <a:xfrm>
            <a:off x="5753309" y="6037237"/>
            <a:ext cx="60000" cy="6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Oval 66"/>
          <p:cNvSpPr/>
          <p:nvPr/>
        </p:nvSpPr>
        <p:spPr>
          <a:xfrm>
            <a:off x="6309077" y="4483656"/>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Oval 67"/>
          <p:cNvSpPr/>
          <p:nvPr/>
        </p:nvSpPr>
        <p:spPr>
          <a:xfrm>
            <a:off x="11590437" y="3137853"/>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Oval 68"/>
          <p:cNvSpPr/>
          <p:nvPr/>
        </p:nvSpPr>
        <p:spPr>
          <a:xfrm>
            <a:off x="3544714" y="4087930"/>
            <a:ext cx="90000" cy="90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Oval 69"/>
          <p:cNvSpPr/>
          <p:nvPr/>
        </p:nvSpPr>
        <p:spPr>
          <a:xfrm>
            <a:off x="6887511" y="2259028"/>
            <a:ext cx="90000" cy="9000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Oval 70"/>
          <p:cNvSpPr/>
          <p:nvPr/>
        </p:nvSpPr>
        <p:spPr>
          <a:xfrm>
            <a:off x="1918881" y="3152281"/>
            <a:ext cx="35000" cy="35000"/>
          </a:xfrm>
          <a:prstGeom prst="ellipse">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188685" y="-80091"/>
            <a:ext cx="12380686" cy="646331"/>
          </a:xfrm>
          <a:prstGeom prst="rect">
            <a:avLst/>
          </a:prstGeom>
          <a:noFill/>
        </p:spPr>
        <p:txBody>
          <a:bodyPr wrap="square" lIns="0" tIns="0" rIns="0" bIns="0" anchor="t">
            <a:spAutoFit/>
          </a:bodyPr>
          <a:lstStyle/>
          <a:p>
            <a:pPr algn="ctr"/>
            <a:r>
              <a:rPr lang="en-US" sz="4200" b="1" dirty="0">
                <a:solidFill>
                  <a:srgbClr val="FFFFFF"/>
                </a:solidFill>
                <a:latin typeface="Cambria"/>
              </a:rPr>
              <a:t>Ziki Business Takeaways &amp; Recommendations </a:t>
            </a:r>
            <a:endParaRPr sz="4200" b="1" i="0" dirty="0">
              <a:solidFill>
                <a:srgbClr val="FFFFFF"/>
              </a:solidFill>
              <a:latin typeface="Cambria"/>
            </a:endParaRPr>
          </a:p>
        </p:txBody>
      </p:sp>
      <p:sp>
        <p:nvSpPr>
          <p:cNvPr id="99" name="Rounded Rectangle 98"/>
          <p:cNvSpPr/>
          <p:nvPr/>
        </p:nvSpPr>
        <p:spPr>
          <a:xfrm>
            <a:off x="606741" y="760763"/>
            <a:ext cx="11029240" cy="6007236"/>
          </a:xfrm>
          <a:prstGeom prst="roundRect">
            <a:avLst>
              <a:gd name="adj" fmla="val 5000"/>
            </a:avLst>
          </a:prstGeom>
          <a:solidFill>
            <a:srgbClr val="1F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n-US" sz="2000" b="1" dirty="0"/>
              <a:t>3. Lean into "Hidden Gems“:</a:t>
            </a:r>
          </a:p>
          <a:p>
            <a:r>
              <a:rPr lang="en-US" sz="2000" dirty="0"/>
              <a:t>Our analysis showed that niche genres like Film-Noir and War have exceptionally high average ratings but low watch counts. Ziki should create a "Critically Acclaimed: Hidden Gems" category using these genres to diversify user watch patterns and prevent them from only watching the same 10 blockbusters</a:t>
            </a:r>
          </a:p>
          <a:p>
            <a:endParaRPr lang="en-US" sz="2000" dirty="0"/>
          </a:p>
          <a:p>
            <a:r>
              <a:rPr lang="en-US" sz="2000" b="1" dirty="0"/>
              <a:t>4. Dynamic Model Retraining:</a:t>
            </a:r>
          </a:p>
          <a:p>
            <a:r>
              <a:rPr lang="en-US" sz="2000" dirty="0"/>
              <a:t>User tastes in streaming shift rapidly. We recommend retraining the SVD model weekly on fresh rating data to ensure the algorithm stays aligned with trending topics and seasonal viewing habits (e.g., more family movies during school holidays).</a:t>
            </a:r>
          </a:p>
          <a:p>
            <a:endParaRPr lang="en-US" sz="2000" b="1" dirty="0"/>
          </a:p>
          <a:p>
            <a:r>
              <a:rPr lang="en-US" sz="2000" b="1" dirty="0"/>
              <a:t>5. Future Data Expansion:</a:t>
            </a:r>
          </a:p>
          <a:p>
            <a:r>
              <a:rPr lang="en-US" sz="2000" dirty="0"/>
              <a:t>Watch Time While explicit star ratings provide clear sentiment, they require active user effort and may not represent the full audience. Ziki should prioritize the collection of implicit data signals, such as watch duration and completion rates. A user who completes a film without rating it still provides a strong positive signal; incorporating these frictionless behaviors will allow the model to capture a much broader and more accurate picture of user interest</a:t>
            </a:r>
            <a:r>
              <a:rPr lang="en-US" dirty="0"/>
              <a:t>.</a:t>
            </a:r>
          </a:p>
        </p:txBody>
      </p:sp>
      <p:sp>
        <p:nvSpPr>
          <p:cNvPr id="75" name="TextBox 74">
            <a:extLst>
              <a:ext uri="{FF2B5EF4-FFF2-40B4-BE49-F238E27FC236}">
                <a16:creationId xmlns:a16="http://schemas.microsoft.com/office/drawing/2014/main" id="{B26E90C1-5AD9-46E8-9F2C-79A25E23FAD9}"/>
              </a:ext>
            </a:extLst>
          </p:cNvPr>
          <p:cNvSpPr txBox="1"/>
          <p:nvPr/>
        </p:nvSpPr>
        <p:spPr>
          <a:xfrm>
            <a:off x="548640" y="6446520"/>
            <a:ext cx="11064240" cy="246221"/>
          </a:xfrm>
          <a:prstGeom prst="rect">
            <a:avLst/>
          </a:prstGeom>
          <a:noFill/>
        </p:spPr>
        <p:txBody>
          <a:bodyPr wrap="square" lIns="0" tIns="0" rIns="0" bIns="0" anchor="t">
            <a:spAutoFit/>
          </a:bodyPr>
          <a:lstStyle/>
          <a:p>
            <a:pPr algn="ctr"/>
            <a:r>
              <a:rPr sz="1600" b="0" i="1" dirty="0">
                <a:solidFill>
                  <a:srgbClr val="F8C87A"/>
                </a:solidFill>
                <a:latin typeface="Calibri"/>
              </a:rPr>
              <a:t>Thank you  ·  Group 2  ·  Andrew · Angela · Bob · Mercy · Ted</a:t>
            </a:r>
          </a:p>
        </p:txBody>
      </p:sp>
    </p:spTree>
    <p:extLst>
      <p:ext uri="{BB962C8B-B14F-4D97-AF65-F5344CB8AC3E}">
        <p14:creationId xmlns:p14="http://schemas.microsoft.com/office/powerpoint/2010/main" val="39489038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1645</TotalTime>
  <Words>3519</Words>
  <Application>Microsoft Office PowerPoint</Application>
  <PresentationFormat>Widescreen</PresentationFormat>
  <Paragraphs>534</Paragraphs>
  <Slides>37</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37</vt:i4>
      </vt:variant>
    </vt:vector>
  </HeadingPairs>
  <TitlesOfParts>
    <vt:vector size="42" baseType="lpstr">
      <vt:lpstr>Arial</vt:lpstr>
      <vt:lpstr>Calibri</vt:lpstr>
      <vt:lpstr>Cambria</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Movie Recommender Interface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ASC</dc:creator>
  <cp:keywords/>
  <dc:description>generated using python-pptx</dc:description>
  <cp:lastModifiedBy>ASC</cp:lastModifiedBy>
  <cp:revision>54</cp:revision>
  <dcterms:created xsi:type="dcterms:W3CDTF">2013-01-27T09:14:16Z</dcterms:created>
  <dcterms:modified xsi:type="dcterms:W3CDTF">2026-04-28T10:26:02Z</dcterms:modified>
  <cp:category/>
</cp:coreProperties>
</file>